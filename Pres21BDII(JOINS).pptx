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3" r:id="rId2"/>
    <p:sldId id="257" r:id="rId3"/>
    <p:sldId id="263" r:id="rId4"/>
    <p:sldId id="264" r:id="rId5"/>
    <p:sldId id="266" r:id="rId6"/>
    <p:sldId id="322" r:id="rId7"/>
    <p:sldId id="262" r:id="rId8"/>
    <p:sldId id="267" r:id="rId9"/>
    <p:sldId id="268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  <p:sldId id="336" r:id="rId36"/>
    <p:sldId id="337" r:id="rId37"/>
    <p:sldId id="338" r:id="rId38"/>
    <p:sldId id="339" r:id="rId39"/>
    <p:sldId id="340" r:id="rId40"/>
    <p:sldId id="341" r:id="rId41"/>
    <p:sldId id="346" r:id="rId42"/>
    <p:sldId id="343" r:id="rId43"/>
    <p:sldId id="344" r:id="rId44"/>
    <p:sldId id="345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006600"/>
    <a:srgbClr val="660033"/>
    <a:srgbClr val="666699"/>
    <a:srgbClr val="FF66FF"/>
    <a:srgbClr val="008000"/>
    <a:srgbClr val="9966FF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84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A1F324-E882-4388-9E31-A6D2BFD1CCC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038825-5ED8-4B77-8134-BE7E1DB6EB0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97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AB4A1-79A7-4381-98D4-2EF93BD69B53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5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A453F0-EE77-42B8-AB98-C6B35AF59E6D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73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83758F-F161-49D3-A9E3-D50475774863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7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3BFFDF-1AA6-477F-A362-48AB456C9E4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22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3F8316-DCE9-443C-B748-77D9DF74AC2D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3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2369D4-A540-4B72-BD1E-73085A29999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34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7D6C1D-F388-4206-B429-5AC951404A6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9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032049-97A5-4A16-9423-ED3DFA436693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52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6AFA2F-5CD9-4C19-A6F2-B1ED4DC05115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3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676C0BD-1757-45B6-9F63-2D59D6BC6932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420938"/>
            <a:ext cx="8229600" cy="1143000"/>
          </a:xfrm>
        </p:spPr>
        <p:txBody>
          <a:bodyPr/>
          <a:lstStyle/>
          <a:p>
            <a:pPr eaLnBrk="1" hangingPunct="1"/>
            <a:r>
              <a:rPr lang="es-CO" sz="4000" dirty="0" smtClean="0"/>
              <a:t>Métodos para </a:t>
            </a:r>
            <a:r>
              <a:rPr lang="es-CO" sz="4000" dirty="0" smtClean="0"/>
              <a:t>ejecutar la </a:t>
            </a:r>
            <a:r>
              <a:rPr lang="es-CO" sz="4000" dirty="0" smtClean="0"/>
              <a:t>operación de reunión (</a:t>
            </a:r>
            <a:r>
              <a:rPr lang="es-CO" sz="4000" i="1" dirty="0" err="1" smtClean="0"/>
              <a:t>join</a:t>
            </a:r>
            <a:r>
              <a:rPr lang="es-CO" sz="4000" dirty="0" smtClean="0"/>
              <a:t>)</a:t>
            </a:r>
            <a:endParaRPr lang="es-ES_tradnl" sz="4000" dirty="0" smtClean="0"/>
          </a:p>
        </p:txBody>
      </p:sp>
      <p:sp>
        <p:nvSpPr>
          <p:cNvPr id="2051" name="Rectangle 4"/>
          <p:cNvSpPr>
            <a:spLocks noChangeArrowheads="1"/>
          </p:cNvSpPr>
          <p:nvPr/>
        </p:nvSpPr>
        <p:spPr bwMode="auto">
          <a:xfrm>
            <a:off x="395288" y="37163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CO" sz="3600">
                <a:solidFill>
                  <a:schemeClr val="tx2"/>
                </a:solidFill>
              </a:rPr>
              <a:t>Francisco Moreno</a:t>
            </a:r>
            <a:endParaRPr lang="es-ES_tradnl" sz="36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 b="1" dirty="0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La </a:t>
            </a:r>
            <a:r>
              <a:rPr lang="en-US" sz="3600" b="1" dirty="0" err="1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operación</a:t>
            </a:r>
            <a:r>
              <a:rPr lang="en-US" sz="3600" b="1" dirty="0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600" b="1" i="1" dirty="0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join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Centro de interés: </a:t>
            </a:r>
          </a:p>
          <a:p>
            <a:pPr eaLnBrk="1" hangingPunct="1"/>
            <a:r>
              <a:rPr lang="en-US" smtClean="0"/>
              <a:t>Operación </a:t>
            </a:r>
            <a:r>
              <a:rPr lang="en-US" i="1" smtClean="0"/>
              <a:t>join</a:t>
            </a:r>
            <a:r>
              <a:rPr lang="en-US" smtClean="0"/>
              <a:t> (reunión):</a:t>
            </a:r>
          </a:p>
          <a:p>
            <a:pPr lvl="1" eaLnBrk="1" hangingPunct="1">
              <a:buFontTx/>
              <a:buChar char="-"/>
            </a:pPr>
            <a:r>
              <a:rPr lang="en-US" smtClean="0"/>
              <a:t>Métodos (algoritmos) para su ejecución  </a:t>
            </a:r>
          </a:p>
          <a:p>
            <a:pPr lvl="1" eaLnBrk="1" hangingPunct="1">
              <a:buFontTx/>
              <a:buChar char="-"/>
            </a:pPr>
            <a:r>
              <a:rPr lang="en-US" smtClean="0"/>
              <a:t>Evaluación de costo de cada método</a:t>
            </a:r>
          </a:p>
          <a:p>
            <a:pPr eaLnBrk="1" hangingPunct="1">
              <a:buFontTx/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 b="1" dirty="0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La </a:t>
            </a:r>
            <a:r>
              <a:rPr lang="en-US" sz="3600" b="1" dirty="0" err="1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operación</a:t>
            </a:r>
            <a:r>
              <a:rPr lang="en-US" sz="3600" b="1" dirty="0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600" b="1" i="1" dirty="0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join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Relaciones </a:t>
            </a:r>
            <a:r>
              <a:rPr lang="en-US" smtClean="0">
                <a:solidFill>
                  <a:schemeClr val="accent2"/>
                </a:solidFill>
              </a:rPr>
              <a:t>r</a:t>
            </a:r>
            <a:r>
              <a:rPr lang="en-US" smtClean="0"/>
              <a:t>(</a:t>
            </a:r>
            <a:r>
              <a:rPr lang="en-US" sz="2800" smtClean="0"/>
              <a:t>A</a:t>
            </a:r>
            <a:r>
              <a:rPr lang="en-US" smtClean="0"/>
              <a:t>,…) y </a:t>
            </a:r>
            <a:r>
              <a:rPr lang="en-US" smtClean="0">
                <a:solidFill>
                  <a:schemeClr val="accent2"/>
                </a:solidFill>
              </a:rPr>
              <a:t>s</a:t>
            </a:r>
            <a:r>
              <a:rPr lang="en-US" smtClean="0"/>
              <a:t>(</a:t>
            </a:r>
            <a:r>
              <a:rPr lang="en-US" sz="2800" smtClean="0"/>
              <a:t>B</a:t>
            </a:r>
            <a:r>
              <a:rPr lang="en-US" smtClean="0"/>
              <a:t>,…)</a:t>
            </a:r>
          </a:p>
          <a:p>
            <a:pPr algn="ctr" eaLnBrk="1" hangingPunct="1">
              <a:buFontTx/>
              <a:buNone/>
            </a:pPr>
            <a:r>
              <a:rPr lang="en-US" i="1" smtClean="0"/>
              <a:t>Join</a:t>
            </a:r>
            <a:r>
              <a:rPr lang="en-US" smtClean="0"/>
              <a:t>: </a:t>
            </a:r>
            <a:r>
              <a:rPr lang="en-US" smtClean="0">
                <a:solidFill>
                  <a:schemeClr val="accent2"/>
                </a:solidFill>
              </a:rPr>
              <a:t>r</a:t>
            </a:r>
            <a:r>
              <a:rPr lang="en-US" smtClean="0"/>
              <a:t> ⋈</a:t>
            </a:r>
            <a:r>
              <a:rPr lang="en-US" baseline="-25000" smtClean="0">
                <a:sym typeface="Symbol" panose="05050102010706020507" pitchFamily="18" charset="2"/>
              </a:rPr>
              <a:t>A=B</a:t>
            </a:r>
            <a:r>
              <a:rPr lang="en-US" smtClean="0"/>
              <a:t> </a:t>
            </a:r>
            <a:r>
              <a:rPr lang="en-US" smtClean="0">
                <a:solidFill>
                  <a:schemeClr val="accent2"/>
                </a:solidFill>
              </a:rPr>
              <a:t>s</a:t>
            </a:r>
          </a:p>
          <a:p>
            <a:pPr eaLnBrk="1" hangingPunct="1">
              <a:buFontTx/>
              <a:buNone/>
            </a:pPr>
            <a:r>
              <a:rPr lang="en-US" smtClean="0"/>
              <a:t>Sean:</a:t>
            </a:r>
          </a:p>
          <a:p>
            <a:pPr eaLnBrk="1" hangingPunct="1"/>
            <a:r>
              <a:rPr lang="en-US" smtClean="0"/>
              <a:t>F</a:t>
            </a:r>
            <a:r>
              <a:rPr lang="en-US" baseline="-25000" smtClean="0"/>
              <a:t>r</a:t>
            </a:r>
            <a:r>
              <a:rPr lang="en-US" smtClean="0"/>
              <a:t> = Número de páginas de </a:t>
            </a:r>
            <a:r>
              <a:rPr lang="en-US" smtClean="0">
                <a:solidFill>
                  <a:schemeClr val="accent2"/>
                </a:solidFill>
              </a:rPr>
              <a:t>r</a:t>
            </a:r>
          </a:p>
          <a:p>
            <a:pPr eaLnBrk="1" hangingPunct="1"/>
            <a:r>
              <a:rPr lang="en-US" smtClean="0"/>
              <a:t>F</a:t>
            </a:r>
            <a:r>
              <a:rPr lang="en-US" baseline="-25000" smtClean="0"/>
              <a:t>s</a:t>
            </a:r>
            <a:r>
              <a:rPr lang="en-US" smtClean="0"/>
              <a:t> = Número de páginas de </a:t>
            </a:r>
            <a:r>
              <a:rPr lang="en-US" smtClean="0">
                <a:solidFill>
                  <a:schemeClr val="accent2"/>
                </a:solidFill>
              </a:rPr>
              <a:t>s</a:t>
            </a:r>
          </a:p>
          <a:p>
            <a:pPr eaLnBrk="1" hangingPunct="1"/>
            <a:r>
              <a:rPr lang="en-US" smtClean="0"/>
              <a:t>t</a:t>
            </a:r>
            <a:r>
              <a:rPr lang="en-US" baseline="-25000" smtClean="0"/>
              <a:t>r</a:t>
            </a:r>
            <a:r>
              <a:rPr lang="en-US" smtClean="0"/>
              <a:t> = Número de tuplas de </a:t>
            </a:r>
            <a:r>
              <a:rPr lang="en-US" smtClean="0">
                <a:solidFill>
                  <a:schemeClr val="accent2"/>
                </a:solidFill>
              </a:rPr>
              <a:t>r</a:t>
            </a:r>
          </a:p>
          <a:p>
            <a:pPr eaLnBrk="1" hangingPunct="1"/>
            <a:r>
              <a:rPr lang="en-US" smtClean="0"/>
              <a:t>t</a:t>
            </a:r>
            <a:r>
              <a:rPr lang="en-US" baseline="-25000" smtClean="0"/>
              <a:t>s</a:t>
            </a:r>
            <a:r>
              <a:rPr lang="en-US" smtClean="0"/>
              <a:t> = Número de tuplas de </a:t>
            </a:r>
            <a:r>
              <a:rPr lang="en-US" smtClean="0">
                <a:solidFill>
                  <a:schemeClr val="accent2"/>
                </a:solidFill>
              </a:rPr>
              <a:t>s</a:t>
            </a:r>
          </a:p>
          <a:p>
            <a:pPr eaLnBrk="1" hangingPunct="1"/>
            <a:endParaRPr lang="en-US" smtClean="0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3106738" y="2238375"/>
            <a:ext cx="3049587" cy="576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 b="1" dirty="0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La </a:t>
            </a:r>
            <a:r>
              <a:rPr lang="en-US" sz="3600" b="1" dirty="0" err="1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operación</a:t>
            </a:r>
            <a:r>
              <a:rPr lang="en-US" sz="3600" b="1" dirty="0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600" b="1" i="1" dirty="0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join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Para el ejemplo, se manejarán estos valores:</a:t>
            </a:r>
          </a:p>
          <a:p>
            <a:pPr eaLnBrk="1" hangingPunct="1"/>
            <a:r>
              <a:rPr lang="en-US" smtClean="0"/>
              <a:t>F</a:t>
            </a:r>
            <a:r>
              <a:rPr lang="en-US" baseline="-25000" smtClean="0"/>
              <a:t>r</a:t>
            </a:r>
            <a:r>
              <a:rPr lang="en-US" smtClean="0"/>
              <a:t> = 1000 </a:t>
            </a:r>
          </a:p>
          <a:p>
            <a:pPr eaLnBrk="1" hangingPunct="1"/>
            <a:r>
              <a:rPr lang="en-US" smtClean="0"/>
              <a:t>F</a:t>
            </a:r>
            <a:r>
              <a:rPr lang="en-US" baseline="-25000" smtClean="0"/>
              <a:t>s</a:t>
            </a:r>
            <a:r>
              <a:rPr lang="en-US" smtClean="0"/>
              <a:t> = 100 </a:t>
            </a:r>
          </a:p>
          <a:p>
            <a:pPr eaLnBrk="1" hangingPunct="1"/>
            <a:r>
              <a:rPr lang="en-US" smtClean="0"/>
              <a:t>t</a:t>
            </a:r>
            <a:r>
              <a:rPr lang="en-US" baseline="-25000" smtClean="0"/>
              <a:t>r</a:t>
            </a:r>
            <a:r>
              <a:rPr lang="en-US" smtClean="0"/>
              <a:t> = 10000</a:t>
            </a:r>
          </a:p>
          <a:p>
            <a:pPr eaLnBrk="1" hangingPunct="1"/>
            <a:r>
              <a:rPr lang="en-US" smtClean="0"/>
              <a:t>t</a:t>
            </a:r>
            <a:r>
              <a:rPr lang="en-US" baseline="-25000" smtClean="0"/>
              <a:t>s</a:t>
            </a:r>
            <a:r>
              <a:rPr lang="en-US" smtClean="0"/>
              <a:t> = 1000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141168"/>
          </a:xfrm>
        </p:spPr>
        <p:txBody>
          <a:bodyPr/>
          <a:lstStyle/>
          <a:p>
            <a:pPr eaLnBrk="1" hangingPunct="1">
              <a:buNone/>
            </a:pPr>
            <a:r>
              <a:rPr lang="en-US" sz="2800" dirty="0"/>
              <a:t>1. </a:t>
            </a:r>
            <a:r>
              <a:rPr lang="en-US" sz="2800" i="1" dirty="0"/>
              <a:t>Block Nested Loops</a:t>
            </a:r>
            <a:r>
              <a:rPr lang="en-US" sz="2800" dirty="0"/>
              <a:t> (</a:t>
            </a:r>
            <a:r>
              <a:rPr lang="en-US" sz="2800" dirty="0" err="1"/>
              <a:t>Ciclos</a:t>
            </a:r>
            <a:r>
              <a:rPr lang="en-US" sz="2800" dirty="0"/>
              <a:t> </a:t>
            </a:r>
            <a:r>
              <a:rPr lang="en-US" sz="2800" dirty="0" err="1"/>
              <a:t>Anidados</a:t>
            </a:r>
            <a:r>
              <a:rPr lang="en-US" sz="2800" dirty="0"/>
              <a:t> con </a:t>
            </a:r>
            <a:r>
              <a:rPr lang="en-US" sz="2800" dirty="0" err="1"/>
              <a:t>Bloques</a:t>
            </a:r>
            <a:r>
              <a:rPr lang="en-US" sz="2800" dirty="0"/>
              <a:t>)</a:t>
            </a:r>
          </a:p>
          <a:p>
            <a:pPr eaLnBrk="1" hangingPunct="1">
              <a:buFontTx/>
              <a:buNone/>
            </a:pPr>
            <a:r>
              <a:rPr lang="en-US" sz="2800" dirty="0" err="1" smtClean="0"/>
              <a:t>Supóngase</a:t>
            </a:r>
            <a:r>
              <a:rPr lang="en-US" sz="2800" dirty="0" smtClean="0"/>
              <a:t> </a:t>
            </a:r>
            <a:r>
              <a:rPr lang="en-US" sz="2800" dirty="0" smtClean="0"/>
              <a:t>que se </a:t>
            </a:r>
            <a:r>
              <a:rPr lang="en-US" sz="2800" dirty="0" err="1" smtClean="0"/>
              <a:t>tiene</a:t>
            </a:r>
            <a:r>
              <a:rPr lang="en-US" sz="2800" dirty="0" smtClean="0"/>
              <a:t> </a:t>
            </a:r>
            <a:r>
              <a:rPr lang="en-US" sz="2800" dirty="0" err="1" smtClean="0"/>
              <a:t>una</a:t>
            </a:r>
            <a:r>
              <a:rPr lang="en-US" sz="2800" dirty="0" smtClean="0"/>
              <a:t> </a:t>
            </a:r>
            <a:r>
              <a:rPr lang="en-US" sz="2800" dirty="0" err="1" smtClean="0"/>
              <a:t>memoria</a:t>
            </a:r>
            <a:r>
              <a:rPr lang="en-US" sz="2800" dirty="0" smtClean="0"/>
              <a:t> de M </a:t>
            </a:r>
          </a:p>
          <a:p>
            <a:pPr eaLnBrk="1" hangingPunct="1">
              <a:buFontTx/>
              <a:buNone/>
            </a:pPr>
            <a:r>
              <a:rPr lang="en-US" sz="2800" dirty="0" err="1" smtClean="0"/>
              <a:t>páginas</a:t>
            </a:r>
            <a:endParaRPr lang="en-US" sz="2800" dirty="0" smtClean="0"/>
          </a:p>
          <a:p>
            <a:pPr eaLnBrk="1" hangingPunct="1"/>
            <a:r>
              <a:rPr lang="en-US" sz="2800" dirty="0" smtClean="0"/>
              <a:t>M - 2 </a:t>
            </a:r>
            <a:r>
              <a:rPr lang="en-US" sz="2800" dirty="0" err="1" smtClean="0"/>
              <a:t>páginas</a:t>
            </a:r>
            <a:r>
              <a:rPr lang="en-US" sz="2800" dirty="0" smtClean="0"/>
              <a:t> se </a:t>
            </a:r>
            <a:r>
              <a:rPr lang="en-US" sz="2800" dirty="0" err="1" smtClean="0"/>
              <a:t>usarán</a:t>
            </a:r>
            <a:r>
              <a:rPr lang="en-US" sz="2800" dirty="0" smtClean="0"/>
              <a:t> para la </a:t>
            </a:r>
            <a:r>
              <a:rPr lang="en-US" sz="2800" dirty="0" err="1" smtClean="0"/>
              <a:t>relación</a:t>
            </a:r>
            <a:r>
              <a:rPr lang="en-US" sz="2800" dirty="0" smtClean="0"/>
              <a:t> del </a:t>
            </a:r>
            <a:r>
              <a:rPr lang="en-US" sz="2800" dirty="0" err="1" smtClean="0"/>
              <a:t>ciclo</a:t>
            </a:r>
            <a:r>
              <a:rPr lang="en-US" sz="2800" dirty="0" smtClean="0"/>
              <a:t> </a:t>
            </a:r>
            <a:r>
              <a:rPr lang="en-US" sz="2800" dirty="0" err="1" smtClean="0"/>
              <a:t>externo</a:t>
            </a:r>
            <a:r>
              <a:rPr lang="en-US" sz="2800" dirty="0" smtClean="0"/>
              <a:t> (</a:t>
            </a:r>
            <a:r>
              <a:rPr lang="en-US" sz="2800" dirty="0" smtClean="0">
                <a:solidFill>
                  <a:schemeClr val="accent2"/>
                </a:solidFill>
              </a:rPr>
              <a:t>r</a:t>
            </a:r>
            <a:r>
              <a:rPr lang="en-US" sz="2800" dirty="0" smtClean="0"/>
              <a:t>) </a:t>
            </a:r>
            <a:r>
              <a:rPr lang="en-US" sz="2800" dirty="0" smtClean="0">
                <a:sym typeface="Wingdings" panose="05000000000000000000" pitchFamily="2" charset="2"/>
              </a:rPr>
              <a:t> </a:t>
            </a:r>
            <a:r>
              <a:rPr lang="en-US" sz="2800" dirty="0" err="1" smtClean="0">
                <a:sym typeface="Wingdings" panose="05000000000000000000" pitchFamily="2" charset="2"/>
              </a:rPr>
              <a:t>ver</a:t>
            </a:r>
            <a:r>
              <a:rPr lang="en-US" sz="2800" dirty="0" smtClean="0">
                <a:sym typeface="Wingdings" panose="05000000000000000000" pitchFamily="2" charset="2"/>
              </a:rPr>
              <a:t> </a:t>
            </a:r>
            <a:r>
              <a:rPr lang="en-US" sz="2800" dirty="0" err="1" smtClean="0">
                <a:sym typeface="Wingdings" panose="05000000000000000000" pitchFamily="2" charset="2"/>
              </a:rPr>
              <a:t>algoritmo</a:t>
            </a:r>
            <a:endParaRPr lang="en-US" sz="2800" dirty="0" smtClean="0"/>
          </a:p>
          <a:p>
            <a:pPr eaLnBrk="1" hangingPunct="1"/>
            <a:r>
              <a:rPr lang="en-US" sz="2800" dirty="0" smtClean="0"/>
              <a:t>1 </a:t>
            </a:r>
            <a:r>
              <a:rPr lang="en-US" sz="2800" dirty="0" err="1" smtClean="0"/>
              <a:t>página</a:t>
            </a:r>
            <a:r>
              <a:rPr lang="en-US" sz="2800" dirty="0" smtClean="0"/>
              <a:t> se </a:t>
            </a:r>
            <a:r>
              <a:rPr lang="en-US" sz="2800" dirty="0" err="1" smtClean="0"/>
              <a:t>usará</a:t>
            </a:r>
            <a:r>
              <a:rPr lang="en-US" sz="2800" dirty="0" smtClean="0"/>
              <a:t> para la </a:t>
            </a:r>
            <a:r>
              <a:rPr lang="en-US" sz="2800" dirty="0" err="1" smtClean="0"/>
              <a:t>relación</a:t>
            </a:r>
            <a:r>
              <a:rPr lang="en-US" sz="2800" dirty="0" smtClean="0"/>
              <a:t> del </a:t>
            </a:r>
            <a:r>
              <a:rPr lang="en-US" sz="2800" dirty="0" err="1" smtClean="0"/>
              <a:t>ciclo</a:t>
            </a:r>
            <a:r>
              <a:rPr lang="en-US" sz="2800" dirty="0" smtClean="0"/>
              <a:t> </a:t>
            </a:r>
            <a:r>
              <a:rPr lang="en-US" sz="2800" dirty="0" err="1" smtClean="0"/>
              <a:t>interno</a:t>
            </a:r>
            <a:r>
              <a:rPr lang="en-US" sz="2800" dirty="0" smtClean="0"/>
              <a:t> (</a:t>
            </a:r>
            <a:r>
              <a:rPr lang="en-US" sz="2800" dirty="0" smtClean="0">
                <a:solidFill>
                  <a:schemeClr val="accent2"/>
                </a:solidFill>
              </a:rPr>
              <a:t>s</a:t>
            </a:r>
            <a:r>
              <a:rPr lang="en-US" sz="2800" dirty="0" smtClean="0"/>
              <a:t>) </a:t>
            </a:r>
            <a:r>
              <a:rPr lang="en-US" sz="2800" dirty="0" smtClean="0">
                <a:sym typeface="Wingdings" panose="05000000000000000000" pitchFamily="2" charset="2"/>
              </a:rPr>
              <a:t> </a:t>
            </a:r>
            <a:r>
              <a:rPr lang="en-US" sz="2800" dirty="0" err="1" smtClean="0">
                <a:sym typeface="Wingdings" panose="05000000000000000000" pitchFamily="2" charset="2"/>
              </a:rPr>
              <a:t>ver</a:t>
            </a:r>
            <a:r>
              <a:rPr lang="en-US" sz="2800" dirty="0" smtClean="0">
                <a:sym typeface="Wingdings" panose="05000000000000000000" pitchFamily="2" charset="2"/>
              </a:rPr>
              <a:t> </a:t>
            </a:r>
            <a:r>
              <a:rPr lang="en-US" sz="2800" dirty="0" err="1" smtClean="0">
                <a:sym typeface="Wingdings" panose="05000000000000000000" pitchFamily="2" charset="2"/>
              </a:rPr>
              <a:t>algoritmo</a:t>
            </a:r>
            <a:endParaRPr lang="en-US" sz="2800" dirty="0" smtClean="0"/>
          </a:p>
          <a:p>
            <a:pPr eaLnBrk="1" hangingPunct="1"/>
            <a:r>
              <a:rPr lang="en-US" sz="2800" dirty="0" smtClean="0"/>
              <a:t>1 </a:t>
            </a:r>
            <a:r>
              <a:rPr lang="en-US" sz="2800" dirty="0" err="1" smtClean="0"/>
              <a:t>página</a:t>
            </a:r>
            <a:r>
              <a:rPr lang="en-US" sz="2800" dirty="0" smtClean="0"/>
              <a:t> se </a:t>
            </a:r>
            <a:r>
              <a:rPr lang="en-US" sz="2800" dirty="0" err="1" smtClean="0"/>
              <a:t>usará</a:t>
            </a:r>
            <a:r>
              <a:rPr lang="en-US" sz="2800" dirty="0" smtClean="0"/>
              <a:t> para </a:t>
            </a:r>
            <a:r>
              <a:rPr lang="en-US" sz="2800" dirty="0" err="1" smtClean="0"/>
              <a:t>generar</a:t>
            </a:r>
            <a:r>
              <a:rPr lang="en-US" sz="2800" dirty="0" smtClean="0"/>
              <a:t> la </a:t>
            </a:r>
            <a:r>
              <a:rPr lang="en-US" sz="2800" dirty="0" err="1" smtClean="0"/>
              <a:t>salida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  <p:sp>
        <p:nvSpPr>
          <p:cNvPr id="13315" name="Text Box 5"/>
          <p:cNvSpPr txBox="1">
            <a:spLocks noChangeArrowheads="1"/>
          </p:cNvSpPr>
          <p:nvPr/>
        </p:nvSpPr>
        <p:spPr bwMode="auto">
          <a:xfrm>
            <a:off x="682625" y="2298700"/>
            <a:ext cx="504825" cy="142716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s-CO" sz="2400"/>
          </a:p>
          <a:p>
            <a:pPr algn="ctr" eaLnBrk="1" hangingPunct="1">
              <a:spcBef>
                <a:spcPct val="50000"/>
              </a:spcBef>
            </a:pPr>
            <a:r>
              <a:rPr lang="es-CO" sz="2400">
                <a:solidFill>
                  <a:schemeClr val="accent2"/>
                </a:solidFill>
              </a:rPr>
              <a:t>r</a:t>
            </a:r>
          </a:p>
          <a:p>
            <a:pPr algn="ctr" eaLnBrk="1" hangingPunct="1">
              <a:spcBef>
                <a:spcPct val="50000"/>
              </a:spcBef>
            </a:pPr>
            <a:endParaRPr lang="es-ES_tradnl"/>
          </a:p>
        </p:txBody>
      </p:sp>
      <p:sp>
        <p:nvSpPr>
          <p:cNvPr id="13316" name="Text Box 6"/>
          <p:cNvSpPr txBox="1">
            <a:spLocks noChangeArrowheads="1"/>
          </p:cNvSpPr>
          <p:nvPr/>
        </p:nvSpPr>
        <p:spPr bwMode="auto">
          <a:xfrm>
            <a:off x="682625" y="3883025"/>
            <a:ext cx="504825" cy="15621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s-CO" sz="2400">
              <a:solidFill>
                <a:schemeClr val="accent2"/>
              </a:solidFill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s-CO" sz="2400">
                <a:solidFill>
                  <a:schemeClr val="accent2"/>
                </a:solidFill>
              </a:rPr>
              <a:t>s</a:t>
            </a:r>
          </a:p>
          <a:p>
            <a:pPr algn="ctr" eaLnBrk="1" hangingPunct="1">
              <a:spcBef>
                <a:spcPct val="50000"/>
              </a:spcBef>
            </a:pPr>
            <a:endParaRPr lang="es-ES_tradnl" sz="2400">
              <a:solidFill>
                <a:schemeClr val="accent2"/>
              </a:solidFill>
            </a:endParaRPr>
          </a:p>
        </p:txBody>
      </p:sp>
      <p:sp>
        <p:nvSpPr>
          <p:cNvPr id="13317" name="Text Box 7"/>
          <p:cNvSpPr txBox="1">
            <a:spLocks noChangeArrowheads="1"/>
          </p:cNvSpPr>
          <p:nvPr/>
        </p:nvSpPr>
        <p:spPr bwMode="auto">
          <a:xfrm>
            <a:off x="6731000" y="3451225"/>
            <a:ext cx="201771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>
                <a:solidFill>
                  <a:schemeClr val="accent2"/>
                </a:solidFill>
              </a:rPr>
              <a:t>r</a:t>
            </a:r>
            <a:r>
              <a:rPr lang="en-US" sz="2400"/>
              <a:t> </a:t>
            </a:r>
            <a:r>
              <a:rPr lang="en-US" sz="2400" b="1"/>
              <a:t>⋈</a:t>
            </a:r>
            <a:r>
              <a:rPr lang="en-US" sz="2400"/>
              <a:t> </a:t>
            </a:r>
            <a:r>
              <a:rPr lang="en-US" sz="2400">
                <a:solidFill>
                  <a:schemeClr val="accent2"/>
                </a:solidFill>
              </a:rPr>
              <a:t>s</a:t>
            </a:r>
            <a:endParaRPr lang="es-ES_tradnl" sz="2400">
              <a:solidFill>
                <a:schemeClr val="accent2"/>
              </a:solidFill>
            </a:endParaRPr>
          </a:p>
        </p:txBody>
      </p:sp>
      <p:sp>
        <p:nvSpPr>
          <p:cNvPr id="13318" name="Text Box 9"/>
          <p:cNvSpPr txBox="1">
            <a:spLocks noChangeArrowheads="1"/>
          </p:cNvSpPr>
          <p:nvPr/>
        </p:nvSpPr>
        <p:spPr bwMode="auto">
          <a:xfrm>
            <a:off x="2266950" y="3148013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 sz="2400"/>
              <a:t>1</a:t>
            </a:r>
            <a:endParaRPr lang="es-ES_tradnl"/>
          </a:p>
        </p:txBody>
      </p:sp>
      <p:sp>
        <p:nvSpPr>
          <p:cNvPr id="13319" name="Text Box 11"/>
          <p:cNvSpPr txBox="1">
            <a:spLocks noChangeArrowheads="1"/>
          </p:cNvSpPr>
          <p:nvPr/>
        </p:nvSpPr>
        <p:spPr bwMode="auto">
          <a:xfrm>
            <a:off x="4643438" y="3162300"/>
            <a:ext cx="7921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 sz="2400"/>
              <a:t>M-2</a:t>
            </a:r>
            <a:endParaRPr lang="es-ES_tradnl"/>
          </a:p>
        </p:txBody>
      </p:sp>
      <p:sp>
        <p:nvSpPr>
          <p:cNvPr id="13320" name="Oval 14"/>
          <p:cNvSpPr>
            <a:spLocks noChangeArrowheads="1"/>
          </p:cNvSpPr>
          <p:nvPr/>
        </p:nvSpPr>
        <p:spPr bwMode="auto">
          <a:xfrm>
            <a:off x="3563938" y="3875088"/>
            <a:ext cx="576262" cy="5762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400" b="1"/>
              <a:t>⋈</a:t>
            </a:r>
            <a:endParaRPr lang="es-ES_tradnl" sz="2400" b="1"/>
          </a:p>
        </p:txBody>
      </p:sp>
      <p:sp>
        <p:nvSpPr>
          <p:cNvPr id="13321" name="Text Box 15"/>
          <p:cNvSpPr txBox="1">
            <a:spLocks noChangeArrowheads="1"/>
          </p:cNvSpPr>
          <p:nvPr/>
        </p:nvSpPr>
        <p:spPr bwMode="auto">
          <a:xfrm>
            <a:off x="3706813" y="3017838"/>
            <a:ext cx="936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3200" b="1"/>
              <a:t>…</a:t>
            </a:r>
            <a:endParaRPr lang="es-ES_tradnl" sz="3200" b="1"/>
          </a:p>
        </p:txBody>
      </p:sp>
      <p:sp>
        <p:nvSpPr>
          <p:cNvPr id="13322" name="Text Box 16"/>
          <p:cNvSpPr txBox="1">
            <a:spLocks noChangeArrowheads="1"/>
          </p:cNvSpPr>
          <p:nvPr/>
        </p:nvSpPr>
        <p:spPr bwMode="auto">
          <a:xfrm>
            <a:off x="1835150" y="2579688"/>
            <a:ext cx="20875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i="1"/>
              <a:t>Input buffer for </a:t>
            </a:r>
            <a:r>
              <a:rPr lang="es-CO">
                <a:solidFill>
                  <a:schemeClr val="accent2"/>
                </a:solidFill>
              </a:rPr>
              <a:t>r</a:t>
            </a:r>
            <a:endParaRPr lang="es-ES_tradnl">
              <a:solidFill>
                <a:schemeClr val="accent2"/>
              </a:solidFill>
            </a:endParaRPr>
          </a:p>
        </p:txBody>
      </p:sp>
      <p:sp>
        <p:nvSpPr>
          <p:cNvPr id="13323" name="Text Box 18"/>
          <p:cNvSpPr txBox="1">
            <a:spLocks noChangeArrowheads="1"/>
          </p:cNvSpPr>
          <p:nvPr/>
        </p:nvSpPr>
        <p:spPr bwMode="auto">
          <a:xfrm>
            <a:off x="3059113" y="3162300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 sz="2400"/>
              <a:t>2</a:t>
            </a:r>
            <a:endParaRPr lang="es-ES_tradnl"/>
          </a:p>
        </p:txBody>
      </p:sp>
      <p:sp>
        <p:nvSpPr>
          <p:cNvPr id="13324" name="Rectangle 19"/>
          <p:cNvSpPr>
            <a:spLocks noChangeArrowheads="1"/>
          </p:cNvSpPr>
          <p:nvPr/>
        </p:nvSpPr>
        <p:spPr bwMode="auto">
          <a:xfrm>
            <a:off x="2122488" y="3017838"/>
            <a:ext cx="3457575" cy="720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13325" name="Text Box 20"/>
          <p:cNvSpPr txBox="1">
            <a:spLocks noChangeArrowheads="1"/>
          </p:cNvSpPr>
          <p:nvPr/>
        </p:nvSpPr>
        <p:spPr bwMode="auto">
          <a:xfrm>
            <a:off x="2122488" y="3954463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 sz="2400"/>
              <a:t> </a:t>
            </a:r>
            <a:endParaRPr lang="es-ES_tradnl"/>
          </a:p>
        </p:txBody>
      </p:sp>
      <p:sp>
        <p:nvSpPr>
          <p:cNvPr id="13326" name="Text Box 21"/>
          <p:cNvSpPr txBox="1">
            <a:spLocks noChangeArrowheads="1"/>
          </p:cNvSpPr>
          <p:nvPr/>
        </p:nvSpPr>
        <p:spPr bwMode="auto">
          <a:xfrm>
            <a:off x="4643438" y="39195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 sz="2400"/>
              <a:t> </a:t>
            </a:r>
            <a:endParaRPr lang="es-ES_tradnl"/>
          </a:p>
        </p:txBody>
      </p:sp>
      <p:sp>
        <p:nvSpPr>
          <p:cNvPr id="13327" name="Line 22"/>
          <p:cNvSpPr>
            <a:spLocks noChangeShapeType="1"/>
          </p:cNvSpPr>
          <p:nvPr/>
        </p:nvSpPr>
        <p:spPr bwMode="auto">
          <a:xfrm flipV="1">
            <a:off x="2698750" y="4170363"/>
            <a:ext cx="865188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3328" name="Line 23"/>
          <p:cNvSpPr>
            <a:spLocks noChangeShapeType="1"/>
          </p:cNvSpPr>
          <p:nvPr/>
        </p:nvSpPr>
        <p:spPr bwMode="auto">
          <a:xfrm>
            <a:off x="2914650" y="3738563"/>
            <a:ext cx="720725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3329" name="Line 24"/>
          <p:cNvSpPr>
            <a:spLocks noChangeShapeType="1"/>
          </p:cNvSpPr>
          <p:nvPr/>
        </p:nvSpPr>
        <p:spPr bwMode="auto">
          <a:xfrm>
            <a:off x="4138613" y="414020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3330" name="Line 25"/>
          <p:cNvSpPr>
            <a:spLocks noChangeShapeType="1"/>
          </p:cNvSpPr>
          <p:nvPr/>
        </p:nvSpPr>
        <p:spPr bwMode="auto">
          <a:xfrm flipV="1">
            <a:off x="5219700" y="3667125"/>
            <a:ext cx="151130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3331" name="Text Box 26"/>
          <p:cNvSpPr txBox="1">
            <a:spLocks noChangeArrowheads="1"/>
          </p:cNvSpPr>
          <p:nvPr/>
        </p:nvSpPr>
        <p:spPr bwMode="auto">
          <a:xfrm>
            <a:off x="1835150" y="4575175"/>
            <a:ext cx="2087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i="1"/>
              <a:t>Input buffer for </a:t>
            </a:r>
            <a:r>
              <a:rPr lang="es-CO">
                <a:solidFill>
                  <a:schemeClr val="accent2"/>
                </a:solidFill>
              </a:rPr>
              <a:t>s</a:t>
            </a:r>
            <a:endParaRPr lang="es-ES_tradnl">
              <a:solidFill>
                <a:schemeClr val="accent2"/>
              </a:solidFill>
            </a:endParaRPr>
          </a:p>
        </p:txBody>
      </p:sp>
      <p:sp>
        <p:nvSpPr>
          <p:cNvPr id="13332" name="Text Box 27"/>
          <p:cNvSpPr txBox="1">
            <a:spLocks noChangeArrowheads="1"/>
          </p:cNvSpPr>
          <p:nvPr/>
        </p:nvSpPr>
        <p:spPr bwMode="auto">
          <a:xfrm>
            <a:off x="4498975" y="4575175"/>
            <a:ext cx="2087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i="1"/>
              <a:t>Output buffer</a:t>
            </a:r>
            <a:endParaRPr lang="es-ES_tradnl" i="1">
              <a:solidFill>
                <a:schemeClr val="accent2"/>
              </a:solidFill>
            </a:endParaRPr>
          </a:p>
        </p:txBody>
      </p:sp>
      <p:sp>
        <p:nvSpPr>
          <p:cNvPr id="13333" name="Rectangle 28"/>
          <p:cNvSpPr>
            <a:spLocks noChangeArrowheads="1"/>
          </p:cNvSpPr>
          <p:nvPr/>
        </p:nvSpPr>
        <p:spPr bwMode="auto">
          <a:xfrm>
            <a:off x="1763713" y="2441575"/>
            <a:ext cx="4392612" cy="26654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13334" name="Line 29"/>
          <p:cNvSpPr>
            <a:spLocks noChangeShapeType="1"/>
          </p:cNvSpPr>
          <p:nvPr/>
        </p:nvSpPr>
        <p:spPr bwMode="auto">
          <a:xfrm>
            <a:off x="1187450" y="4200525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3335" name="Line 31"/>
          <p:cNvSpPr>
            <a:spLocks noChangeShapeType="1"/>
          </p:cNvSpPr>
          <p:nvPr/>
        </p:nvSpPr>
        <p:spPr bwMode="auto">
          <a:xfrm>
            <a:off x="1189038" y="3389313"/>
            <a:ext cx="935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cxnSp>
        <p:nvCxnSpPr>
          <p:cNvPr id="3" name="Conector recto de flecha 2"/>
          <p:cNvCxnSpPr/>
          <p:nvPr/>
        </p:nvCxnSpPr>
        <p:spPr>
          <a:xfrm flipV="1">
            <a:off x="4067944" y="1772816"/>
            <a:ext cx="1151756" cy="1173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/>
          <p:cNvSpPr txBox="1"/>
          <p:nvPr/>
        </p:nvSpPr>
        <p:spPr>
          <a:xfrm>
            <a:off x="5219080" y="1533272"/>
            <a:ext cx="252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/>
              <a:t>Set of </a:t>
            </a:r>
            <a:r>
              <a:rPr lang="es-CO" dirty="0"/>
              <a:t>M-2 </a:t>
            </a:r>
            <a:r>
              <a:rPr lang="es-CO" dirty="0" err="1" smtClean="0"/>
              <a:t>pages</a:t>
            </a:r>
            <a:r>
              <a:rPr lang="es-CO" dirty="0" smtClean="0"/>
              <a:t> of </a:t>
            </a:r>
            <a:r>
              <a:rPr lang="es-CO" dirty="0" smtClean="0">
                <a:solidFill>
                  <a:schemeClr val="accent2"/>
                </a:solidFill>
              </a:rPr>
              <a:t>r</a:t>
            </a:r>
            <a:endParaRPr lang="es-ES" dirty="0">
              <a:solidFill>
                <a:schemeClr val="accent2"/>
              </a:solidFill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870249" y="5525572"/>
            <a:ext cx="252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/>
              <a:t>Page of </a:t>
            </a:r>
            <a:r>
              <a:rPr lang="es-CO" dirty="0" smtClean="0">
                <a:solidFill>
                  <a:schemeClr val="accent2"/>
                </a:solidFill>
              </a:rPr>
              <a:t>s</a:t>
            </a:r>
            <a:endParaRPr lang="es-ES" dirty="0">
              <a:solidFill>
                <a:schemeClr val="accent2"/>
              </a:solidFill>
            </a:endParaRPr>
          </a:p>
        </p:txBody>
      </p:sp>
      <p:cxnSp>
        <p:nvCxnSpPr>
          <p:cNvPr id="28" name="Conector recto de flecha 27"/>
          <p:cNvCxnSpPr>
            <a:stCxn id="13325" idx="2"/>
          </p:cNvCxnSpPr>
          <p:nvPr/>
        </p:nvCxnSpPr>
        <p:spPr>
          <a:xfrm>
            <a:off x="2410619" y="4421188"/>
            <a:ext cx="468312" cy="1104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dirty="0" smtClean="0"/>
          </a:p>
        </p:txBody>
      </p:sp>
      <p:sp>
        <p:nvSpPr>
          <p:cNvPr id="10245" name="Rectangle 7"/>
          <p:cNvSpPr>
            <a:spLocks noChangeArrowheads="1"/>
          </p:cNvSpPr>
          <p:nvPr/>
        </p:nvSpPr>
        <p:spPr bwMode="auto">
          <a:xfrm>
            <a:off x="3851275" y="4724400"/>
            <a:ext cx="3600450" cy="2174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10246" name="Text Box 8"/>
          <p:cNvSpPr txBox="1">
            <a:spLocks noChangeArrowheads="1"/>
          </p:cNvSpPr>
          <p:nvPr/>
        </p:nvSpPr>
        <p:spPr bwMode="auto">
          <a:xfrm>
            <a:off x="755576" y="2420888"/>
            <a:ext cx="720142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sz="3200" dirty="0"/>
              <a:t>FOR EACH </a:t>
            </a:r>
            <a:r>
              <a:rPr lang="es-CO" sz="3200" dirty="0"/>
              <a:t>set </a:t>
            </a:r>
            <a:r>
              <a:rPr lang="es-CO" sz="3200" dirty="0" err="1" smtClean="0">
                <a:solidFill>
                  <a:srgbClr val="00B050"/>
                </a:solidFill>
              </a:rPr>
              <a:t>sp</a:t>
            </a:r>
            <a:r>
              <a:rPr lang="es-CO" sz="3200" baseline="-25000" dirty="0" err="1" smtClean="0">
                <a:solidFill>
                  <a:srgbClr val="00B050"/>
                </a:solidFill>
              </a:rPr>
              <a:t>r</a:t>
            </a:r>
            <a:r>
              <a:rPr lang="es-CO" sz="3200" dirty="0" smtClean="0"/>
              <a:t> of M-2 </a:t>
            </a:r>
            <a:r>
              <a:rPr lang="es-CO" sz="3200" dirty="0" err="1" smtClean="0">
                <a:solidFill>
                  <a:srgbClr val="00B0F0"/>
                </a:solidFill>
              </a:rPr>
              <a:t>pages</a:t>
            </a:r>
            <a:r>
              <a:rPr lang="es-CO" sz="3200" dirty="0" smtClean="0"/>
              <a:t> </a:t>
            </a:r>
            <a:r>
              <a:rPr lang="es-CO" sz="3200" dirty="0">
                <a:sym typeface="Symbol" panose="05050102010706020507" pitchFamily="18" charset="2"/>
              </a:rPr>
              <a:t>of </a:t>
            </a:r>
            <a:r>
              <a:rPr lang="es-CO" sz="3200" dirty="0">
                <a:solidFill>
                  <a:schemeClr val="accent2"/>
                </a:solidFill>
                <a:sym typeface="Symbol" panose="05050102010706020507" pitchFamily="18" charset="2"/>
              </a:rPr>
              <a:t>r</a:t>
            </a:r>
            <a:r>
              <a:rPr lang="es-CO" sz="3200" dirty="0">
                <a:sym typeface="Symbol" panose="05050102010706020507" pitchFamily="18" charset="2"/>
              </a:rPr>
              <a:t> DO</a:t>
            </a:r>
          </a:p>
          <a:p>
            <a:pPr eaLnBrk="1" hangingPunct="1">
              <a:spcBef>
                <a:spcPct val="50000"/>
              </a:spcBef>
            </a:pPr>
            <a:r>
              <a:rPr lang="es-CO" sz="3200" dirty="0">
                <a:sym typeface="Symbol" panose="05050102010706020507" pitchFamily="18" charset="2"/>
              </a:rPr>
              <a:t> FOR EACH </a:t>
            </a:r>
            <a:r>
              <a:rPr lang="es-CO" sz="3200" dirty="0">
                <a:solidFill>
                  <a:srgbClr val="00B0F0"/>
                </a:solidFill>
                <a:sym typeface="Symbol" panose="05050102010706020507" pitchFamily="18" charset="2"/>
              </a:rPr>
              <a:t>page</a:t>
            </a:r>
            <a:r>
              <a:rPr lang="es-CO" sz="3200" dirty="0">
                <a:sym typeface="Symbol" panose="05050102010706020507" pitchFamily="18" charset="2"/>
              </a:rPr>
              <a:t> </a:t>
            </a:r>
            <a:r>
              <a:rPr lang="es-CO" sz="3200" dirty="0" err="1">
                <a:solidFill>
                  <a:srgbClr val="00B050"/>
                </a:solidFill>
                <a:sym typeface="Symbol" panose="05050102010706020507" pitchFamily="18" charset="2"/>
              </a:rPr>
              <a:t>p</a:t>
            </a:r>
            <a:r>
              <a:rPr lang="es-CO" sz="3200" baseline="-25000" dirty="0" err="1">
                <a:solidFill>
                  <a:srgbClr val="00B050"/>
                </a:solidFill>
                <a:sym typeface="Symbol" panose="05050102010706020507" pitchFamily="18" charset="2"/>
              </a:rPr>
              <a:t>s</a:t>
            </a:r>
            <a:r>
              <a:rPr lang="es-CO" sz="3200" dirty="0">
                <a:sym typeface="Symbol" panose="05050102010706020507" pitchFamily="18" charset="2"/>
              </a:rPr>
              <a:t> of </a:t>
            </a:r>
            <a:r>
              <a:rPr lang="es-CO" sz="3200" dirty="0">
                <a:solidFill>
                  <a:schemeClr val="accent2"/>
                </a:solidFill>
                <a:sym typeface="Symbol" panose="05050102010706020507" pitchFamily="18" charset="2"/>
              </a:rPr>
              <a:t>s</a:t>
            </a:r>
            <a:r>
              <a:rPr lang="es-CO" sz="3200" dirty="0">
                <a:sym typeface="Symbol" panose="05050102010706020507" pitchFamily="18" charset="2"/>
              </a:rPr>
              <a:t> DO</a:t>
            </a:r>
          </a:p>
          <a:p>
            <a:pPr eaLnBrk="1" hangingPunct="1">
              <a:spcBef>
                <a:spcPct val="50000"/>
              </a:spcBef>
            </a:pPr>
            <a:r>
              <a:rPr lang="es-CO" sz="3200" dirty="0">
                <a:sym typeface="Symbol" panose="05050102010706020507" pitchFamily="18" charset="2"/>
              </a:rPr>
              <a:t>  output </a:t>
            </a:r>
            <a:r>
              <a:rPr lang="es-CO" sz="3200" dirty="0" err="1">
                <a:solidFill>
                  <a:srgbClr val="00B050"/>
                </a:solidFill>
              </a:rPr>
              <a:t>sp</a:t>
            </a:r>
            <a:r>
              <a:rPr lang="es-CO" sz="3200" baseline="-25000" dirty="0" err="1">
                <a:solidFill>
                  <a:srgbClr val="00B050"/>
                </a:solidFill>
              </a:rPr>
              <a:t>r</a:t>
            </a:r>
            <a:r>
              <a:rPr lang="es-CO" sz="3200" dirty="0" smtClean="0">
                <a:sym typeface="Symbol" panose="05050102010706020507" pitchFamily="18" charset="2"/>
              </a:rPr>
              <a:t> </a:t>
            </a:r>
            <a:r>
              <a:rPr lang="en-US" sz="3200" dirty="0"/>
              <a:t>⋈</a:t>
            </a:r>
            <a:r>
              <a:rPr lang="es-CO" sz="3200" baseline="-25000" dirty="0">
                <a:sym typeface="Symbol" panose="05050102010706020507" pitchFamily="18" charset="2"/>
              </a:rPr>
              <a:t>A=B</a:t>
            </a:r>
            <a:r>
              <a:rPr lang="es-CO" sz="3200" dirty="0">
                <a:sym typeface="Symbol" panose="05050102010706020507" pitchFamily="18" charset="2"/>
              </a:rPr>
              <a:t> </a:t>
            </a:r>
            <a:r>
              <a:rPr lang="es-CO" sz="3200" dirty="0" err="1">
                <a:solidFill>
                  <a:srgbClr val="00B050"/>
                </a:solidFill>
                <a:sym typeface="Symbol" panose="05050102010706020507" pitchFamily="18" charset="2"/>
              </a:rPr>
              <a:t>p</a:t>
            </a:r>
            <a:r>
              <a:rPr lang="es-CO" sz="3200" baseline="-25000" dirty="0" err="1">
                <a:solidFill>
                  <a:srgbClr val="00B050"/>
                </a:solidFill>
                <a:sym typeface="Symbol" panose="05050102010706020507" pitchFamily="18" charset="2"/>
              </a:rPr>
              <a:t>s</a:t>
            </a:r>
            <a:r>
              <a:rPr lang="es-CO" sz="3200" dirty="0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50000"/>
              </a:spcBef>
            </a:pPr>
            <a:endParaRPr lang="es-ES_tradnl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Por lo tanto, la relación </a:t>
            </a:r>
            <a:r>
              <a:rPr lang="en-US" smtClean="0">
                <a:solidFill>
                  <a:schemeClr val="accent2"/>
                </a:solidFill>
              </a:rPr>
              <a:t>s</a:t>
            </a:r>
            <a:r>
              <a:rPr lang="en-US" smtClean="0"/>
              <a:t> se recorre una vez por cada grupo de (M - 2) páginas de </a:t>
            </a:r>
            <a:r>
              <a:rPr lang="en-US" smtClean="0">
                <a:solidFill>
                  <a:schemeClr val="accent2"/>
                </a:solidFill>
              </a:rPr>
              <a:t>r</a:t>
            </a:r>
            <a:r>
              <a:rPr lang="en-US" smtClean="0"/>
              <a:t>, es decir, se recorre: </a:t>
            </a:r>
            <a:r>
              <a:rPr lang="en-US" smtClean="0">
                <a:sym typeface="Symbol" panose="05050102010706020507" pitchFamily="18" charset="2"/>
              </a:rPr>
              <a:t></a:t>
            </a:r>
            <a:r>
              <a:rPr lang="en-US" smtClean="0"/>
              <a:t>F</a:t>
            </a:r>
            <a:r>
              <a:rPr lang="en-US" baseline="-25000" smtClean="0"/>
              <a:t>r</a:t>
            </a:r>
            <a:r>
              <a:rPr lang="en-US" smtClean="0"/>
              <a:t> / (M - 2)</a:t>
            </a:r>
            <a:r>
              <a:rPr lang="en-US" smtClean="0">
                <a:sym typeface="Symbol" panose="05050102010706020507" pitchFamily="18" charset="2"/>
              </a:rPr>
              <a:t> veces.</a:t>
            </a:r>
            <a:endParaRPr lang="en-US" smtClean="0"/>
          </a:p>
          <a:p>
            <a:pPr eaLnBrk="1" hangingPunct="1"/>
            <a:r>
              <a:rPr lang="en-US" smtClean="0"/>
              <a:t>Por lo tanto, el costo es:</a:t>
            </a:r>
          </a:p>
          <a:p>
            <a:pPr eaLnBrk="1" hangingPunct="1">
              <a:buFontTx/>
              <a:buNone/>
            </a:pPr>
            <a:r>
              <a:rPr lang="en-US" smtClean="0"/>
              <a:t>                F</a:t>
            </a:r>
            <a:r>
              <a:rPr lang="en-US" baseline="-25000" smtClean="0"/>
              <a:t>r  </a:t>
            </a:r>
            <a:r>
              <a:rPr lang="en-US" smtClean="0"/>
              <a:t>+ F</a:t>
            </a:r>
            <a:r>
              <a:rPr lang="en-US" baseline="-25000" smtClean="0"/>
              <a:t>s</a:t>
            </a:r>
            <a:r>
              <a:rPr lang="en-US" smtClean="0"/>
              <a:t> * </a:t>
            </a:r>
            <a:r>
              <a:rPr lang="en-US" smtClean="0">
                <a:sym typeface="Symbol" panose="05050102010706020507" pitchFamily="18" charset="2"/>
              </a:rPr>
              <a:t></a:t>
            </a:r>
            <a:r>
              <a:rPr lang="en-US" smtClean="0"/>
              <a:t>F</a:t>
            </a:r>
            <a:r>
              <a:rPr lang="en-US" baseline="-25000" smtClean="0"/>
              <a:t>r</a:t>
            </a:r>
            <a:r>
              <a:rPr lang="en-US" smtClean="0"/>
              <a:t> / (M - 2)</a:t>
            </a:r>
            <a:r>
              <a:rPr lang="en-US" smtClean="0">
                <a:sym typeface="Symbol" panose="05050102010706020507" pitchFamily="18" charset="2"/>
              </a:rPr>
              <a:t> </a:t>
            </a:r>
            <a:endParaRPr lang="en-US" smtClean="0"/>
          </a:p>
          <a:p>
            <a:pPr eaLnBrk="1" hangingPunct="1">
              <a:buFontTx/>
              <a:buNone/>
            </a:pPr>
            <a:r>
              <a:rPr lang="en-US" smtClean="0"/>
              <a:t>Nótese que si F</a:t>
            </a:r>
            <a:r>
              <a:rPr lang="en-US" baseline="-25000" smtClean="0"/>
              <a:t>r </a:t>
            </a:r>
            <a:r>
              <a:rPr lang="en-US" smtClean="0">
                <a:sym typeface="Symbol" panose="05050102010706020507" pitchFamily="18" charset="2"/>
              </a:rPr>
              <a:t></a:t>
            </a:r>
            <a:r>
              <a:rPr lang="en-US" baseline="-25000" smtClean="0">
                <a:sym typeface="Symbol" panose="05050102010706020507" pitchFamily="18" charset="2"/>
              </a:rPr>
              <a:t> </a:t>
            </a:r>
            <a:r>
              <a:rPr lang="en-US" smtClean="0"/>
              <a:t>(M - 2) entonces el costo </a:t>
            </a:r>
          </a:p>
          <a:p>
            <a:pPr eaLnBrk="1" hangingPunct="1">
              <a:buFontTx/>
              <a:buNone/>
            </a:pPr>
            <a:r>
              <a:rPr lang="en-US" smtClean="0"/>
              <a:t>es:           F</a:t>
            </a:r>
            <a:r>
              <a:rPr lang="en-US" baseline="-25000" smtClean="0"/>
              <a:t>r  </a:t>
            </a:r>
            <a:r>
              <a:rPr lang="en-US" smtClean="0"/>
              <a:t>+ F</a:t>
            </a:r>
            <a:r>
              <a:rPr lang="en-US" baseline="-25000" smtClean="0"/>
              <a:t>s</a:t>
            </a:r>
            <a:endParaRPr lang="en-US" smtClean="0"/>
          </a:p>
          <a:p>
            <a:pPr eaLnBrk="1" hangingPunct="1">
              <a:buFontTx/>
              <a:buNone/>
            </a:pPr>
            <a:endParaRPr lang="en-US" smtClean="0"/>
          </a:p>
        </p:txBody>
      </p:sp>
      <p:sp>
        <p:nvSpPr>
          <p:cNvPr id="14340" name="Rectangle 10"/>
          <p:cNvSpPr>
            <a:spLocks noChangeArrowheads="1"/>
          </p:cNvSpPr>
          <p:nvPr/>
        </p:nvSpPr>
        <p:spPr bwMode="auto">
          <a:xfrm>
            <a:off x="2124075" y="3716338"/>
            <a:ext cx="4248150" cy="719137"/>
          </a:xfrm>
          <a:prstGeom prst="rect">
            <a:avLst/>
          </a:prstGeom>
          <a:solidFill>
            <a:schemeClr val="accent2">
              <a:alpha val="4509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9666" y="1417638"/>
            <a:ext cx="8362950" cy="5251722"/>
          </a:xfrm>
        </p:spPr>
        <p:txBody>
          <a:bodyPr/>
          <a:lstStyle/>
          <a:p>
            <a:pPr eaLnBrk="1" hangingPunct="1"/>
            <a:r>
              <a:rPr lang="en-US" sz="2800" dirty="0" err="1" smtClean="0"/>
              <a:t>Ej</a:t>
            </a:r>
            <a:r>
              <a:rPr lang="en-US" sz="2800" dirty="0" smtClean="0"/>
              <a:t>: </a:t>
            </a:r>
            <a:r>
              <a:rPr lang="en-US" sz="2800" dirty="0" err="1" smtClean="0"/>
              <a:t>si</a:t>
            </a:r>
            <a:r>
              <a:rPr lang="en-US" sz="2800" dirty="0" smtClean="0"/>
              <a:t> M = 102 </a:t>
            </a:r>
            <a:r>
              <a:rPr lang="en-US" sz="2800" dirty="0" err="1" smtClean="0"/>
              <a:t>entonces</a:t>
            </a:r>
            <a:endParaRPr lang="en-US" sz="2800" dirty="0" smtClean="0"/>
          </a:p>
          <a:p>
            <a:pPr eaLnBrk="1" hangingPunct="1">
              <a:buFontTx/>
              <a:buNone/>
            </a:pPr>
            <a:r>
              <a:rPr lang="en-US" sz="2800" dirty="0" err="1" smtClean="0"/>
              <a:t>Costo</a:t>
            </a:r>
            <a:r>
              <a:rPr lang="en-US" sz="2800" dirty="0" smtClean="0"/>
              <a:t> = 1000 + 100 *  </a:t>
            </a:r>
            <a:r>
              <a:rPr lang="en-US" sz="2800" dirty="0" smtClean="0">
                <a:sym typeface="Symbol" panose="05050102010706020507" pitchFamily="18" charset="2"/>
              </a:rPr>
              <a:t></a:t>
            </a:r>
            <a:r>
              <a:rPr lang="en-US" sz="2800" dirty="0" smtClean="0"/>
              <a:t>1000 / (102 </a:t>
            </a:r>
            <a:r>
              <a:rPr lang="en-US" dirty="0" smtClean="0"/>
              <a:t>-</a:t>
            </a:r>
            <a:r>
              <a:rPr lang="en-US" sz="2800" dirty="0" smtClean="0"/>
              <a:t> 2)</a:t>
            </a:r>
            <a:r>
              <a:rPr lang="en-US" sz="2800" dirty="0" smtClean="0">
                <a:sym typeface="Symbol" panose="05050102010706020507" pitchFamily="18" charset="2"/>
              </a:rPr>
              <a:t> = 2000 </a:t>
            </a:r>
          </a:p>
          <a:p>
            <a:pPr eaLnBrk="1" hangingPunct="1">
              <a:buFontTx/>
              <a:buNone/>
            </a:pPr>
            <a:endParaRPr lang="en-US" sz="2800" dirty="0" smtClean="0">
              <a:sym typeface="Symbol" panose="05050102010706020507" pitchFamily="18" charset="2"/>
            </a:endParaRPr>
          </a:p>
          <a:p>
            <a:pPr eaLnBrk="1" hangingPunct="1"/>
            <a:r>
              <a:rPr lang="en-US" sz="2800" dirty="0" err="1" smtClean="0">
                <a:sym typeface="Symbol" panose="05050102010706020507" pitchFamily="18" charset="2"/>
              </a:rPr>
              <a:t>Intercambiando</a:t>
            </a:r>
            <a:r>
              <a:rPr lang="en-US" sz="2800" dirty="0" smtClean="0">
                <a:sym typeface="Symbol" panose="05050102010706020507" pitchFamily="18" charset="2"/>
              </a:rPr>
              <a:t> </a:t>
            </a:r>
            <a:r>
              <a:rPr lang="en-US" sz="2800" dirty="0" smtClean="0">
                <a:solidFill>
                  <a:schemeClr val="accent2"/>
                </a:solidFill>
                <a:sym typeface="Symbol" panose="05050102010706020507" pitchFamily="18" charset="2"/>
              </a:rPr>
              <a:t>r</a:t>
            </a:r>
            <a:r>
              <a:rPr lang="en-US" sz="2800" dirty="0" smtClean="0">
                <a:sym typeface="Symbol" panose="05050102010706020507" pitchFamily="18" charset="2"/>
              </a:rPr>
              <a:t> y </a:t>
            </a:r>
            <a:r>
              <a:rPr lang="en-US" sz="2800" dirty="0" smtClean="0">
                <a:solidFill>
                  <a:schemeClr val="accent2"/>
                </a:solidFill>
                <a:sym typeface="Symbol" panose="05050102010706020507" pitchFamily="18" charset="2"/>
              </a:rPr>
              <a:t>s</a:t>
            </a:r>
            <a:r>
              <a:rPr lang="en-US" sz="2800" dirty="0" smtClean="0">
                <a:sym typeface="Symbol" panose="05050102010706020507" pitchFamily="18" charset="2"/>
              </a:rPr>
              <a:t>:</a:t>
            </a:r>
          </a:p>
          <a:p>
            <a:pPr eaLnBrk="1" hangingPunct="1">
              <a:buFontTx/>
              <a:buNone/>
            </a:pPr>
            <a:r>
              <a:rPr lang="en-US" sz="2800" dirty="0" err="1" smtClean="0"/>
              <a:t>Costo</a:t>
            </a:r>
            <a:r>
              <a:rPr lang="en-US" sz="2800" dirty="0" smtClean="0"/>
              <a:t> = 100 + 1000 *  </a:t>
            </a:r>
            <a:r>
              <a:rPr lang="en-US" sz="2800" dirty="0" smtClean="0">
                <a:sym typeface="Symbol" panose="05050102010706020507" pitchFamily="18" charset="2"/>
              </a:rPr>
              <a:t></a:t>
            </a:r>
            <a:r>
              <a:rPr lang="en-US" sz="2800" dirty="0" smtClean="0"/>
              <a:t>100 / (102 </a:t>
            </a:r>
            <a:r>
              <a:rPr lang="en-US" dirty="0" smtClean="0"/>
              <a:t>-</a:t>
            </a:r>
            <a:r>
              <a:rPr lang="en-US" sz="2800" dirty="0" smtClean="0"/>
              <a:t> 2)</a:t>
            </a:r>
            <a:r>
              <a:rPr lang="en-US" sz="2800" dirty="0" smtClean="0">
                <a:sym typeface="Symbol" panose="05050102010706020507" pitchFamily="18" charset="2"/>
              </a:rPr>
              <a:t> = 1100 </a:t>
            </a:r>
          </a:p>
          <a:p>
            <a:pPr eaLnBrk="1" hangingPunct="1">
              <a:buFontTx/>
              <a:buNone/>
            </a:pPr>
            <a:endParaRPr lang="en-US" sz="2800" dirty="0" smtClean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en-US" sz="2800" dirty="0" smtClean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sz="2800" dirty="0" err="1" smtClean="0">
                <a:sym typeface="Symbol" panose="05050102010706020507" pitchFamily="18" charset="2"/>
              </a:rPr>
              <a:t>Aquí</a:t>
            </a:r>
            <a:r>
              <a:rPr lang="en-US" sz="2800" dirty="0" smtClean="0">
                <a:sym typeface="Symbol" panose="05050102010706020507" pitchFamily="18" charset="2"/>
              </a:rPr>
              <a:t> la </a:t>
            </a:r>
            <a:r>
              <a:rPr lang="en-US" sz="2800" dirty="0" err="1" smtClean="0">
                <a:sym typeface="Symbol" panose="05050102010706020507" pitchFamily="18" charset="2"/>
              </a:rPr>
              <a:t>diferencia</a:t>
            </a:r>
            <a:r>
              <a:rPr lang="en-US" sz="2800" dirty="0" smtClean="0">
                <a:sym typeface="Symbol" panose="05050102010706020507" pitchFamily="18" charset="2"/>
              </a:rPr>
              <a:t> </a:t>
            </a:r>
            <a:r>
              <a:rPr lang="en-US" sz="2800" dirty="0" err="1" smtClean="0">
                <a:sym typeface="Symbol" panose="05050102010706020507" pitchFamily="18" charset="2"/>
              </a:rPr>
              <a:t>es</a:t>
            </a:r>
            <a:r>
              <a:rPr lang="en-US" sz="2800" dirty="0" smtClean="0">
                <a:sym typeface="Symbol" panose="05050102010706020507" pitchFamily="18" charset="2"/>
              </a:rPr>
              <a:t> </a:t>
            </a:r>
            <a:r>
              <a:rPr lang="en-US" sz="2800" dirty="0" err="1" smtClean="0">
                <a:sym typeface="Symbol" panose="05050102010706020507" pitchFamily="18" charset="2"/>
              </a:rPr>
              <a:t>casi</a:t>
            </a:r>
            <a:r>
              <a:rPr lang="en-US" sz="2800" dirty="0" smtClean="0">
                <a:sym typeface="Symbol" panose="05050102010706020507" pitchFamily="18" charset="2"/>
              </a:rPr>
              <a:t> del 50%, </a:t>
            </a:r>
            <a:r>
              <a:rPr lang="en-US" sz="2800" dirty="0" err="1" smtClean="0">
                <a:sym typeface="Symbol" panose="05050102010706020507" pitchFamily="18" charset="2"/>
              </a:rPr>
              <a:t>así</a:t>
            </a:r>
            <a:r>
              <a:rPr lang="en-US" sz="2800" dirty="0" smtClean="0">
                <a:sym typeface="Symbol" panose="05050102010706020507" pitchFamily="18" charset="2"/>
              </a:rPr>
              <a:t> </a:t>
            </a:r>
            <a:r>
              <a:rPr lang="en-US" sz="2800" dirty="0">
                <a:sym typeface="Symbol" panose="05050102010706020507" pitchFamily="18" charset="2"/>
              </a:rPr>
              <a:t>e</a:t>
            </a:r>
            <a:r>
              <a:rPr lang="en-US" sz="2800" dirty="0" smtClean="0">
                <a:sym typeface="Symbol" panose="05050102010706020507" pitchFamily="18" charset="2"/>
              </a:rPr>
              <a:t>l </a:t>
            </a:r>
            <a:r>
              <a:rPr lang="en-US" sz="2800" dirty="0" err="1" smtClean="0">
                <a:sym typeface="Symbol" panose="05050102010706020507" pitchFamily="18" charset="2"/>
              </a:rPr>
              <a:t>orden</a:t>
            </a:r>
            <a:r>
              <a:rPr lang="en-US" sz="2800" dirty="0" smtClean="0">
                <a:sym typeface="Symbol" panose="05050102010706020507" pitchFamily="18" charset="2"/>
              </a:rPr>
              <a:t> de </a:t>
            </a:r>
          </a:p>
          <a:p>
            <a:pPr eaLnBrk="1" hangingPunct="1">
              <a:buNone/>
            </a:pPr>
            <a:r>
              <a:rPr lang="en-US" sz="2800" dirty="0" smtClean="0">
                <a:sym typeface="Symbol" panose="05050102010706020507" pitchFamily="18" charset="2"/>
              </a:rPr>
              <a:t>las </a:t>
            </a:r>
            <a:r>
              <a:rPr lang="en-US" sz="2800" dirty="0" err="1" smtClean="0">
                <a:sym typeface="Symbol" panose="05050102010706020507" pitchFamily="18" charset="2"/>
              </a:rPr>
              <a:t>relaciones</a:t>
            </a:r>
            <a:r>
              <a:rPr lang="en-US" sz="2800" dirty="0" smtClean="0">
                <a:sym typeface="Symbol" panose="05050102010706020507" pitchFamily="18" charset="2"/>
              </a:rPr>
              <a:t> </a:t>
            </a:r>
            <a:r>
              <a:rPr lang="en-US" sz="2800" dirty="0" err="1" smtClean="0">
                <a:sym typeface="Symbol" panose="05050102010706020507" pitchFamily="18" charset="2"/>
              </a:rPr>
              <a:t>importa</a:t>
            </a:r>
            <a:r>
              <a:rPr lang="en-US" sz="2800" dirty="0" smtClean="0">
                <a:sym typeface="Symbol" panose="05050102010706020507" pitchFamily="18" charset="2"/>
              </a:rPr>
              <a:t>. </a:t>
            </a:r>
            <a:r>
              <a:rPr lang="en-US" sz="2800" dirty="0" err="1" smtClean="0">
                <a:sym typeface="Symbol" panose="05050102010706020507" pitchFamily="18" charset="2"/>
              </a:rPr>
              <a:t>Es</a:t>
            </a:r>
            <a:r>
              <a:rPr lang="en-US" sz="2800" dirty="0" smtClean="0">
                <a:sym typeface="Symbol" panose="05050102010706020507" pitchFamily="18" charset="2"/>
              </a:rPr>
              <a:t> </a:t>
            </a:r>
            <a:r>
              <a:rPr lang="en-US" sz="2800" dirty="0" err="1">
                <a:sym typeface="Symbol" panose="05050102010706020507" pitchFamily="18" charset="2"/>
              </a:rPr>
              <a:t>más</a:t>
            </a:r>
            <a:r>
              <a:rPr lang="en-US" sz="2800" dirty="0">
                <a:sym typeface="Symbol" panose="05050102010706020507" pitchFamily="18" charset="2"/>
              </a:rPr>
              <a:t> “</a:t>
            </a:r>
            <a:r>
              <a:rPr lang="en-US" sz="2800" dirty="0" err="1">
                <a:sym typeface="Symbol" panose="05050102010706020507" pitchFamily="18" charset="2"/>
              </a:rPr>
              <a:t>económico</a:t>
            </a:r>
            <a:r>
              <a:rPr lang="en-US" sz="2800" dirty="0">
                <a:sym typeface="Symbol" panose="05050102010706020507" pitchFamily="18" charset="2"/>
              </a:rPr>
              <a:t>” </a:t>
            </a:r>
            <a:r>
              <a:rPr lang="en-US" sz="2800" dirty="0" err="1">
                <a:sym typeface="Symbol" panose="05050102010706020507" pitchFamily="18" charset="2"/>
              </a:rPr>
              <a:t>colocar</a:t>
            </a:r>
            <a:r>
              <a:rPr lang="en-US" sz="2800" dirty="0">
                <a:sym typeface="Symbol" panose="05050102010706020507" pitchFamily="18" charset="2"/>
              </a:rPr>
              <a:t> </a:t>
            </a:r>
            <a:endParaRPr lang="en-US" sz="2800" dirty="0" smtClean="0"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sz="2800" dirty="0" smtClean="0">
                <a:sym typeface="Symbol" panose="05050102010706020507" pitchFamily="18" charset="2"/>
              </a:rPr>
              <a:t>la </a:t>
            </a:r>
            <a:r>
              <a:rPr lang="en-US" sz="2800" dirty="0" err="1">
                <a:sym typeface="Symbol" panose="05050102010706020507" pitchFamily="18" charset="2"/>
              </a:rPr>
              <a:t>relación</a:t>
            </a:r>
            <a:r>
              <a:rPr lang="en-US" sz="2800" dirty="0">
                <a:sym typeface="Symbol" panose="05050102010706020507" pitchFamily="18" charset="2"/>
              </a:rPr>
              <a:t> </a:t>
            </a:r>
            <a:r>
              <a:rPr lang="en-US" sz="2800" dirty="0" err="1">
                <a:sym typeface="Symbol" panose="05050102010706020507" pitchFamily="18" charset="2"/>
              </a:rPr>
              <a:t>más</a:t>
            </a:r>
            <a:r>
              <a:rPr lang="en-US" sz="2800" dirty="0">
                <a:sym typeface="Symbol" panose="05050102010706020507" pitchFamily="18" charset="2"/>
              </a:rPr>
              <a:t> </a:t>
            </a:r>
            <a:r>
              <a:rPr lang="en-US" sz="2800" dirty="0" err="1">
                <a:sym typeface="Symbol" panose="05050102010706020507" pitchFamily="18" charset="2"/>
              </a:rPr>
              <a:t>pequeña</a:t>
            </a:r>
            <a:r>
              <a:rPr lang="en-US" sz="2800" dirty="0">
                <a:sym typeface="Symbol" panose="05050102010706020507" pitchFamily="18" charset="2"/>
              </a:rPr>
              <a:t> </a:t>
            </a:r>
            <a:r>
              <a:rPr lang="en-US" sz="2800" dirty="0" err="1">
                <a:sym typeface="Symbol" panose="05050102010706020507" pitchFamily="18" charset="2"/>
              </a:rPr>
              <a:t>en</a:t>
            </a:r>
            <a:r>
              <a:rPr lang="en-US" sz="2800" dirty="0">
                <a:sym typeface="Symbol" panose="05050102010706020507" pitchFamily="18" charset="2"/>
              </a:rPr>
              <a:t> el </a:t>
            </a:r>
            <a:r>
              <a:rPr lang="en-US" sz="2800" dirty="0" err="1">
                <a:sym typeface="Symbol" panose="05050102010706020507" pitchFamily="18" charset="2"/>
              </a:rPr>
              <a:t>ciclo</a:t>
            </a:r>
            <a:r>
              <a:rPr lang="en-US" sz="2800" dirty="0">
                <a:sym typeface="Symbol" panose="05050102010706020507" pitchFamily="18" charset="2"/>
              </a:rPr>
              <a:t> </a:t>
            </a:r>
            <a:r>
              <a:rPr lang="en-US" sz="2800" dirty="0" err="1" smtClean="0">
                <a:sym typeface="Symbol" panose="05050102010706020507" pitchFamily="18" charset="2"/>
              </a:rPr>
              <a:t>externo</a:t>
            </a:r>
            <a:endParaRPr lang="en-US" sz="2800" dirty="0" smtClean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en-US" sz="2800" dirty="0" smtClean="0">
              <a:sym typeface="Symbol" panose="05050102010706020507" pitchFamily="18" charset="2"/>
            </a:endParaRPr>
          </a:p>
        </p:txBody>
      </p:sp>
      <p:sp>
        <p:nvSpPr>
          <p:cNvPr id="15364" name="AutoShape 4"/>
          <p:cNvSpPr>
            <a:spLocks/>
          </p:cNvSpPr>
          <p:nvPr/>
        </p:nvSpPr>
        <p:spPr bwMode="auto">
          <a:xfrm rot="-5400000">
            <a:off x="2211388" y="2365375"/>
            <a:ext cx="250825" cy="720725"/>
          </a:xfrm>
          <a:prstGeom prst="leftBrace">
            <a:avLst>
              <a:gd name="adj1" fmla="val 23945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2117725" y="2889250"/>
            <a:ext cx="579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F</a:t>
            </a:r>
            <a:r>
              <a:rPr lang="en-US" sz="2000" baseline="-25000">
                <a:solidFill>
                  <a:schemeClr val="accent2"/>
                </a:solidFill>
              </a:rPr>
              <a:t>r</a:t>
            </a:r>
          </a:p>
        </p:txBody>
      </p:sp>
      <p:sp>
        <p:nvSpPr>
          <p:cNvPr id="15366" name="AutoShape 6"/>
          <p:cNvSpPr>
            <a:spLocks/>
          </p:cNvSpPr>
          <p:nvPr/>
        </p:nvSpPr>
        <p:spPr bwMode="auto">
          <a:xfrm rot="-5400000">
            <a:off x="4536281" y="2369345"/>
            <a:ext cx="212725" cy="722312"/>
          </a:xfrm>
          <a:prstGeom prst="leftBrace">
            <a:avLst>
              <a:gd name="adj1" fmla="val 28296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4495800" y="2886075"/>
            <a:ext cx="436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F</a:t>
            </a:r>
            <a:r>
              <a:rPr lang="en-US" sz="2000" baseline="-25000">
                <a:solidFill>
                  <a:schemeClr val="accent2"/>
                </a:solidFill>
              </a:rPr>
              <a:t>r</a:t>
            </a:r>
          </a:p>
        </p:txBody>
      </p:sp>
      <p:sp>
        <p:nvSpPr>
          <p:cNvPr id="15368" name="AutoShape 8"/>
          <p:cNvSpPr>
            <a:spLocks/>
          </p:cNvSpPr>
          <p:nvPr/>
        </p:nvSpPr>
        <p:spPr bwMode="auto">
          <a:xfrm rot="-5400000">
            <a:off x="3244057" y="2405856"/>
            <a:ext cx="279400" cy="649287"/>
          </a:xfrm>
          <a:prstGeom prst="leftBrace">
            <a:avLst>
              <a:gd name="adj1" fmla="val 19366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3203575" y="2878138"/>
            <a:ext cx="422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F</a:t>
            </a:r>
            <a:r>
              <a:rPr lang="en-US" sz="2000" baseline="-2500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15370" name="AutoShape 10"/>
          <p:cNvSpPr>
            <a:spLocks/>
          </p:cNvSpPr>
          <p:nvPr/>
        </p:nvSpPr>
        <p:spPr bwMode="auto">
          <a:xfrm rot="-5400000">
            <a:off x="5952332" y="2156618"/>
            <a:ext cx="260350" cy="1154113"/>
          </a:xfrm>
          <a:prstGeom prst="leftBrace">
            <a:avLst>
              <a:gd name="adj1" fmla="val 36941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5648325" y="2887663"/>
            <a:ext cx="10112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M - 2</a:t>
            </a:r>
            <a:endParaRPr lang="en-US" sz="2000" baseline="-25000">
              <a:solidFill>
                <a:schemeClr val="accent2"/>
              </a:solidFill>
            </a:endParaRPr>
          </a:p>
        </p:txBody>
      </p:sp>
      <p:sp>
        <p:nvSpPr>
          <p:cNvPr id="15372" name="AutoShape 12"/>
          <p:cNvSpPr>
            <a:spLocks/>
          </p:cNvSpPr>
          <p:nvPr/>
        </p:nvSpPr>
        <p:spPr bwMode="auto">
          <a:xfrm rot="-5400000">
            <a:off x="2070894" y="3987006"/>
            <a:ext cx="250825" cy="576263"/>
          </a:xfrm>
          <a:prstGeom prst="leftBrace">
            <a:avLst>
              <a:gd name="adj1" fmla="val 19146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1976438" y="4438650"/>
            <a:ext cx="579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F</a:t>
            </a:r>
            <a:r>
              <a:rPr lang="en-US" sz="2000" baseline="-2500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15374" name="AutoShape 14"/>
          <p:cNvSpPr>
            <a:spLocks/>
          </p:cNvSpPr>
          <p:nvPr/>
        </p:nvSpPr>
        <p:spPr bwMode="auto">
          <a:xfrm rot="-5400000">
            <a:off x="4418807" y="3942556"/>
            <a:ext cx="236538" cy="650875"/>
          </a:xfrm>
          <a:prstGeom prst="leftBrace">
            <a:avLst>
              <a:gd name="adj1" fmla="val 22931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4354513" y="4435475"/>
            <a:ext cx="436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F</a:t>
            </a:r>
            <a:r>
              <a:rPr lang="en-US" sz="2000" baseline="-2500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15376" name="AutoShape 16"/>
          <p:cNvSpPr>
            <a:spLocks/>
          </p:cNvSpPr>
          <p:nvPr/>
        </p:nvSpPr>
        <p:spPr bwMode="auto">
          <a:xfrm rot="-5400000">
            <a:off x="3173413" y="3884612"/>
            <a:ext cx="279400" cy="790575"/>
          </a:xfrm>
          <a:prstGeom prst="leftBrace">
            <a:avLst>
              <a:gd name="adj1" fmla="val 23580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3062288" y="4427538"/>
            <a:ext cx="395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F</a:t>
            </a:r>
            <a:r>
              <a:rPr lang="en-US" sz="2000" baseline="-25000">
                <a:solidFill>
                  <a:schemeClr val="accent2"/>
                </a:solidFill>
              </a:rPr>
              <a:t>r</a:t>
            </a:r>
          </a:p>
        </p:txBody>
      </p:sp>
      <p:sp>
        <p:nvSpPr>
          <p:cNvPr id="15378" name="AutoShape 18"/>
          <p:cNvSpPr>
            <a:spLocks/>
          </p:cNvSpPr>
          <p:nvPr/>
        </p:nvSpPr>
        <p:spPr bwMode="auto">
          <a:xfrm rot="-5400000">
            <a:off x="5739607" y="3702843"/>
            <a:ext cx="260350" cy="1154113"/>
          </a:xfrm>
          <a:prstGeom prst="leftBrace">
            <a:avLst>
              <a:gd name="adj1" fmla="val 36941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15379" name="Text Box 19"/>
          <p:cNvSpPr txBox="1">
            <a:spLocks noChangeArrowheads="1"/>
          </p:cNvSpPr>
          <p:nvPr/>
        </p:nvSpPr>
        <p:spPr bwMode="auto">
          <a:xfrm>
            <a:off x="5507038" y="4437063"/>
            <a:ext cx="10112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M - 2</a:t>
            </a:r>
            <a:endParaRPr lang="en-US" sz="2000" baseline="-250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 smtClean="0"/>
              <a:t>2. </a:t>
            </a:r>
            <a:r>
              <a:rPr lang="en-US" i="1" dirty="0" smtClean="0"/>
              <a:t>Index Nested Loops </a:t>
            </a:r>
            <a:r>
              <a:rPr lang="en-US" dirty="0" smtClean="0"/>
              <a:t>(</a:t>
            </a:r>
            <a:r>
              <a:rPr lang="en-US" dirty="0" err="1" smtClean="0"/>
              <a:t>Ciclos</a:t>
            </a:r>
            <a:r>
              <a:rPr lang="en-US" dirty="0" smtClean="0"/>
              <a:t> </a:t>
            </a:r>
            <a:r>
              <a:rPr lang="en-US" dirty="0" err="1" smtClean="0"/>
              <a:t>Anidados</a:t>
            </a:r>
            <a:r>
              <a:rPr lang="en-US" dirty="0" smtClean="0"/>
              <a:t> con </a:t>
            </a:r>
            <a:r>
              <a:rPr lang="en-US" dirty="0" err="1" smtClean="0"/>
              <a:t>Índice</a:t>
            </a:r>
            <a:r>
              <a:rPr lang="en-US" dirty="0" smtClean="0"/>
              <a:t>)</a:t>
            </a:r>
          </a:p>
          <a:p>
            <a:pPr eaLnBrk="1" hangingPunct="1"/>
            <a:r>
              <a:rPr lang="en-US" dirty="0" err="1" smtClean="0"/>
              <a:t>Supóngase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/>
                </a:solidFill>
              </a:rPr>
              <a:t>s</a:t>
            </a:r>
            <a:r>
              <a:rPr lang="en-US" dirty="0" smtClean="0"/>
              <a:t> (</a:t>
            </a:r>
            <a:r>
              <a:rPr lang="en-US" dirty="0" err="1" smtClean="0"/>
              <a:t>relación</a:t>
            </a:r>
            <a:r>
              <a:rPr lang="en-US" dirty="0" smtClean="0"/>
              <a:t> </a:t>
            </a:r>
            <a:r>
              <a:rPr lang="en-US" dirty="0" err="1" smtClean="0"/>
              <a:t>interna</a:t>
            </a:r>
            <a:r>
              <a:rPr lang="en-US" dirty="0" smtClean="0"/>
              <a:t>) </a:t>
            </a:r>
            <a:r>
              <a:rPr lang="en-US" dirty="0" err="1" smtClean="0"/>
              <a:t>tiene</a:t>
            </a:r>
            <a:r>
              <a:rPr lang="en-US" dirty="0" smtClean="0"/>
              <a:t> un </a:t>
            </a:r>
            <a:r>
              <a:rPr lang="en-US" dirty="0" err="1" smtClean="0"/>
              <a:t>índice</a:t>
            </a:r>
            <a:r>
              <a:rPr lang="en-US" dirty="0" smtClean="0"/>
              <a:t> </a:t>
            </a:r>
            <a:r>
              <a:rPr lang="en-US" dirty="0" err="1" smtClean="0"/>
              <a:t>sobre</a:t>
            </a:r>
            <a:r>
              <a:rPr lang="en-US" dirty="0" smtClean="0"/>
              <a:t> el </a:t>
            </a:r>
            <a:r>
              <a:rPr lang="en-US" dirty="0" err="1" smtClean="0"/>
              <a:t>atributo</a:t>
            </a:r>
            <a:r>
              <a:rPr lang="en-US" dirty="0" smtClean="0"/>
              <a:t> de </a:t>
            </a:r>
            <a:r>
              <a:rPr lang="en-US" i="1" dirty="0" smtClean="0"/>
              <a:t>join</a:t>
            </a:r>
            <a:r>
              <a:rPr lang="en-US" dirty="0" smtClean="0"/>
              <a:t> B</a:t>
            </a:r>
          </a:p>
          <a:p>
            <a:pPr eaLnBrk="1" hangingPunct="1"/>
            <a:r>
              <a:rPr lang="en-US" dirty="0" smtClean="0"/>
              <a:t>En </a:t>
            </a:r>
            <a:r>
              <a:rPr lang="en-US" dirty="0" err="1" smtClean="0"/>
              <a:t>vez</a:t>
            </a:r>
            <a:r>
              <a:rPr lang="en-US" dirty="0" smtClean="0"/>
              <a:t> de </a:t>
            </a:r>
            <a:r>
              <a:rPr lang="en-US" dirty="0" err="1" smtClean="0"/>
              <a:t>recorrer</a:t>
            </a:r>
            <a:r>
              <a:rPr lang="en-US" dirty="0" smtClean="0"/>
              <a:t> </a:t>
            </a:r>
            <a:r>
              <a:rPr lang="en-US" dirty="0" err="1" smtClean="0"/>
              <a:t>toda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/>
                </a:solidFill>
              </a:rPr>
              <a:t>s</a:t>
            </a:r>
            <a:r>
              <a:rPr lang="en-US" dirty="0" smtClean="0"/>
              <a:t> en el </a:t>
            </a:r>
            <a:r>
              <a:rPr lang="en-US" dirty="0" err="1" smtClean="0"/>
              <a:t>ciclo</a:t>
            </a:r>
            <a:r>
              <a:rPr lang="en-US" dirty="0" smtClean="0"/>
              <a:t> </a:t>
            </a:r>
            <a:r>
              <a:rPr lang="en-US" dirty="0" err="1" smtClean="0"/>
              <a:t>interno</a:t>
            </a:r>
            <a:r>
              <a:rPr lang="en-US" dirty="0" smtClean="0"/>
              <a:t> se </a:t>
            </a:r>
            <a:r>
              <a:rPr lang="en-US" dirty="0" err="1" smtClean="0"/>
              <a:t>puede</a:t>
            </a:r>
            <a:r>
              <a:rPr lang="en-US" dirty="0" smtClean="0"/>
              <a:t> </a:t>
            </a:r>
            <a:r>
              <a:rPr lang="en-US" dirty="0" err="1" smtClean="0"/>
              <a:t>usar</a:t>
            </a:r>
            <a:r>
              <a:rPr lang="en-US" dirty="0" smtClean="0"/>
              <a:t> el </a:t>
            </a:r>
            <a:r>
              <a:rPr lang="en-US" dirty="0" err="1" smtClean="0"/>
              <a:t>índice</a:t>
            </a:r>
            <a:r>
              <a:rPr lang="en-US" dirty="0" smtClean="0"/>
              <a:t> para </a:t>
            </a:r>
            <a:r>
              <a:rPr lang="en-US" dirty="0" err="1" smtClean="0"/>
              <a:t>encontrar</a:t>
            </a:r>
            <a:r>
              <a:rPr lang="en-US" dirty="0" smtClean="0"/>
              <a:t> </a:t>
            </a:r>
            <a:r>
              <a:rPr lang="en-US" dirty="0" err="1" smtClean="0"/>
              <a:t>las</a:t>
            </a:r>
            <a:r>
              <a:rPr lang="en-US" dirty="0" smtClean="0"/>
              <a:t> </a:t>
            </a:r>
            <a:r>
              <a:rPr lang="en-US" i="1" dirty="0" smtClean="0"/>
              <a:t>matching</a:t>
            </a:r>
            <a:r>
              <a:rPr lang="en-US" dirty="0" smtClean="0"/>
              <a:t> </a:t>
            </a:r>
            <a:r>
              <a:rPr lang="en-US" dirty="0" err="1" smtClean="0"/>
              <a:t>tuplas</a:t>
            </a:r>
            <a:r>
              <a:rPr lang="en-US" dirty="0" smtClean="0"/>
              <a:t> </a:t>
            </a:r>
            <a:r>
              <a:rPr lang="en-US" dirty="0" err="1" smtClean="0"/>
              <a:t>así</a:t>
            </a:r>
            <a:r>
              <a:rPr lang="en-US" dirty="0" smtClean="0"/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Algoritmo</a:t>
            </a:r>
          </a:p>
        </p:txBody>
      </p:sp>
      <p:sp>
        <p:nvSpPr>
          <p:cNvPr id="18435" name="Text Box 6"/>
          <p:cNvSpPr txBox="1">
            <a:spLocks noChangeArrowheads="1"/>
          </p:cNvSpPr>
          <p:nvPr/>
        </p:nvSpPr>
        <p:spPr bwMode="auto">
          <a:xfrm>
            <a:off x="755650" y="1916113"/>
            <a:ext cx="7704138" cy="350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sz="3200" dirty="0"/>
              <a:t>FOR EACH t </a:t>
            </a:r>
            <a:r>
              <a:rPr lang="es-CO" sz="3200" dirty="0">
                <a:sym typeface="Symbol" panose="05050102010706020507" pitchFamily="18" charset="2"/>
              </a:rPr>
              <a:t> </a:t>
            </a:r>
            <a:r>
              <a:rPr lang="es-CO" sz="3200" dirty="0">
                <a:solidFill>
                  <a:schemeClr val="accent2"/>
                </a:solidFill>
                <a:latin typeface="+mn-lt"/>
                <a:cs typeface="+mn-cs"/>
                <a:sym typeface="Symbol" panose="05050102010706020507" pitchFamily="18" charset="2"/>
              </a:rPr>
              <a:t>r</a:t>
            </a:r>
            <a:r>
              <a:rPr lang="es-CO" sz="3200" dirty="0">
                <a:sym typeface="Symbol" panose="05050102010706020507" pitchFamily="18" charset="2"/>
              </a:rPr>
              <a:t> DO {</a:t>
            </a:r>
          </a:p>
          <a:p>
            <a:pPr eaLnBrk="1" hangingPunct="1">
              <a:spcBef>
                <a:spcPct val="50000"/>
              </a:spcBef>
            </a:pPr>
            <a:r>
              <a:rPr lang="es-CO" sz="3200" dirty="0">
                <a:sym typeface="Symbol" panose="05050102010706020507" pitchFamily="18" charset="2"/>
              </a:rPr>
              <a:t> - Usar el índice sobre B para encontrar  </a:t>
            </a:r>
          </a:p>
          <a:p>
            <a:pPr eaLnBrk="1" hangingPunct="1">
              <a:spcBef>
                <a:spcPct val="50000"/>
              </a:spcBef>
            </a:pPr>
            <a:r>
              <a:rPr lang="es-CO" sz="3200" dirty="0">
                <a:sym typeface="Symbol" panose="05050102010706020507" pitchFamily="18" charset="2"/>
              </a:rPr>
              <a:t> todas las </a:t>
            </a:r>
            <a:r>
              <a:rPr lang="es-CO" sz="3200" dirty="0" err="1">
                <a:sym typeface="Symbol" panose="05050102010706020507" pitchFamily="18" charset="2"/>
              </a:rPr>
              <a:t>tuplas</a:t>
            </a:r>
            <a:r>
              <a:rPr lang="es-CO" sz="3200" dirty="0">
                <a:sym typeface="Symbol" panose="05050102010706020507" pitchFamily="18" charset="2"/>
              </a:rPr>
              <a:t> t’ </a:t>
            </a:r>
            <a:r>
              <a:rPr lang="es-CO" dirty="0">
                <a:sym typeface="Symbol" panose="05050102010706020507" pitchFamily="18" charset="2"/>
              </a:rPr>
              <a:t> </a:t>
            </a:r>
            <a:r>
              <a:rPr lang="es-CO" sz="3200" dirty="0">
                <a:solidFill>
                  <a:schemeClr val="accent2"/>
                </a:solidFill>
                <a:latin typeface="+mn-lt"/>
                <a:cs typeface="+mn-cs"/>
                <a:sym typeface="Symbol" panose="05050102010706020507" pitchFamily="18" charset="2"/>
              </a:rPr>
              <a:t>s</a:t>
            </a:r>
            <a:r>
              <a:rPr lang="es-CO" sz="3200" dirty="0">
                <a:sym typeface="Symbol" panose="05050102010706020507" pitchFamily="18" charset="2"/>
              </a:rPr>
              <a:t> tales que </a:t>
            </a:r>
            <a:r>
              <a:rPr lang="es-CO" sz="3200" dirty="0" err="1">
                <a:sym typeface="Symbol" panose="05050102010706020507" pitchFamily="18" charset="2"/>
              </a:rPr>
              <a:t>t.A</a:t>
            </a:r>
            <a:r>
              <a:rPr lang="es-CO" sz="3200" dirty="0">
                <a:sym typeface="Symbol" panose="05050102010706020507" pitchFamily="18" charset="2"/>
              </a:rPr>
              <a:t> = </a:t>
            </a:r>
            <a:r>
              <a:rPr lang="es-CO" sz="3200" dirty="0" err="1">
                <a:sym typeface="Symbol" panose="05050102010706020507" pitchFamily="18" charset="2"/>
              </a:rPr>
              <a:t>t’.B</a:t>
            </a:r>
            <a:r>
              <a:rPr lang="es-CO" sz="3200" dirty="0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50000"/>
              </a:spcBef>
            </a:pPr>
            <a:r>
              <a:rPr lang="es-CO" sz="3200" dirty="0">
                <a:sym typeface="Symbol" panose="05050102010706020507" pitchFamily="18" charset="2"/>
              </a:rPr>
              <a:t> - output &lt;t, t’&gt; para cada una de las t’</a:t>
            </a:r>
          </a:p>
          <a:p>
            <a:pPr eaLnBrk="1" hangingPunct="1">
              <a:spcBef>
                <a:spcPct val="50000"/>
              </a:spcBef>
            </a:pPr>
            <a:r>
              <a:rPr lang="es-CO" sz="3200" dirty="0"/>
              <a:t>}</a:t>
            </a:r>
            <a:endParaRPr lang="es-ES_tradnl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Para estimar el costo se debe considerar: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/>
            <a:r>
              <a:rPr lang="en-US" smtClean="0"/>
              <a:t>El tipo de índice (B+, </a:t>
            </a:r>
            <a:r>
              <a:rPr lang="en-US" i="1" smtClean="0"/>
              <a:t>hash</a:t>
            </a:r>
            <a:r>
              <a:rPr lang="en-US" smtClean="0"/>
              <a:t>, etc.)</a:t>
            </a:r>
          </a:p>
          <a:p>
            <a:pPr eaLnBrk="1" hangingPunct="1">
              <a:buFontTx/>
              <a:buNone/>
            </a:pPr>
            <a:r>
              <a:rPr lang="en-US" smtClean="0"/>
              <a:t>	y</a:t>
            </a:r>
          </a:p>
          <a:p>
            <a:pPr eaLnBrk="1" hangingPunct="1"/>
            <a:r>
              <a:rPr lang="en-US" smtClean="0"/>
              <a:t>Si el índice es </a:t>
            </a:r>
            <a:r>
              <a:rPr lang="en-US" i="1" smtClean="0"/>
              <a:t>clustered</a:t>
            </a:r>
            <a:r>
              <a:rPr lang="en-US" smtClean="0"/>
              <a:t> (agrupado) o </a:t>
            </a:r>
            <a:r>
              <a:rPr lang="en-US" i="1" smtClean="0"/>
              <a:t>unclustered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Índice </a:t>
            </a:r>
            <a:r>
              <a:rPr lang="en-US" i="1" smtClean="0">
                <a:solidFill>
                  <a:schemeClr val="accent2"/>
                </a:solidFill>
              </a:rPr>
              <a:t>clustered</a:t>
            </a:r>
          </a:p>
        </p:txBody>
      </p:sp>
      <p:grpSp>
        <p:nvGrpSpPr>
          <p:cNvPr id="20483" name="Group 27"/>
          <p:cNvGrpSpPr>
            <a:grpSpLocks/>
          </p:cNvGrpSpPr>
          <p:nvPr/>
        </p:nvGrpSpPr>
        <p:grpSpPr bwMode="auto">
          <a:xfrm>
            <a:off x="5795963" y="3429000"/>
            <a:ext cx="2016125" cy="2952750"/>
            <a:chOff x="5239" y="2115"/>
            <a:chExt cx="1270" cy="1860"/>
          </a:xfrm>
        </p:grpSpPr>
        <p:sp>
          <p:nvSpPr>
            <p:cNvPr id="20511" name="Rectangle 5"/>
            <p:cNvSpPr>
              <a:spLocks noChangeArrowheads="1"/>
            </p:cNvSpPr>
            <p:nvPr/>
          </p:nvSpPr>
          <p:spPr bwMode="auto">
            <a:xfrm>
              <a:off x="5239" y="2115"/>
              <a:ext cx="1270" cy="18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ES_tradnl"/>
            </a:p>
          </p:txBody>
        </p:sp>
        <p:sp>
          <p:nvSpPr>
            <p:cNvPr id="20512" name="Line 7"/>
            <p:cNvSpPr>
              <a:spLocks noChangeShapeType="1"/>
            </p:cNvSpPr>
            <p:nvPr/>
          </p:nvSpPr>
          <p:spPr bwMode="auto">
            <a:xfrm>
              <a:off x="5239" y="2251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513" name="Line 10"/>
            <p:cNvSpPr>
              <a:spLocks noChangeShapeType="1"/>
            </p:cNvSpPr>
            <p:nvPr/>
          </p:nvSpPr>
          <p:spPr bwMode="auto">
            <a:xfrm>
              <a:off x="5239" y="2387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514" name="Line 11"/>
            <p:cNvSpPr>
              <a:spLocks noChangeShapeType="1"/>
            </p:cNvSpPr>
            <p:nvPr/>
          </p:nvSpPr>
          <p:spPr bwMode="auto">
            <a:xfrm>
              <a:off x="5239" y="2523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515" name="Line 12"/>
            <p:cNvSpPr>
              <a:spLocks noChangeShapeType="1"/>
            </p:cNvSpPr>
            <p:nvPr/>
          </p:nvSpPr>
          <p:spPr bwMode="auto">
            <a:xfrm>
              <a:off x="5239" y="3067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516" name="Line 13"/>
            <p:cNvSpPr>
              <a:spLocks noChangeShapeType="1"/>
            </p:cNvSpPr>
            <p:nvPr/>
          </p:nvSpPr>
          <p:spPr bwMode="auto">
            <a:xfrm>
              <a:off x="5239" y="3203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517" name="Line 14"/>
            <p:cNvSpPr>
              <a:spLocks noChangeShapeType="1"/>
            </p:cNvSpPr>
            <p:nvPr/>
          </p:nvSpPr>
          <p:spPr bwMode="auto">
            <a:xfrm>
              <a:off x="5239" y="3838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0484" name="Text Box 15"/>
          <p:cNvSpPr txBox="1">
            <a:spLocks noChangeArrowheads="1"/>
          </p:cNvSpPr>
          <p:nvPr/>
        </p:nvSpPr>
        <p:spPr bwMode="auto">
          <a:xfrm>
            <a:off x="5722938" y="6491288"/>
            <a:ext cx="2233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/>
              <a:t>Archivo de datos</a:t>
            </a:r>
            <a:endParaRPr lang="es-ES_tradnl"/>
          </a:p>
        </p:txBody>
      </p:sp>
      <p:grpSp>
        <p:nvGrpSpPr>
          <p:cNvPr id="20485" name="Group 24"/>
          <p:cNvGrpSpPr>
            <a:grpSpLocks/>
          </p:cNvGrpSpPr>
          <p:nvPr/>
        </p:nvGrpSpPr>
        <p:grpSpPr bwMode="auto">
          <a:xfrm>
            <a:off x="468313" y="1555750"/>
            <a:ext cx="3024187" cy="1728788"/>
            <a:chOff x="-1747" y="2432"/>
            <a:chExt cx="2903" cy="1089"/>
          </a:xfrm>
        </p:grpSpPr>
        <p:sp>
          <p:nvSpPr>
            <p:cNvPr id="20503" name="Rectangle 16"/>
            <p:cNvSpPr>
              <a:spLocks noChangeArrowheads="1"/>
            </p:cNvSpPr>
            <p:nvPr/>
          </p:nvSpPr>
          <p:spPr bwMode="auto">
            <a:xfrm>
              <a:off x="-1747" y="2432"/>
              <a:ext cx="2903" cy="10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ES_tradnl"/>
            </a:p>
          </p:txBody>
        </p:sp>
        <p:sp>
          <p:nvSpPr>
            <p:cNvPr id="20504" name="Line 17"/>
            <p:cNvSpPr>
              <a:spLocks noChangeShapeType="1"/>
            </p:cNvSpPr>
            <p:nvPr/>
          </p:nvSpPr>
          <p:spPr bwMode="auto">
            <a:xfrm>
              <a:off x="-1747" y="3158"/>
              <a:ext cx="29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505" name="Line 18"/>
            <p:cNvSpPr>
              <a:spLocks noChangeShapeType="1"/>
            </p:cNvSpPr>
            <p:nvPr/>
          </p:nvSpPr>
          <p:spPr bwMode="auto">
            <a:xfrm>
              <a:off x="-1565" y="315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506" name="Line 19"/>
            <p:cNvSpPr>
              <a:spLocks noChangeShapeType="1"/>
            </p:cNvSpPr>
            <p:nvPr/>
          </p:nvSpPr>
          <p:spPr bwMode="auto">
            <a:xfrm>
              <a:off x="-1384" y="315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507" name="Line 20"/>
            <p:cNvSpPr>
              <a:spLocks noChangeShapeType="1"/>
            </p:cNvSpPr>
            <p:nvPr/>
          </p:nvSpPr>
          <p:spPr bwMode="auto">
            <a:xfrm>
              <a:off x="-1202" y="315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508" name="Line 21"/>
            <p:cNvSpPr>
              <a:spLocks noChangeShapeType="1"/>
            </p:cNvSpPr>
            <p:nvPr/>
          </p:nvSpPr>
          <p:spPr bwMode="auto">
            <a:xfrm>
              <a:off x="-431" y="315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509" name="Line 22"/>
            <p:cNvSpPr>
              <a:spLocks noChangeShapeType="1"/>
            </p:cNvSpPr>
            <p:nvPr/>
          </p:nvSpPr>
          <p:spPr bwMode="auto">
            <a:xfrm>
              <a:off x="-250" y="315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510" name="Line 23"/>
            <p:cNvSpPr>
              <a:spLocks noChangeShapeType="1"/>
            </p:cNvSpPr>
            <p:nvPr/>
          </p:nvSpPr>
          <p:spPr bwMode="auto">
            <a:xfrm>
              <a:off x="975" y="315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0486" name="Text Box 25"/>
          <p:cNvSpPr txBox="1">
            <a:spLocks noChangeArrowheads="1"/>
          </p:cNvSpPr>
          <p:nvPr/>
        </p:nvSpPr>
        <p:spPr bwMode="auto">
          <a:xfrm>
            <a:off x="3635375" y="2714625"/>
            <a:ext cx="1584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Entradas del índice</a:t>
            </a:r>
            <a:endParaRPr lang="es-ES_tradnl"/>
          </a:p>
        </p:txBody>
      </p:sp>
      <p:sp>
        <p:nvSpPr>
          <p:cNvPr id="20487" name="Text Box 26"/>
          <p:cNvSpPr txBox="1">
            <a:spLocks noChangeArrowheads="1"/>
          </p:cNvSpPr>
          <p:nvPr/>
        </p:nvSpPr>
        <p:spPr bwMode="auto">
          <a:xfrm>
            <a:off x="3635375" y="1628775"/>
            <a:ext cx="2449513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Mecanismo para localizar las entradas del índice</a:t>
            </a:r>
            <a:endParaRPr lang="es-ES_tradnl"/>
          </a:p>
        </p:txBody>
      </p:sp>
      <p:sp>
        <p:nvSpPr>
          <p:cNvPr id="20488" name="Text Box 28"/>
          <p:cNvSpPr txBox="1">
            <a:spLocks noChangeArrowheads="1"/>
          </p:cNvSpPr>
          <p:nvPr/>
        </p:nvSpPr>
        <p:spPr bwMode="auto">
          <a:xfrm>
            <a:off x="7885113" y="4516438"/>
            <a:ext cx="13700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/>
              <a:t>Registros de datos</a:t>
            </a:r>
            <a:endParaRPr lang="es-ES_tradnl"/>
          </a:p>
        </p:txBody>
      </p:sp>
      <p:sp>
        <p:nvSpPr>
          <p:cNvPr id="20489" name="Text Box 29"/>
          <p:cNvSpPr txBox="1">
            <a:spLocks noChangeArrowheads="1"/>
          </p:cNvSpPr>
          <p:nvPr/>
        </p:nvSpPr>
        <p:spPr bwMode="auto">
          <a:xfrm>
            <a:off x="827088" y="1196975"/>
            <a:ext cx="2303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/>
              <a:t>Archivo del índice</a:t>
            </a:r>
            <a:endParaRPr lang="es-ES_tradnl"/>
          </a:p>
        </p:txBody>
      </p:sp>
      <p:sp>
        <p:nvSpPr>
          <p:cNvPr id="20490" name="Line 30"/>
          <p:cNvSpPr>
            <a:spLocks noChangeShapeType="1"/>
          </p:cNvSpPr>
          <p:nvPr/>
        </p:nvSpPr>
        <p:spPr bwMode="auto">
          <a:xfrm>
            <a:off x="8027988" y="3429000"/>
            <a:ext cx="0" cy="295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491" name="Line 31"/>
          <p:cNvSpPr>
            <a:spLocks noChangeShapeType="1"/>
          </p:cNvSpPr>
          <p:nvPr/>
        </p:nvSpPr>
        <p:spPr bwMode="auto">
          <a:xfrm>
            <a:off x="3635375" y="1628775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492" name="Line 32"/>
          <p:cNvSpPr>
            <a:spLocks noChangeShapeType="1"/>
          </p:cNvSpPr>
          <p:nvPr/>
        </p:nvSpPr>
        <p:spPr bwMode="auto">
          <a:xfrm flipH="1">
            <a:off x="3635375" y="270827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493" name="Line 33"/>
          <p:cNvSpPr>
            <a:spLocks noChangeShapeType="1"/>
          </p:cNvSpPr>
          <p:nvPr/>
        </p:nvSpPr>
        <p:spPr bwMode="auto">
          <a:xfrm flipV="1">
            <a:off x="539750" y="3521075"/>
            <a:ext cx="5226050" cy="523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494" name="Line 34"/>
          <p:cNvSpPr>
            <a:spLocks noChangeShapeType="1"/>
          </p:cNvSpPr>
          <p:nvPr/>
        </p:nvSpPr>
        <p:spPr bwMode="auto">
          <a:xfrm>
            <a:off x="539750" y="3068638"/>
            <a:ext cx="0" cy="504825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495" name="Line 35"/>
          <p:cNvSpPr>
            <a:spLocks noChangeShapeType="1"/>
          </p:cNvSpPr>
          <p:nvPr/>
        </p:nvSpPr>
        <p:spPr bwMode="auto">
          <a:xfrm flipV="1">
            <a:off x="755650" y="3736975"/>
            <a:ext cx="5010150" cy="523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496" name="Line 36"/>
          <p:cNvSpPr>
            <a:spLocks noChangeShapeType="1"/>
          </p:cNvSpPr>
          <p:nvPr/>
        </p:nvSpPr>
        <p:spPr bwMode="auto">
          <a:xfrm>
            <a:off x="755650" y="3068638"/>
            <a:ext cx="0" cy="720725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497" name="Line 37"/>
          <p:cNvSpPr>
            <a:spLocks noChangeShapeType="1"/>
          </p:cNvSpPr>
          <p:nvPr/>
        </p:nvSpPr>
        <p:spPr bwMode="auto">
          <a:xfrm flipV="1">
            <a:off x="971550" y="3952875"/>
            <a:ext cx="4794250" cy="523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498" name="Line 39"/>
          <p:cNvSpPr>
            <a:spLocks noChangeShapeType="1"/>
          </p:cNvSpPr>
          <p:nvPr/>
        </p:nvSpPr>
        <p:spPr bwMode="auto">
          <a:xfrm>
            <a:off x="941388" y="3068638"/>
            <a:ext cx="0" cy="936625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499" name="Line 40"/>
          <p:cNvSpPr>
            <a:spLocks noChangeShapeType="1"/>
          </p:cNvSpPr>
          <p:nvPr/>
        </p:nvSpPr>
        <p:spPr bwMode="auto">
          <a:xfrm flipV="1">
            <a:off x="1908175" y="5032375"/>
            <a:ext cx="3887788" cy="523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500" name="Line 41"/>
          <p:cNvSpPr>
            <a:spLocks noChangeShapeType="1"/>
          </p:cNvSpPr>
          <p:nvPr/>
        </p:nvSpPr>
        <p:spPr bwMode="auto">
          <a:xfrm flipH="1">
            <a:off x="1908175" y="3038475"/>
            <a:ext cx="20638" cy="20462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501" name="Line 42"/>
          <p:cNvSpPr>
            <a:spLocks noChangeShapeType="1"/>
          </p:cNvSpPr>
          <p:nvPr/>
        </p:nvSpPr>
        <p:spPr bwMode="auto">
          <a:xfrm>
            <a:off x="3398838" y="6237288"/>
            <a:ext cx="2411412" cy="190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502" name="Line 44"/>
          <p:cNvSpPr>
            <a:spLocks noChangeShapeType="1"/>
          </p:cNvSpPr>
          <p:nvPr/>
        </p:nvSpPr>
        <p:spPr bwMode="auto">
          <a:xfrm>
            <a:off x="3398838" y="3068638"/>
            <a:ext cx="0" cy="31686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Índice </a:t>
            </a:r>
            <a:r>
              <a:rPr lang="en-US" i="1" smtClean="0">
                <a:solidFill>
                  <a:srgbClr val="FF0000"/>
                </a:solidFill>
              </a:rPr>
              <a:t>unclustered</a:t>
            </a:r>
          </a:p>
        </p:txBody>
      </p:sp>
      <p:sp>
        <p:nvSpPr>
          <p:cNvPr id="21507" name="Rectangle 6"/>
          <p:cNvSpPr>
            <a:spLocks noChangeArrowheads="1"/>
          </p:cNvSpPr>
          <p:nvPr/>
        </p:nvSpPr>
        <p:spPr bwMode="auto">
          <a:xfrm>
            <a:off x="5651500" y="3357563"/>
            <a:ext cx="2016125" cy="2952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21508" name="Line 7"/>
          <p:cNvSpPr>
            <a:spLocks noChangeShapeType="1"/>
          </p:cNvSpPr>
          <p:nvPr/>
        </p:nvSpPr>
        <p:spPr bwMode="auto">
          <a:xfrm>
            <a:off x="5651500" y="3573463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09" name="Line 8"/>
          <p:cNvSpPr>
            <a:spLocks noChangeShapeType="1"/>
          </p:cNvSpPr>
          <p:nvPr/>
        </p:nvSpPr>
        <p:spPr bwMode="auto">
          <a:xfrm>
            <a:off x="5651500" y="3789363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10" name="Line 9"/>
          <p:cNvSpPr>
            <a:spLocks noChangeShapeType="1"/>
          </p:cNvSpPr>
          <p:nvPr/>
        </p:nvSpPr>
        <p:spPr bwMode="auto">
          <a:xfrm>
            <a:off x="5651500" y="4005263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11" name="Line 10"/>
          <p:cNvSpPr>
            <a:spLocks noChangeShapeType="1"/>
          </p:cNvSpPr>
          <p:nvPr/>
        </p:nvSpPr>
        <p:spPr bwMode="auto">
          <a:xfrm>
            <a:off x="5651500" y="4868863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12" name="Line 11"/>
          <p:cNvSpPr>
            <a:spLocks noChangeShapeType="1"/>
          </p:cNvSpPr>
          <p:nvPr/>
        </p:nvSpPr>
        <p:spPr bwMode="auto">
          <a:xfrm>
            <a:off x="5651500" y="5084763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13" name="Line 12"/>
          <p:cNvSpPr>
            <a:spLocks noChangeShapeType="1"/>
          </p:cNvSpPr>
          <p:nvPr/>
        </p:nvSpPr>
        <p:spPr bwMode="auto">
          <a:xfrm>
            <a:off x="5651500" y="6092825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14" name="Text Box 13"/>
          <p:cNvSpPr txBox="1">
            <a:spLocks noChangeArrowheads="1"/>
          </p:cNvSpPr>
          <p:nvPr/>
        </p:nvSpPr>
        <p:spPr bwMode="auto">
          <a:xfrm>
            <a:off x="5578475" y="6419850"/>
            <a:ext cx="2233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/>
              <a:t>Archivo de datos</a:t>
            </a:r>
            <a:endParaRPr lang="es-ES_tradnl"/>
          </a:p>
        </p:txBody>
      </p:sp>
      <p:grpSp>
        <p:nvGrpSpPr>
          <p:cNvPr id="21515" name="Group 14"/>
          <p:cNvGrpSpPr>
            <a:grpSpLocks/>
          </p:cNvGrpSpPr>
          <p:nvPr/>
        </p:nvGrpSpPr>
        <p:grpSpPr bwMode="auto">
          <a:xfrm>
            <a:off x="323850" y="1484313"/>
            <a:ext cx="3024188" cy="1728787"/>
            <a:chOff x="-1747" y="2432"/>
            <a:chExt cx="2903" cy="1089"/>
          </a:xfrm>
        </p:grpSpPr>
        <p:sp>
          <p:nvSpPr>
            <p:cNvPr id="21536" name="Rectangle 15"/>
            <p:cNvSpPr>
              <a:spLocks noChangeArrowheads="1"/>
            </p:cNvSpPr>
            <p:nvPr/>
          </p:nvSpPr>
          <p:spPr bwMode="auto">
            <a:xfrm>
              <a:off x="-1747" y="2432"/>
              <a:ext cx="2903" cy="10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ES_tradnl"/>
            </a:p>
          </p:txBody>
        </p:sp>
        <p:sp>
          <p:nvSpPr>
            <p:cNvPr id="21537" name="Line 16"/>
            <p:cNvSpPr>
              <a:spLocks noChangeShapeType="1"/>
            </p:cNvSpPr>
            <p:nvPr/>
          </p:nvSpPr>
          <p:spPr bwMode="auto">
            <a:xfrm>
              <a:off x="-1747" y="3158"/>
              <a:ext cx="29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1538" name="Line 17"/>
            <p:cNvSpPr>
              <a:spLocks noChangeShapeType="1"/>
            </p:cNvSpPr>
            <p:nvPr/>
          </p:nvSpPr>
          <p:spPr bwMode="auto">
            <a:xfrm>
              <a:off x="-1565" y="315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1539" name="Line 18"/>
            <p:cNvSpPr>
              <a:spLocks noChangeShapeType="1"/>
            </p:cNvSpPr>
            <p:nvPr/>
          </p:nvSpPr>
          <p:spPr bwMode="auto">
            <a:xfrm>
              <a:off x="-1384" y="315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1540" name="Line 19"/>
            <p:cNvSpPr>
              <a:spLocks noChangeShapeType="1"/>
            </p:cNvSpPr>
            <p:nvPr/>
          </p:nvSpPr>
          <p:spPr bwMode="auto">
            <a:xfrm>
              <a:off x="-1202" y="315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1541" name="Line 20"/>
            <p:cNvSpPr>
              <a:spLocks noChangeShapeType="1"/>
            </p:cNvSpPr>
            <p:nvPr/>
          </p:nvSpPr>
          <p:spPr bwMode="auto">
            <a:xfrm>
              <a:off x="-431" y="315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1542" name="Line 21"/>
            <p:cNvSpPr>
              <a:spLocks noChangeShapeType="1"/>
            </p:cNvSpPr>
            <p:nvPr/>
          </p:nvSpPr>
          <p:spPr bwMode="auto">
            <a:xfrm>
              <a:off x="-250" y="315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1543" name="Line 22"/>
            <p:cNvSpPr>
              <a:spLocks noChangeShapeType="1"/>
            </p:cNvSpPr>
            <p:nvPr/>
          </p:nvSpPr>
          <p:spPr bwMode="auto">
            <a:xfrm>
              <a:off x="975" y="315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1516" name="Text Box 23"/>
          <p:cNvSpPr txBox="1">
            <a:spLocks noChangeArrowheads="1"/>
          </p:cNvSpPr>
          <p:nvPr/>
        </p:nvSpPr>
        <p:spPr bwMode="auto">
          <a:xfrm>
            <a:off x="3490913" y="2643188"/>
            <a:ext cx="1584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Entradas del índice</a:t>
            </a:r>
            <a:endParaRPr lang="es-ES_tradnl"/>
          </a:p>
        </p:txBody>
      </p:sp>
      <p:sp>
        <p:nvSpPr>
          <p:cNvPr id="21517" name="Text Box 24"/>
          <p:cNvSpPr txBox="1">
            <a:spLocks noChangeArrowheads="1"/>
          </p:cNvSpPr>
          <p:nvPr/>
        </p:nvSpPr>
        <p:spPr bwMode="auto">
          <a:xfrm>
            <a:off x="3490913" y="1557338"/>
            <a:ext cx="2449512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Mecanismo para localizar las entradas del índice</a:t>
            </a:r>
            <a:endParaRPr lang="es-ES_tradnl"/>
          </a:p>
        </p:txBody>
      </p:sp>
      <p:sp>
        <p:nvSpPr>
          <p:cNvPr id="21518" name="Text Box 25"/>
          <p:cNvSpPr txBox="1">
            <a:spLocks noChangeArrowheads="1"/>
          </p:cNvSpPr>
          <p:nvPr/>
        </p:nvSpPr>
        <p:spPr bwMode="auto">
          <a:xfrm>
            <a:off x="7740650" y="4445000"/>
            <a:ext cx="13700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/>
              <a:t>Registros de datos</a:t>
            </a:r>
            <a:endParaRPr lang="es-ES_tradnl"/>
          </a:p>
        </p:txBody>
      </p:sp>
      <p:sp>
        <p:nvSpPr>
          <p:cNvPr id="21519" name="Text Box 26"/>
          <p:cNvSpPr txBox="1">
            <a:spLocks noChangeArrowheads="1"/>
          </p:cNvSpPr>
          <p:nvPr/>
        </p:nvSpPr>
        <p:spPr bwMode="auto">
          <a:xfrm>
            <a:off x="682625" y="1125538"/>
            <a:ext cx="23034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/>
              <a:t>Archivo del índice</a:t>
            </a:r>
            <a:endParaRPr lang="es-ES_tradnl"/>
          </a:p>
        </p:txBody>
      </p:sp>
      <p:sp>
        <p:nvSpPr>
          <p:cNvPr id="21520" name="Line 27"/>
          <p:cNvSpPr>
            <a:spLocks noChangeShapeType="1"/>
          </p:cNvSpPr>
          <p:nvPr/>
        </p:nvSpPr>
        <p:spPr bwMode="auto">
          <a:xfrm>
            <a:off x="7883525" y="3357563"/>
            <a:ext cx="0" cy="295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21" name="Line 28"/>
          <p:cNvSpPr>
            <a:spLocks noChangeShapeType="1"/>
          </p:cNvSpPr>
          <p:nvPr/>
        </p:nvSpPr>
        <p:spPr bwMode="auto">
          <a:xfrm>
            <a:off x="3490913" y="15573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22" name="Line 29"/>
          <p:cNvSpPr>
            <a:spLocks noChangeShapeType="1"/>
          </p:cNvSpPr>
          <p:nvPr/>
        </p:nvSpPr>
        <p:spPr bwMode="auto">
          <a:xfrm flipH="1">
            <a:off x="3490913" y="263683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23" name="Line 30"/>
          <p:cNvSpPr>
            <a:spLocks noChangeShapeType="1"/>
          </p:cNvSpPr>
          <p:nvPr/>
        </p:nvSpPr>
        <p:spPr bwMode="auto">
          <a:xfrm flipV="1">
            <a:off x="611188" y="4529138"/>
            <a:ext cx="5040312" cy="52387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24" name="Line 32"/>
          <p:cNvSpPr>
            <a:spLocks noChangeShapeType="1"/>
          </p:cNvSpPr>
          <p:nvPr/>
        </p:nvSpPr>
        <p:spPr bwMode="auto">
          <a:xfrm flipV="1">
            <a:off x="3275013" y="3665538"/>
            <a:ext cx="2346325" cy="52387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25" name="Line 33"/>
          <p:cNvSpPr>
            <a:spLocks noChangeShapeType="1"/>
          </p:cNvSpPr>
          <p:nvPr/>
        </p:nvSpPr>
        <p:spPr bwMode="auto">
          <a:xfrm>
            <a:off x="611188" y="2997200"/>
            <a:ext cx="0" cy="1584325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26" name="Line 34"/>
          <p:cNvSpPr>
            <a:spLocks noChangeShapeType="1"/>
          </p:cNvSpPr>
          <p:nvPr/>
        </p:nvSpPr>
        <p:spPr bwMode="auto">
          <a:xfrm flipV="1">
            <a:off x="827088" y="3881438"/>
            <a:ext cx="4794250" cy="52387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27" name="Line 35"/>
          <p:cNvSpPr>
            <a:spLocks noChangeShapeType="1"/>
          </p:cNvSpPr>
          <p:nvPr/>
        </p:nvSpPr>
        <p:spPr bwMode="auto">
          <a:xfrm>
            <a:off x="796925" y="2997200"/>
            <a:ext cx="0" cy="936625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28" name="Line 36"/>
          <p:cNvSpPr>
            <a:spLocks noChangeShapeType="1"/>
          </p:cNvSpPr>
          <p:nvPr/>
        </p:nvSpPr>
        <p:spPr bwMode="auto">
          <a:xfrm flipV="1">
            <a:off x="395288" y="5187950"/>
            <a:ext cx="5256212" cy="41275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29" name="Line 37"/>
          <p:cNvSpPr>
            <a:spLocks noChangeShapeType="1"/>
          </p:cNvSpPr>
          <p:nvPr/>
        </p:nvSpPr>
        <p:spPr bwMode="auto">
          <a:xfrm flipH="1">
            <a:off x="395288" y="2997200"/>
            <a:ext cx="20637" cy="2232025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30" name="Line 38"/>
          <p:cNvSpPr>
            <a:spLocks noChangeShapeType="1"/>
          </p:cNvSpPr>
          <p:nvPr/>
        </p:nvSpPr>
        <p:spPr bwMode="auto">
          <a:xfrm>
            <a:off x="1763713" y="6165850"/>
            <a:ext cx="3902075" cy="190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31" name="Line 41"/>
          <p:cNvSpPr>
            <a:spLocks noChangeShapeType="1"/>
          </p:cNvSpPr>
          <p:nvPr/>
        </p:nvSpPr>
        <p:spPr bwMode="auto">
          <a:xfrm>
            <a:off x="5651500" y="5302250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32" name="Line 42"/>
          <p:cNvSpPr>
            <a:spLocks noChangeShapeType="1"/>
          </p:cNvSpPr>
          <p:nvPr/>
        </p:nvSpPr>
        <p:spPr bwMode="auto">
          <a:xfrm>
            <a:off x="5651500" y="4654550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33" name="Line 43"/>
          <p:cNvSpPr>
            <a:spLocks noChangeShapeType="1"/>
          </p:cNvSpPr>
          <p:nvPr/>
        </p:nvSpPr>
        <p:spPr bwMode="auto">
          <a:xfrm>
            <a:off x="5651500" y="4437063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34" name="Line 45"/>
          <p:cNvSpPr>
            <a:spLocks noChangeShapeType="1"/>
          </p:cNvSpPr>
          <p:nvPr/>
        </p:nvSpPr>
        <p:spPr bwMode="auto">
          <a:xfrm>
            <a:off x="3254375" y="2925763"/>
            <a:ext cx="0" cy="792162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535" name="Line 46"/>
          <p:cNvSpPr>
            <a:spLocks noChangeShapeType="1"/>
          </p:cNvSpPr>
          <p:nvPr/>
        </p:nvSpPr>
        <p:spPr bwMode="auto">
          <a:xfrm>
            <a:off x="1804988" y="2997200"/>
            <a:ext cx="0" cy="31686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Si el </a:t>
            </a:r>
            <a:r>
              <a:rPr lang="en-US" dirty="0" err="1" smtClean="0"/>
              <a:t>índice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de </a:t>
            </a:r>
            <a:r>
              <a:rPr lang="en-US" dirty="0" err="1" smtClean="0"/>
              <a:t>tipo</a:t>
            </a:r>
            <a:r>
              <a:rPr lang="en-US" dirty="0" smtClean="0"/>
              <a:t> B+, el </a:t>
            </a:r>
            <a:r>
              <a:rPr lang="en-US" dirty="0" err="1" smtClean="0"/>
              <a:t>costo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promedio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smtClean="0"/>
              <a:t>para </a:t>
            </a:r>
            <a:r>
              <a:rPr lang="en-US" dirty="0" err="1" smtClean="0"/>
              <a:t>llegar</a:t>
            </a:r>
            <a:r>
              <a:rPr lang="en-US" dirty="0" smtClean="0"/>
              <a:t> al </a:t>
            </a:r>
            <a:r>
              <a:rPr lang="en-US" dirty="0" err="1" smtClean="0"/>
              <a:t>nodo</a:t>
            </a:r>
            <a:r>
              <a:rPr lang="en-US" dirty="0" smtClean="0"/>
              <a:t> </a:t>
            </a:r>
            <a:r>
              <a:rPr lang="en-US" dirty="0" err="1" smtClean="0"/>
              <a:t>hoja</a:t>
            </a:r>
            <a:r>
              <a:rPr lang="en-US" dirty="0" smtClean="0"/>
              <a:t> de la </a:t>
            </a:r>
            <a:r>
              <a:rPr lang="en-US" dirty="0" err="1" smtClean="0"/>
              <a:t>tupla</a:t>
            </a:r>
            <a:r>
              <a:rPr lang="en-US" dirty="0" smtClean="0"/>
              <a:t> </a:t>
            </a:r>
            <a:r>
              <a:rPr lang="en-US" dirty="0" err="1" smtClean="0"/>
              <a:t>buscada</a:t>
            </a:r>
            <a:r>
              <a:rPr lang="en-US" dirty="0" smtClean="0"/>
              <a:t> </a:t>
            </a:r>
            <a:r>
              <a:rPr lang="en-US" dirty="0" err="1" smtClean="0"/>
              <a:t>está</a:t>
            </a:r>
            <a:r>
              <a:rPr lang="en-US" dirty="0" smtClean="0"/>
              <a:t> entre 2 a 4 </a:t>
            </a:r>
            <a:r>
              <a:rPr lang="en-US" dirty="0" err="1" smtClean="0"/>
              <a:t>páginas</a:t>
            </a:r>
            <a:endParaRPr lang="en-US" dirty="0" smtClean="0"/>
          </a:p>
          <a:p>
            <a:pPr eaLnBrk="1" hangingPunct="1"/>
            <a:r>
              <a:rPr lang="en-US" dirty="0" smtClean="0"/>
              <a:t>Si el </a:t>
            </a:r>
            <a:r>
              <a:rPr lang="en-US" dirty="0" err="1" smtClean="0"/>
              <a:t>índice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de </a:t>
            </a:r>
            <a:r>
              <a:rPr lang="en-US" dirty="0" err="1" smtClean="0"/>
              <a:t>tipo</a:t>
            </a:r>
            <a:r>
              <a:rPr lang="en-US" dirty="0" smtClean="0"/>
              <a:t> </a:t>
            </a:r>
            <a:r>
              <a:rPr lang="en-US" i="1" dirty="0" smtClean="0"/>
              <a:t>hash</a:t>
            </a:r>
            <a:r>
              <a:rPr lang="en-US" dirty="0" smtClean="0"/>
              <a:t>, el </a:t>
            </a:r>
            <a:r>
              <a:rPr lang="en-US" dirty="0" err="1" smtClean="0"/>
              <a:t>costo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promedio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 smtClean="0"/>
              <a:t>es</a:t>
            </a:r>
            <a:r>
              <a:rPr lang="en-US" dirty="0" smtClean="0"/>
              <a:t> 1.2 </a:t>
            </a:r>
            <a:r>
              <a:rPr lang="en-US" dirty="0" err="1" smtClean="0"/>
              <a:t>páginas</a:t>
            </a:r>
            <a:endParaRPr lang="en-US" dirty="0" smtClean="0"/>
          </a:p>
        </p:txBody>
      </p:sp>
      <p:sp>
        <p:nvSpPr>
          <p:cNvPr id="22531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435975" cy="5257800"/>
          </a:xfrm>
        </p:spPr>
        <p:txBody>
          <a:bodyPr/>
          <a:lstStyle/>
          <a:p>
            <a:pPr eaLnBrk="1" hangingPunct="1"/>
            <a:r>
              <a:rPr lang="en-US" smtClean="0"/>
              <a:t>Si el índice es </a:t>
            </a:r>
            <a:r>
              <a:rPr lang="en-US" i="1" smtClean="0"/>
              <a:t>unclustered</a:t>
            </a:r>
            <a:r>
              <a:rPr lang="en-US" smtClean="0"/>
              <a:t> el número de lecturas (páginas) requerido para recuperar todas las </a:t>
            </a:r>
            <a:r>
              <a:rPr lang="en-US" i="1" smtClean="0"/>
              <a:t>matching</a:t>
            </a:r>
            <a:r>
              <a:rPr lang="en-US" smtClean="0"/>
              <a:t> tuplas de </a:t>
            </a:r>
            <a:r>
              <a:rPr lang="en-US" smtClean="0">
                <a:solidFill>
                  <a:schemeClr val="accent2"/>
                </a:solidFill>
              </a:rPr>
              <a:t>s</a:t>
            </a:r>
            <a:r>
              <a:rPr lang="en-US" smtClean="0"/>
              <a:t> es en el peor de los casos F</a:t>
            </a:r>
            <a:r>
              <a:rPr lang="en-US" baseline="-25000" smtClean="0"/>
              <a:t>s</a:t>
            </a:r>
            <a:r>
              <a:rPr lang="en-US" smtClean="0"/>
              <a:t> (implicaría leer toda </a:t>
            </a:r>
            <a:r>
              <a:rPr lang="en-US" smtClean="0">
                <a:solidFill>
                  <a:schemeClr val="accent2"/>
                </a:solidFill>
              </a:rPr>
              <a:t>s</a:t>
            </a:r>
            <a:r>
              <a:rPr lang="en-US" smtClean="0"/>
              <a:t>)</a:t>
            </a:r>
          </a:p>
          <a:p>
            <a:pPr eaLnBrk="1" hangingPunct="1"/>
            <a:r>
              <a:rPr lang="en-US" smtClean="0"/>
              <a:t>Por lo tanto, los índices </a:t>
            </a:r>
            <a:r>
              <a:rPr lang="en-US" i="1" smtClean="0"/>
              <a:t>unclustered</a:t>
            </a:r>
            <a:r>
              <a:rPr lang="en-US" smtClean="0"/>
              <a:t> no son recomendables para este método a menos que B sea una clave candidata en </a:t>
            </a:r>
            <a:r>
              <a:rPr lang="en-US" smtClean="0">
                <a:solidFill>
                  <a:schemeClr val="accent2"/>
                </a:solidFill>
              </a:rPr>
              <a:t>s</a:t>
            </a:r>
            <a:r>
              <a:rPr lang="en-US" smtClean="0"/>
              <a:t> (en este caso habría una sola </a:t>
            </a:r>
            <a:r>
              <a:rPr lang="en-US" i="1" smtClean="0"/>
              <a:t>matching</a:t>
            </a:r>
            <a:r>
              <a:rPr lang="en-US" smtClean="0"/>
              <a:t> tupla y se requeriría una sola lectura (página) para recuperarla)</a:t>
            </a:r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Si el </a:t>
            </a:r>
            <a:r>
              <a:rPr lang="en-US" dirty="0" err="1" smtClean="0"/>
              <a:t>índice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</a:t>
            </a:r>
            <a:r>
              <a:rPr lang="en-US" i="1" dirty="0" smtClean="0"/>
              <a:t>clustered</a:t>
            </a:r>
            <a:r>
              <a:rPr lang="en-US" dirty="0" smtClean="0"/>
              <a:t>, </a:t>
            </a:r>
            <a:r>
              <a:rPr lang="en-US" dirty="0" err="1" smtClean="0"/>
              <a:t>todas</a:t>
            </a:r>
            <a:r>
              <a:rPr lang="en-US" dirty="0" smtClean="0"/>
              <a:t> </a:t>
            </a:r>
            <a:r>
              <a:rPr lang="en-US" dirty="0" err="1" smtClean="0"/>
              <a:t>las</a:t>
            </a:r>
            <a:r>
              <a:rPr lang="en-US" dirty="0" smtClean="0"/>
              <a:t> </a:t>
            </a:r>
            <a:r>
              <a:rPr lang="en-US" i="1" dirty="0" smtClean="0"/>
              <a:t>matching</a:t>
            </a:r>
            <a:r>
              <a:rPr lang="en-US" dirty="0" smtClean="0"/>
              <a:t> </a:t>
            </a:r>
            <a:r>
              <a:rPr lang="en-US" dirty="0" err="1" smtClean="0"/>
              <a:t>tuplas</a:t>
            </a:r>
            <a:r>
              <a:rPr lang="en-US" dirty="0" smtClean="0"/>
              <a:t> de t </a:t>
            </a:r>
            <a:r>
              <a:rPr lang="en-US" dirty="0" err="1" smtClean="0"/>
              <a:t>estarán</a:t>
            </a:r>
            <a:r>
              <a:rPr lang="en-US" dirty="0" smtClean="0"/>
              <a:t> en la </a:t>
            </a:r>
            <a:r>
              <a:rPr lang="en-US" dirty="0" err="1" smtClean="0"/>
              <a:t>misma</a:t>
            </a:r>
            <a:r>
              <a:rPr lang="en-US" dirty="0" smtClean="0"/>
              <a:t> </a:t>
            </a:r>
            <a:r>
              <a:rPr lang="en-US" dirty="0" err="1" smtClean="0"/>
              <a:t>página</a:t>
            </a:r>
            <a:r>
              <a:rPr lang="en-US" dirty="0" smtClean="0"/>
              <a:t> o en </a:t>
            </a:r>
            <a:r>
              <a:rPr lang="en-US" dirty="0" err="1" smtClean="0"/>
              <a:t>las</a:t>
            </a:r>
            <a:r>
              <a:rPr lang="en-US" dirty="0" smtClean="0"/>
              <a:t> </a:t>
            </a:r>
            <a:r>
              <a:rPr lang="en-US" dirty="0" err="1" smtClean="0"/>
              <a:t>páginas</a:t>
            </a:r>
            <a:r>
              <a:rPr lang="en-US" dirty="0" smtClean="0"/>
              <a:t> </a:t>
            </a:r>
            <a:r>
              <a:rPr lang="en-US" dirty="0" err="1" smtClean="0"/>
              <a:t>adyacentes</a:t>
            </a:r>
            <a:r>
              <a:rPr lang="en-US" dirty="0" smtClean="0"/>
              <a:t>, en 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promedio</a:t>
            </a:r>
            <a:r>
              <a:rPr lang="en-US" dirty="0" smtClean="0"/>
              <a:t>, 1 o 2 </a:t>
            </a:r>
            <a:r>
              <a:rPr lang="en-US" dirty="0" err="1" smtClean="0"/>
              <a:t>lecturas</a:t>
            </a:r>
            <a:r>
              <a:rPr lang="en-US" dirty="0" smtClean="0"/>
              <a:t> (</a:t>
            </a:r>
            <a:r>
              <a:rPr lang="en-US" dirty="0" err="1" smtClean="0"/>
              <a:t>páginas</a:t>
            </a:r>
            <a:r>
              <a:rPr lang="en-US" dirty="0" smtClean="0"/>
              <a:t>)</a:t>
            </a:r>
          </a:p>
          <a:p>
            <a:pPr eaLnBrk="1" hangingPunct="1"/>
            <a:r>
              <a:rPr lang="en-US" dirty="0" err="1" smtClean="0"/>
              <a:t>Por</a:t>
            </a:r>
            <a:r>
              <a:rPr lang="en-US" dirty="0" smtClean="0"/>
              <a:t> lo </a:t>
            </a:r>
            <a:r>
              <a:rPr lang="en-US" dirty="0" err="1" smtClean="0"/>
              <a:t>tanto</a:t>
            </a:r>
            <a:r>
              <a:rPr lang="en-US" dirty="0" smtClean="0"/>
              <a:t>, en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caso</a:t>
            </a:r>
            <a:r>
              <a:rPr lang="en-US" dirty="0" smtClean="0"/>
              <a:t> el </a:t>
            </a:r>
            <a:r>
              <a:rPr lang="en-US" dirty="0" err="1" smtClean="0"/>
              <a:t>costo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:</a:t>
            </a:r>
          </a:p>
          <a:p>
            <a:pPr eaLnBrk="1" hangingPunct="1">
              <a:buFontTx/>
              <a:buNone/>
            </a:pPr>
            <a:endParaRPr lang="en-US" dirty="0" smtClean="0"/>
          </a:p>
        </p:txBody>
      </p:sp>
      <p:sp>
        <p:nvSpPr>
          <p:cNvPr id="24579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				F</a:t>
            </a:r>
            <a:r>
              <a:rPr lang="en-US" baseline="-25000" smtClean="0"/>
              <a:t>r</a:t>
            </a:r>
            <a:r>
              <a:rPr lang="en-US" smtClean="0"/>
              <a:t> + (</a:t>
            </a:r>
            <a:r>
              <a:rPr lang="en-US" smtClean="0">
                <a:sym typeface="Symbol" panose="05050102010706020507" pitchFamily="18" charset="2"/>
              </a:rPr>
              <a:t></a:t>
            </a:r>
            <a:r>
              <a:rPr lang="en-US" smtClean="0"/>
              <a:t> + 1) * t</a:t>
            </a:r>
            <a:r>
              <a:rPr lang="en-US" baseline="-25000" smtClean="0"/>
              <a:t>r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/>
            <a:r>
              <a:rPr lang="en-US" smtClean="0"/>
              <a:t>Donde </a:t>
            </a:r>
            <a:r>
              <a:rPr lang="en-US" smtClean="0">
                <a:sym typeface="Symbol" panose="05050102010706020507" pitchFamily="18" charset="2"/>
              </a:rPr>
              <a:t></a:t>
            </a:r>
            <a:r>
              <a:rPr lang="en-US" smtClean="0"/>
              <a:t> es el costo promedio de localizar con el índice el nodo hoja del arbol B+ (o el </a:t>
            </a:r>
            <a:r>
              <a:rPr lang="en-US" i="1" smtClean="0"/>
              <a:t>bucket </a:t>
            </a:r>
            <a:r>
              <a:rPr lang="en-US" smtClean="0"/>
              <a:t>correspondiente si el índice es </a:t>
            </a:r>
            <a:r>
              <a:rPr lang="en-US" i="1" smtClean="0"/>
              <a:t>hash</a:t>
            </a:r>
            <a:r>
              <a:rPr lang="en-US" smtClean="0"/>
              <a:t>)</a:t>
            </a:r>
          </a:p>
          <a:p>
            <a:pPr eaLnBrk="1" hangingPunct="1"/>
            <a:r>
              <a:rPr lang="en-US" smtClean="0"/>
              <a:t>El 1 adicional corresponde a la lectura de la página de las </a:t>
            </a:r>
            <a:r>
              <a:rPr lang="en-US" i="1" smtClean="0"/>
              <a:t>matching</a:t>
            </a:r>
            <a:r>
              <a:rPr lang="en-US" smtClean="0"/>
              <a:t> tuplas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059113" y="1628775"/>
            <a:ext cx="3168650" cy="719138"/>
          </a:xfrm>
          <a:prstGeom prst="rect">
            <a:avLst/>
          </a:prstGeom>
          <a:solidFill>
            <a:schemeClr val="accent2">
              <a:alpha val="4509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 el índice es </a:t>
            </a:r>
            <a:r>
              <a:rPr lang="en-US" i="1" smtClean="0"/>
              <a:t>unclustered</a:t>
            </a:r>
            <a:r>
              <a:rPr lang="en-US" smtClean="0"/>
              <a:t> entonces el costo es:</a:t>
            </a:r>
          </a:p>
          <a:p>
            <a:pPr eaLnBrk="1" hangingPunct="1">
              <a:buFontTx/>
              <a:buNone/>
            </a:pPr>
            <a:r>
              <a:rPr lang="en-US" smtClean="0"/>
              <a:t>				F</a:t>
            </a:r>
            <a:r>
              <a:rPr lang="en-US" baseline="-25000" smtClean="0"/>
              <a:t>r</a:t>
            </a:r>
            <a:r>
              <a:rPr lang="en-US" smtClean="0"/>
              <a:t> + (</a:t>
            </a:r>
            <a:r>
              <a:rPr lang="en-US" smtClean="0">
                <a:sym typeface="Symbol" panose="05050102010706020507" pitchFamily="18" charset="2"/>
              </a:rPr>
              <a:t></a:t>
            </a:r>
            <a:r>
              <a:rPr lang="en-US" smtClean="0"/>
              <a:t> + </a:t>
            </a:r>
            <a:r>
              <a:rPr lang="en-US" smtClean="0">
                <a:sym typeface="Symbol" panose="05050102010706020507" pitchFamily="18" charset="2"/>
              </a:rPr>
              <a:t></a:t>
            </a:r>
            <a:r>
              <a:rPr lang="en-US" smtClean="0"/>
              <a:t>) * t</a:t>
            </a:r>
            <a:r>
              <a:rPr lang="en-US" baseline="-25000" smtClean="0"/>
              <a:t>r</a:t>
            </a:r>
          </a:p>
          <a:p>
            <a:pPr eaLnBrk="1" hangingPunct="1"/>
            <a:r>
              <a:rPr lang="en-US" smtClean="0"/>
              <a:t>Donde </a:t>
            </a:r>
            <a:r>
              <a:rPr lang="en-US" smtClean="0">
                <a:sym typeface="Symbol" panose="05050102010706020507" pitchFamily="18" charset="2"/>
              </a:rPr>
              <a:t></a:t>
            </a:r>
            <a:r>
              <a:rPr lang="en-US" smtClean="0"/>
              <a:t> es el número de páginas que hay que leer para recuperar las </a:t>
            </a:r>
            <a:r>
              <a:rPr lang="en-US" i="1" smtClean="0"/>
              <a:t>matching</a:t>
            </a:r>
            <a:r>
              <a:rPr lang="en-US" smtClean="0"/>
              <a:t> tuplas de t</a:t>
            </a:r>
          </a:p>
          <a:p>
            <a:pPr eaLnBrk="1" hangingPunct="1">
              <a:buFontTx/>
              <a:buNone/>
            </a:pPr>
            <a:endParaRPr lang="en-US" smtClean="0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3059113" y="2636838"/>
            <a:ext cx="3168650" cy="719137"/>
          </a:xfrm>
          <a:prstGeom prst="rect">
            <a:avLst/>
          </a:prstGeom>
          <a:solidFill>
            <a:schemeClr val="accent2">
              <a:alpha val="4509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26628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pPr eaLnBrk="1" hangingPunct="1"/>
            <a:r>
              <a:rPr lang="en-US" smtClean="0"/>
              <a:t>Ej: Supóngase </a:t>
            </a:r>
            <a:r>
              <a:rPr lang="en-US" smtClean="0">
                <a:sym typeface="Symbol" panose="05050102010706020507" pitchFamily="18" charset="2"/>
              </a:rPr>
              <a:t></a:t>
            </a:r>
            <a:r>
              <a:rPr lang="en-US" smtClean="0"/>
              <a:t> = 2, un índice B+ </a:t>
            </a:r>
            <a:r>
              <a:rPr lang="en-US" i="1" smtClean="0"/>
              <a:t>clustered</a:t>
            </a:r>
            <a:r>
              <a:rPr lang="en-US" smtClean="0"/>
              <a:t> sobre el atributo B de </a:t>
            </a:r>
            <a:r>
              <a:rPr lang="en-US" smtClean="0">
                <a:solidFill>
                  <a:schemeClr val="accent2"/>
                </a:solidFill>
              </a:rPr>
              <a:t>s</a:t>
            </a:r>
            <a:r>
              <a:rPr lang="en-US" smtClean="0"/>
              <a:t>, </a:t>
            </a:r>
            <a:r>
              <a:rPr lang="en-US" smtClean="0">
                <a:solidFill>
                  <a:schemeClr val="accent2"/>
                </a:solidFill>
              </a:rPr>
              <a:t>r</a:t>
            </a:r>
            <a:r>
              <a:rPr lang="en-US" smtClean="0"/>
              <a:t> externa y </a:t>
            </a:r>
            <a:r>
              <a:rPr lang="en-US" smtClean="0">
                <a:solidFill>
                  <a:schemeClr val="accent2"/>
                </a:solidFill>
              </a:rPr>
              <a:t>s</a:t>
            </a:r>
            <a:r>
              <a:rPr lang="en-US" smtClean="0"/>
              <a:t> interna, entonces:</a:t>
            </a:r>
          </a:p>
          <a:p>
            <a:pPr eaLnBrk="1" hangingPunct="1">
              <a:buFontTx/>
              <a:buNone/>
            </a:pPr>
            <a:r>
              <a:rPr lang="en-US" smtClean="0"/>
              <a:t>		1000 + (2 + 1) * 10000 = 31000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Intercambiando </a:t>
            </a:r>
            <a:r>
              <a:rPr lang="en-US" smtClean="0">
                <a:solidFill>
                  <a:schemeClr val="accent2"/>
                </a:solidFill>
              </a:rPr>
              <a:t>r </a:t>
            </a:r>
            <a:r>
              <a:rPr lang="en-US" smtClean="0"/>
              <a:t>y </a:t>
            </a:r>
            <a:r>
              <a:rPr lang="en-US" smtClean="0">
                <a:solidFill>
                  <a:schemeClr val="accent2"/>
                </a:solidFill>
              </a:rPr>
              <a:t>s</a:t>
            </a:r>
            <a:r>
              <a:rPr lang="en-US" smtClean="0"/>
              <a:t> y suponiendo un índice B+ </a:t>
            </a:r>
            <a:r>
              <a:rPr lang="en-US" i="1" smtClean="0"/>
              <a:t>clustered</a:t>
            </a:r>
            <a:r>
              <a:rPr lang="en-US" smtClean="0"/>
              <a:t> sobre el atributo A de </a:t>
            </a:r>
            <a:r>
              <a:rPr lang="en-US" smtClean="0">
                <a:solidFill>
                  <a:schemeClr val="accent2"/>
                </a:solidFill>
              </a:rPr>
              <a:t>r</a:t>
            </a:r>
            <a:r>
              <a:rPr lang="en-US" smtClean="0"/>
              <a:t>:</a:t>
            </a:r>
          </a:p>
          <a:p>
            <a:pPr eaLnBrk="1" hangingPunct="1">
              <a:buFontTx/>
              <a:buNone/>
            </a:pPr>
            <a:r>
              <a:rPr lang="en-US" smtClean="0"/>
              <a:t>		100 + (2 + 1) * 1000 = 3100</a:t>
            </a:r>
          </a:p>
          <a:p>
            <a:pPr eaLnBrk="1" hangingPunct="1"/>
            <a:endParaRPr lang="en-US" smtClean="0"/>
          </a:p>
        </p:txBody>
      </p:sp>
      <p:sp>
        <p:nvSpPr>
          <p:cNvPr id="27652" name="AutoShape 4"/>
          <p:cNvSpPr>
            <a:spLocks/>
          </p:cNvSpPr>
          <p:nvPr/>
        </p:nvSpPr>
        <p:spPr bwMode="auto">
          <a:xfrm rot="-5400000">
            <a:off x="1854200" y="3444875"/>
            <a:ext cx="250825" cy="720725"/>
          </a:xfrm>
          <a:prstGeom prst="leftBrace">
            <a:avLst>
              <a:gd name="adj1" fmla="val 23945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1760538" y="3968750"/>
            <a:ext cx="579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F</a:t>
            </a:r>
            <a:r>
              <a:rPr lang="en-US" sz="2000" baseline="-25000">
                <a:solidFill>
                  <a:schemeClr val="accent2"/>
                </a:solidFill>
              </a:rPr>
              <a:t>r</a:t>
            </a:r>
          </a:p>
        </p:txBody>
      </p:sp>
      <p:sp>
        <p:nvSpPr>
          <p:cNvPr id="27654" name="AutoShape 6"/>
          <p:cNvSpPr>
            <a:spLocks/>
          </p:cNvSpPr>
          <p:nvPr/>
        </p:nvSpPr>
        <p:spPr bwMode="auto">
          <a:xfrm rot="-5400000">
            <a:off x="2989263" y="3681412"/>
            <a:ext cx="285750" cy="288925"/>
          </a:xfrm>
          <a:prstGeom prst="leftBrace">
            <a:avLst>
              <a:gd name="adj1" fmla="val 8426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2913063" y="3913188"/>
            <a:ext cx="579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  <a:sym typeface="Symbol" panose="05050102010706020507" pitchFamily="18" charset="2"/>
              </a:rPr>
              <a:t></a:t>
            </a:r>
          </a:p>
        </p:txBody>
      </p:sp>
      <p:sp>
        <p:nvSpPr>
          <p:cNvPr id="27656" name="AutoShape 8"/>
          <p:cNvSpPr>
            <a:spLocks/>
          </p:cNvSpPr>
          <p:nvPr/>
        </p:nvSpPr>
        <p:spPr bwMode="auto">
          <a:xfrm rot="-5400000">
            <a:off x="4895056" y="3320257"/>
            <a:ext cx="217487" cy="1009650"/>
          </a:xfrm>
          <a:prstGeom prst="leftBrace">
            <a:avLst>
              <a:gd name="adj1" fmla="val 38686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4856163" y="3933825"/>
            <a:ext cx="508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t</a:t>
            </a:r>
            <a:r>
              <a:rPr lang="en-US" sz="2000" baseline="-25000">
                <a:solidFill>
                  <a:schemeClr val="accent2"/>
                </a:solidFill>
              </a:rPr>
              <a:t>r</a:t>
            </a:r>
          </a:p>
        </p:txBody>
      </p:sp>
      <p:sp>
        <p:nvSpPr>
          <p:cNvPr id="27658" name="AutoShape 10"/>
          <p:cNvSpPr>
            <a:spLocks/>
          </p:cNvSpPr>
          <p:nvPr/>
        </p:nvSpPr>
        <p:spPr bwMode="auto">
          <a:xfrm rot="-5400000">
            <a:off x="1710531" y="5787232"/>
            <a:ext cx="250825" cy="576262"/>
          </a:xfrm>
          <a:prstGeom prst="leftBrace">
            <a:avLst>
              <a:gd name="adj1" fmla="val 19146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1544638" y="6238875"/>
            <a:ext cx="579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F</a:t>
            </a:r>
            <a:r>
              <a:rPr lang="en-US" sz="2000" baseline="-2500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27660" name="AutoShape 12"/>
          <p:cNvSpPr>
            <a:spLocks/>
          </p:cNvSpPr>
          <p:nvPr/>
        </p:nvSpPr>
        <p:spPr bwMode="auto">
          <a:xfrm rot="-5400000">
            <a:off x="2773363" y="5951537"/>
            <a:ext cx="285750" cy="288925"/>
          </a:xfrm>
          <a:prstGeom prst="leftBrace">
            <a:avLst>
              <a:gd name="adj1" fmla="val 8426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2697163" y="6183313"/>
            <a:ext cx="579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  <a:sym typeface="Symbol" panose="05050102010706020507" pitchFamily="18" charset="2"/>
              </a:rPr>
              <a:t></a:t>
            </a:r>
          </a:p>
        </p:txBody>
      </p:sp>
      <p:sp>
        <p:nvSpPr>
          <p:cNvPr id="27662" name="AutoShape 14"/>
          <p:cNvSpPr>
            <a:spLocks/>
          </p:cNvSpPr>
          <p:nvPr/>
        </p:nvSpPr>
        <p:spPr bwMode="auto">
          <a:xfrm rot="-5400000">
            <a:off x="4552950" y="5680075"/>
            <a:ext cx="254000" cy="793750"/>
          </a:xfrm>
          <a:prstGeom prst="leftBrace">
            <a:avLst>
              <a:gd name="adj1" fmla="val 26042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27663" name="Text Box 15"/>
          <p:cNvSpPr txBox="1">
            <a:spLocks noChangeArrowheads="1"/>
          </p:cNvSpPr>
          <p:nvPr/>
        </p:nvSpPr>
        <p:spPr bwMode="auto">
          <a:xfrm>
            <a:off x="4640263" y="6203950"/>
            <a:ext cx="508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t</a:t>
            </a:r>
            <a:r>
              <a:rPr lang="en-US" sz="2000" baseline="-25000">
                <a:solidFill>
                  <a:schemeClr val="accent2"/>
                </a:solidFill>
              </a:rPr>
              <a:t>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ejemplo</a:t>
            </a:r>
            <a:r>
              <a:rPr lang="en-US" dirty="0" smtClean="0"/>
              <a:t>,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método</a:t>
            </a:r>
            <a:r>
              <a:rPr lang="en-US" dirty="0" smtClean="0"/>
              <a:t> “</a:t>
            </a:r>
            <a:r>
              <a:rPr lang="en-US" dirty="0" err="1" smtClean="0"/>
              <a:t>pierde</a:t>
            </a:r>
            <a:r>
              <a:rPr lang="en-US" dirty="0" smtClean="0"/>
              <a:t>” con el </a:t>
            </a:r>
            <a:r>
              <a:rPr lang="en-US" i="1" dirty="0" smtClean="0"/>
              <a:t>Block Nested</a:t>
            </a:r>
            <a:r>
              <a:rPr lang="en-US" dirty="0" smtClean="0"/>
              <a:t>, </a:t>
            </a:r>
            <a:r>
              <a:rPr lang="en-US" dirty="0" err="1" smtClean="0"/>
              <a:t>pero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la </a:t>
            </a:r>
            <a:r>
              <a:rPr lang="en-US" dirty="0" err="1" smtClean="0"/>
              <a:t>relación</a:t>
            </a:r>
            <a:r>
              <a:rPr lang="en-US" dirty="0" smtClean="0"/>
              <a:t> </a:t>
            </a:r>
            <a:r>
              <a:rPr lang="en-US" dirty="0" err="1" smtClean="0"/>
              <a:t>interna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de gran </a:t>
            </a:r>
            <a:r>
              <a:rPr lang="en-US" dirty="0" err="1" smtClean="0"/>
              <a:t>tamaño</a:t>
            </a:r>
            <a:r>
              <a:rPr lang="en-US" dirty="0" smtClean="0"/>
              <a:t>, el </a:t>
            </a:r>
            <a:r>
              <a:rPr lang="en-US" i="1" dirty="0" smtClean="0"/>
              <a:t>Index Nested </a:t>
            </a:r>
            <a:r>
              <a:rPr lang="en-US" dirty="0" err="1" smtClean="0"/>
              <a:t>tiene</a:t>
            </a:r>
            <a:r>
              <a:rPr lang="en-US" dirty="0" smtClean="0"/>
              <a:t> </a:t>
            </a:r>
            <a:r>
              <a:rPr lang="en-US" dirty="0"/>
              <a:t>un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comportamiento</a:t>
            </a:r>
            <a:r>
              <a:rPr lang="en-US" dirty="0"/>
              <a:t> que el </a:t>
            </a:r>
            <a:r>
              <a:rPr lang="en-US" i="1" dirty="0"/>
              <a:t>Block Nested</a:t>
            </a:r>
            <a:r>
              <a:rPr lang="en-US" dirty="0"/>
              <a:t>…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Nested Loops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Nótese</a:t>
            </a:r>
            <a:r>
              <a:rPr lang="en-US" dirty="0" smtClean="0"/>
              <a:t> que para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relación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/>
                </a:solidFill>
              </a:rPr>
              <a:t>s</a:t>
            </a:r>
            <a:r>
              <a:rPr lang="en-US" dirty="0" smtClean="0"/>
              <a:t> </a:t>
            </a:r>
            <a:r>
              <a:rPr lang="en-US" dirty="0" err="1" smtClean="0"/>
              <a:t>muy</a:t>
            </a:r>
            <a:r>
              <a:rPr lang="en-US" dirty="0" smtClean="0"/>
              <a:t> </a:t>
            </a:r>
            <a:r>
              <a:rPr lang="en-US" dirty="0" err="1" smtClean="0"/>
              <a:t>grande</a:t>
            </a:r>
            <a:r>
              <a:rPr lang="en-US" dirty="0" smtClean="0"/>
              <a:t>, </a:t>
            </a:r>
            <a:r>
              <a:rPr lang="en-US" dirty="0" smtClean="0">
                <a:sym typeface="Symbol" panose="05050102010706020507" pitchFamily="18" charset="2"/>
              </a:rPr>
              <a:t></a:t>
            </a:r>
            <a:r>
              <a:rPr lang="en-US" dirty="0" smtClean="0"/>
              <a:t> </a:t>
            </a:r>
            <a:r>
              <a:rPr lang="en-US" dirty="0" err="1" smtClean="0"/>
              <a:t>crece</a:t>
            </a:r>
            <a:r>
              <a:rPr lang="en-US" dirty="0" smtClean="0"/>
              <a:t>…</a:t>
            </a:r>
            <a:r>
              <a:rPr lang="en-US" dirty="0" err="1" smtClean="0"/>
              <a:t>pero</a:t>
            </a:r>
            <a:r>
              <a:rPr lang="en-US" dirty="0" smtClean="0"/>
              <a:t> </a:t>
            </a:r>
            <a:r>
              <a:rPr lang="en-US" dirty="0" err="1" smtClean="0"/>
              <a:t>poco</a:t>
            </a:r>
            <a:endParaRPr lang="en-US" dirty="0" smtClean="0"/>
          </a:p>
          <a:p>
            <a:pPr eaLnBrk="1" hangingPunct="1"/>
            <a:r>
              <a:rPr lang="en-US" dirty="0" smtClean="0"/>
              <a:t>El </a:t>
            </a:r>
            <a:r>
              <a:rPr lang="en-US" i="1" dirty="0" smtClean="0"/>
              <a:t>Index Nested </a:t>
            </a:r>
            <a:r>
              <a:rPr lang="en-US" dirty="0" err="1" smtClean="0"/>
              <a:t>suele</a:t>
            </a:r>
            <a:r>
              <a:rPr lang="en-US" dirty="0" smtClean="0"/>
              <a:t> </a:t>
            </a:r>
            <a:r>
              <a:rPr lang="en-US" dirty="0" err="1" smtClean="0"/>
              <a:t>trabajar</a:t>
            </a:r>
            <a:r>
              <a:rPr lang="en-US" dirty="0" smtClean="0"/>
              <a:t> “</a:t>
            </a:r>
            <a:r>
              <a:rPr lang="en-US" dirty="0" err="1" smtClean="0"/>
              <a:t>bien</a:t>
            </a:r>
            <a:r>
              <a:rPr lang="en-US" dirty="0" smtClean="0"/>
              <a:t>” con </a:t>
            </a:r>
            <a:r>
              <a:rPr lang="en-US" dirty="0" err="1" smtClean="0"/>
              <a:t>relaciones</a:t>
            </a:r>
            <a:r>
              <a:rPr lang="en-US" dirty="0" smtClean="0"/>
              <a:t> de gran </a:t>
            </a:r>
            <a:r>
              <a:rPr lang="en-US" dirty="0" err="1" smtClean="0"/>
              <a:t>tamaño</a:t>
            </a:r>
            <a:r>
              <a:rPr lang="en-US" dirty="0" smtClean="0"/>
              <a:t>, con la </a:t>
            </a:r>
            <a:r>
              <a:rPr lang="en-US" dirty="0" err="1" smtClean="0"/>
              <a:t>relación</a:t>
            </a:r>
            <a:r>
              <a:rPr lang="en-US" dirty="0" smtClean="0"/>
              <a:t> </a:t>
            </a:r>
            <a:r>
              <a:rPr lang="en-US" dirty="0" err="1" smtClean="0"/>
              <a:t>interna</a:t>
            </a:r>
            <a:r>
              <a:rPr lang="en-US" dirty="0" smtClean="0"/>
              <a:t>: a) </a:t>
            </a:r>
            <a:r>
              <a:rPr lang="en-US" dirty="0" err="1" smtClean="0"/>
              <a:t>más</a:t>
            </a:r>
            <a:r>
              <a:rPr lang="en-US" dirty="0" smtClean="0"/>
              <a:t> </a:t>
            </a:r>
            <a:r>
              <a:rPr lang="en-US" dirty="0" err="1" smtClean="0"/>
              <a:t>grande</a:t>
            </a:r>
            <a:r>
              <a:rPr lang="en-US" dirty="0" smtClean="0"/>
              <a:t> que la externa y b) con </a:t>
            </a:r>
            <a:r>
              <a:rPr lang="en-US" dirty="0" err="1" smtClean="0"/>
              <a:t>índice</a:t>
            </a:r>
            <a:r>
              <a:rPr lang="en-US" dirty="0" smtClean="0"/>
              <a:t> </a:t>
            </a:r>
            <a:r>
              <a:rPr lang="en-US" i="1" dirty="0" smtClean="0"/>
              <a:t>clustered</a:t>
            </a:r>
            <a:r>
              <a:rPr lang="en-US" dirty="0" smtClean="0"/>
              <a:t> </a:t>
            </a:r>
            <a:r>
              <a:rPr lang="en-US" dirty="0" err="1" smtClean="0"/>
              <a:t>sobre</a:t>
            </a:r>
            <a:r>
              <a:rPr lang="en-US" dirty="0" smtClean="0"/>
              <a:t> el </a:t>
            </a:r>
            <a:r>
              <a:rPr lang="en-US" dirty="0" err="1" smtClean="0"/>
              <a:t>atributo</a:t>
            </a:r>
            <a:r>
              <a:rPr lang="en-US" dirty="0" smtClean="0"/>
              <a:t> de </a:t>
            </a:r>
            <a:r>
              <a:rPr lang="en-US" i="1" dirty="0" smtClean="0"/>
              <a:t>join</a:t>
            </a:r>
          </a:p>
          <a:p>
            <a:pPr marL="0" indent="0" eaLnBrk="1" hangingPunct="1">
              <a:buNone/>
            </a:pPr>
            <a:endParaRPr lang="en-US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 smtClean="0"/>
              <a:t>4. </a:t>
            </a:r>
            <a:r>
              <a:rPr lang="en-US" i="1" dirty="0" smtClean="0"/>
              <a:t>Sort Merge Join </a:t>
            </a:r>
            <a:r>
              <a:rPr lang="en-US" dirty="0" smtClean="0"/>
              <a:t>(</a:t>
            </a:r>
            <a:r>
              <a:rPr lang="en-US" dirty="0" err="1" smtClean="0"/>
              <a:t>Reunión</a:t>
            </a:r>
            <a:r>
              <a:rPr lang="en-US" dirty="0" smtClean="0"/>
              <a:t> con </a:t>
            </a:r>
            <a:r>
              <a:rPr lang="en-US" dirty="0" err="1" smtClean="0"/>
              <a:t>Ordenamiento</a:t>
            </a:r>
            <a:r>
              <a:rPr lang="en-US" dirty="0" smtClean="0"/>
              <a:t> y </a:t>
            </a:r>
            <a:r>
              <a:rPr lang="en-US" dirty="0" err="1" smtClean="0"/>
              <a:t>Mezcla</a:t>
            </a:r>
            <a:r>
              <a:rPr lang="en-US" dirty="0" smtClean="0"/>
              <a:t>)</a:t>
            </a:r>
          </a:p>
          <a:p>
            <a:pPr eaLnBrk="1" hangingPunct="1">
              <a:buFontTx/>
              <a:buNone/>
            </a:pPr>
            <a:r>
              <a:rPr lang="en-US" dirty="0" smtClean="0"/>
              <a:t>Se </a:t>
            </a:r>
            <a:r>
              <a:rPr lang="en-US" dirty="0" err="1" smtClean="0"/>
              <a:t>hace</a:t>
            </a:r>
            <a:r>
              <a:rPr lang="en-US" dirty="0" smtClean="0"/>
              <a:t> en dos </a:t>
            </a:r>
            <a:r>
              <a:rPr lang="en-US" dirty="0" err="1" smtClean="0"/>
              <a:t>etapas</a:t>
            </a:r>
            <a:r>
              <a:rPr lang="en-US" dirty="0" smtClean="0"/>
              <a:t>:</a:t>
            </a:r>
          </a:p>
          <a:p>
            <a:pPr eaLnBrk="1" hangingPunct="1">
              <a:buFontTx/>
              <a:buNone/>
            </a:pPr>
            <a:r>
              <a:rPr lang="en-US" dirty="0" err="1" smtClean="0"/>
              <a:t>i</a:t>
            </a:r>
            <a:r>
              <a:rPr lang="en-US" dirty="0" smtClean="0"/>
              <a:t>. Se </a:t>
            </a:r>
            <a:r>
              <a:rPr lang="en-US" dirty="0" err="1" smtClean="0"/>
              <a:t>ordenan</a:t>
            </a:r>
            <a:r>
              <a:rPr lang="en-US" dirty="0" smtClean="0"/>
              <a:t> </a:t>
            </a:r>
            <a:r>
              <a:rPr lang="en-US" dirty="0" err="1" smtClean="0"/>
              <a:t>las</a:t>
            </a:r>
            <a:r>
              <a:rPr lang="en-US" dirty="0" smtClean="0"/>
              <a:t> </a:t>
            </a:r>
            <a:r>
              <a:rPr lang="en-US" dirty="0" err="1" smtClean="0"/>
              <a:t>relaciones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los </a:t>
            </a:r>
            <a:r>
              <a:rPr lang="en-US" dirty="0" err="1" smtClean="0"/>
              <a:t>atributos</a:t>
            </a:r>
            <a:r>
              <a:rPr lang="en-US" dirty="0" smtClean="0"/>
              <a:t> de </a:t>
            </a:r>
            <a:r>
              <a:rPr lang="en-US" i="1" dirty="0" smtClean="0"/>
              <a:t>join</a:t>
            </a:r>
          </a:p>
          <a:p>
            <a:pPr eaLnBrk="1" hangingPunct="1">
              <a:buFontTx/>
              <a:buNone/>
            </a:pPr>
            <a:r>
              <a:rPr lang="en-US" dirty="0" smtClean="0"/>
              <a:t>ii. </a:t>
            </a:r>
            <a:r>
              <a:rPr lang="en-US" dirty="0" err="1" smtClean="0"/>
              <a:t>Luego</a:t>
            </a:r>
            <a:r>
              <a:rPr lang="en-US" dirty="0" smtClean="0"/>
              <a:t> se </a:t>
            </a:r>
            <a:r>
              <a:rPr lang="en-US" dirty="0" err="1" smtClean="0"/>
              <a:t>hace</a:t>
            </a:r>
            <a:r>
              <a:rPr lang="en-US" dirty="0" smtClean="0"/>
              <a:t> un </a:t>
            </a:r>
            <a:r>
              <a:rPr lang="en-US" dirty="0" err="1" smtClean="0"/>
              <a:t>proceso</a:t>
            </a:r>
            <a:r>
              <a:rPr lang="en-US" dirty="0" smtClean="0"/>
              <a:t> de </a:t>
            </a:r>
            <a:r>
              <a:rPr lang="en-US" dirty="0" err="1" smtClean="0"/>
              <a:t>mezcla</a:t>
            </a:r>
            <a:r>
              <a:rPr lang="en-US" dirty="0" smtClean="0"/>
              <a:t> </a:t>
            </a:r>
            <a:r>
              <a:rPr lang="en-US" dirty="0" err="1" smtClean="0"/>
              <a:t>tal</a:t>
            </a:r>
            <a:r>
              <a:rPr lang="en-US" dirty="0" smtClean="0"/>
              <a:t> y </a:t>
            </a:r>
            <a:r>
              <a:rPr lang="en-US" dirty="0" err="1" smtClean="0"/>
              <a:t>como</a:t>
            </a:r>
            <a:r>
              <a:rPr lang="en-US" dirty="0" smtClean="0"/>
              <a:t> lo </a:t>
            </a:r>
            <a:r>
              <a:rPr lang="en-US" dirty="0" err="1" smtClean="0"/>
              <a:t>muestra</a:t>
            </a:r>
            <a:r>
              <a:rPr lang="en-US" dirty="0" smtClean="0"/>
              <a:t> el </a:t>
            </a:r>
            <a:r>
              <a:rPr lang="en-US" dirty="0" err="1" smtClean="0"/>
              <a:t>algoritmo</a:t>
            </a:r>
            <a:r>
              <a:rPr lang="en-US" dirty="0" smtClean="0"/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148263" y="476250"/>
            <a:ext cx="3816350" cy="1143000"/>
          </a:xfrm>
        </p:spPr>
        <p:txBody>
          <a:bodyPr/>
          <a:lstStyle/>
          <a:p>
            <a:pPr eaLnBrk="1" hangingPunct="1"/>
            <a:r>
              <a:rPr lang="en-US" sz="4000" i="1" dirty="0" smtClean="0"/>
              <a:t>Sort Merge Join</a:t>
            </a:r>
          </a:p>
        </p:txBody>
      </p:sp>
      <p:sp>
        <p:nvSpPr>
          <p:cNvPr id="32771" name="Rectangle 4"/>
          <p:cNvSpPr>
            <a:spLocks noChangeArrowheads="1"/>
          </p:cNvSpPr>
          <p:nvPr/>
        </p:nvSpPr>
        <p:spPr bwMode="auto">
          <a:xfrm>
            <a:off x="7308850" y="3357563"/>
            <a:ext cx="1150938" cy="1295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2772" name="Rectangle 6"/>
          <p:cNvSpPr>
            <a:spLocks noChangeArrowheads="1"/>
          </p:cNvSpPr>
          <p:nvPr/>
        </p:nvSpPr>
        <p:spPr bwMode="auto">
          <a:xfrm>
            <a:off x="6011863" y="1989138"/>
            <a:ext cx="720725" cy="7921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2773" name="Rectangle 7"/>
          <p:cNvSpPr>
            <a:spLocks noChangeArrowheads="1"/>
          </p:cNvSpPr>
          <p:nvPr/>
        </p:nvSpPr>
        <p:spPr bwMode="auto">
          <a:xfrm>
            <a:off x="5580063" y="5373688"/>
            <a:ext cx="865187" cy="476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2774" name="Text Box 8"/>
          <p:cNvSpPr txBox="1">
            <a:spLocks noChangeArrowheads="1"/>
          </p:cNvSpPr>
          <p:nvPr/>
        </p:nvSpPr>
        <p:spPr bwMode="auto">
          <a:xfrm>
            <a:off x="6300788" y="1412875"/>
            <a:ext cx="1582737" cy="8223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sz="2400"/>
              <a:t>Proceso de Mezcla</a:t>
            </a:r>
            <a:endParaRPr lang="es-ES_tradnl" sz="2400"/>
          </a:p>
        </p:txBody>
      </p:sp>
      <p:sp>
        <p:nvSpPr>
          <p:cNvPr id="32775" name="Rectangle 9"/>
          <p:cNvSpPr>
            <a:spLocks noChangeArrowheads="1"/>
          </p:cNvSpPr>
          <p:nvPr/>
        </p:nvSpPr>
        <p:spPr bwMode="auto">
          <a:xfrm>
            <a:off x="1116013" y="744538"/>
            <a:ext cx="3887787" cy="719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2776" name="Line 10"/>
          <p:cNvSpPr>
            <a:spLocks noChangeShapeType="1"/>
          </p:cNvSpPr>
          <p:nvPr/>
        </p:nvSpPr>
        <p:spPr bwMode="auto">
          <a:xfrm>
            <a:off x="5003800" y="1484313"/>
            <a:ext cx="172878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2777" name="Text Box 11"/>
          <p:cNvSpPr txBox="1">
            <a:spLocks noChangeArrowheads="1"/>
          </p:cNvSpPr>
          <p:nvPr/>
        </p:nvSpPr>
        <p:spPr bwMode="auto">
          <a:xfrm>
            <a:off x="5292725" y="2708275"/>
            <a:ext cx="3529013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sz="2000" dirty="0"/>
              <a:t>Las relaciones </a:t>
            </a:r>
            <a:r>
              <a:rPr lang="es-CO" sz="2000" u="sng" dirty="0">
                <a:solidFill>
                  <a:srgbClr val="FF0000"/>
                </a:solidFill>
              </a:rPr>
              <a:t>ya</a:t>
            </a:r>
            <a:r>
              <a:rPr lang="es-CO" sz="2000" dirty="0">
                <a:solidFill>
                  <a:srgbClr val="FF0000"/>
                </a:solidFill>
              </a:rPr>
              <a:t> vienen ordenadas</a:t>
            </a:r>
            <a:r>
              <a:rPr lang="es-CO" sz="2000" dirty="0"/>
              <a:t> por los atributos de </a:t>
            </a:r>
            <a:r>
              <a:rPr lang="es-CO" sz="2000" i="1" dirty="0" err="1"/>
              <a:t>join</a:t>
            </a:r>
            <a:endParaRPr lang="es-ES_tradnl" sz="2000" i="1" dirty="0"/>
          </a:p>
        </p:txBody>
      </p:sp>
      <p:sp>
        <p:nvSpPr>
          <p:cNvPr id="32778" name="Text Box 12"/>
          <p:cNvSpPr txBox="1">
            <a:spLocks noChangeArrowheads="1"/>
          </p:cNvSpPr>
          <p:nvPr/>
        </p:nvSpPr>
        <p:spPr bwMode="auto">
          <a:xfrm>
            <a:off x="395288" y="717550"/>
            <a:ext cx="5616575" cy="614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b="1" dirty="0"/>
              <a:t>Input</a:t>
            </a:r>
            <a:r>
              <a:rPr lang="es-CO" dirty="0"/>
              <a:t>: relación </a:t>
            </a:r>
            <a:r>
              <a:rPr lang="es-CO" dirty="0">
                <a:solidFill>
                  <a:schemeClr val="accent2"/>
                </a:solidFill>
              </a:rPr>
              <a:t>r </a:t>
            </a:r>
            <a:r>
              <a:rPr lang="es-CO" dirty="0">
                <a:solidFill>
                  <a:srgbClr val="FF0000"/>
                </a:solidFill>
              </a:rPr>
              <a:t>ordenada</a:t>
            </a:r>
            <a:r>
              <a:rPr lang="es-CO" dirty="0"/>
              <a:t> por el atributo A</a:t>
            </a:r>
          </a:p>
          <a:p>
            <a:pPr eaLnBrk="1" hangingPunct="1">
              <a:spcBef>
                <a:spcPct val="50000"/>
              </a:spcBef>
            </a:pPr>
            <a:r>
              <a:rPr lang="es-CO" dirty="0"/>
              <a:t>           </a:t>
            </a:r>
            <a:r>
              <a:rPr lang="es-CO" dirty="0" err="1"/>
              <a:t>relation</a:t>
            </a:r>
            <a:r>
              <a:rPr lang="es-CO" dirty="0"/>
              <a:t> </a:t>
            </a:r>
            <a:r>
              <a:rPr lang="es-CO" dirty="0">
                <a:solidFill>
                  <a:schemeClr val="accent2"/>
                </a:solidFill>
              </a:rPr>
              <a:t>s</a:t>
            </a:r>
            <a:r>
              <a:rPr lang="es-CO" dirty="0"/>
              <a:t> </a:t>
            </a:r>
            <a:r>
              <a:rPr lang="es-CO" dirty="0">
                <a:solidFill>
                  <a:srgbClr val="FF0000"/>
                </a:solidFill>
              </a:rPr>
              <a:t>ordenada</a:t>
            </a:r>
            <a:r>
              <a:rPr lang="es-CO" dirty="0"/>
              <a:t> por el atributo B</a:t>
            </a:r>
          </a:p>
          <a:p>
            <a:pPr eaLnBrk="1" hangingPunct="1">
              <a:spcBef>
                <a:spcPct val="50000"/>
              </a:spcBef>
            </a:pPr>
            <a:r>
              <a:rPr lang="es-CO" b="1" dirty="0"/>
              <a:t>Output</a:t>
            </a:r>
            <a:r>
              <a:rPr lang="es-CO" dirty="0"/>
              <a:t>: </a:t>
            </a:r>
            <a:r>
              <a:rPr lang="en-US" dirty="0">
                <a:solidFill>
                  <a:schemeClr val="accent2"/>
                </a:solidFill>
              </a:rPr>
              <a:t>r</a:t>
            </a:r>
            <a:r>
              <a:rPr lang="en-US" dirty="0"/>
              <a:t> ⋈</a:t>
            </a:r>
            <a:r>
              <a:rPr lang="en-US" baseline="-25000" dirty="0">
                <a:sym typeface="Symbol" panose="05050102010706020507" pitchFamily="18" charset="2"/>
              </a:rPr>
              <a:t>A=B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s</a:t>
            </a:r>
            <a:endParaRPr lang="es-CO" dirty="0"/>
          </a:p>
          <a:p>
            <a:pPr eaLnBrk="1" hangingPunct="1">
              <a:spcBef>
                <a:spcPct val="50000"/>
              </a:spcBef>
            </a:pPr>
            <a:r>
              <a:rPr lang="es-CO" dirty="0" err="1"/>
              <a:t>Result</a:t>
            </a:r>
            <a:r>
              <a:rPr lang="es-CO" dirty="0"/>
              <a:t> := {} </a:t>
            </a:r>
            <a:r>
              <a:rPr lang="es-CO" dirty="0">
                <a:solidFill>
                  <a:srgbClr val="660033"/>
                </a:solidFill>
              </a:rPr>
              <a:t>//Se inicializa el resultado</a:t>
            </a:r>
          </a:p>
          <a:p>
            <a:pPr eaLnBrk="1" hangingPunct="1">
              <a:spcBef>
                <a:spcPct val="50000"/>
              </a:spcBef>
            </a:pPr>
            <a:r>
              <a:rPr lang="es-CO" dirty="0" err="1"/>
              <a:t>tr</a:t>
            </a:r>
            <a:r>
              <a:rPr lang="es-CO" dirty="0"/>
              <a:t> := </a:t>
            </a:r>
            <a:r>
              <a:rPr lang="es-CO" dirty="0" err="1"/>
              <a:t>getFirst</a:t>
            </a:r>
            <a:r>
              <a:rPr lang="es-CO" dirty="0"/>
              <a:t>(</a:t>
            </a:r>
            <a:r>
              <a:rPr lang="es-CO" dirty="0">
                <a:solidFill>
                  <a:schemeClr val="accent2"/>
                </a:solidFill>
              </a:rPr>
              <a:t>r</a:t>
            </a:r>
            <a:r>
              <a:rPr lang="es-CO" dirty="0"/>
              <a:t>) </a:t>
            </a:r>
            <a:r>
              <a:rPr lang="es-CO" dirty="0">
                <a:solidFill>
                  <a:srgbClr val="660033"/>
                </a:solidFill>
              </a:rPr>
              <a:t>//Primera </a:t>
            </a:r>
            <a:r>
              <a:rPr lang="es-CO" dirty="0" err="1">
                <a:solidFill>
                  <a:srgbClr val="660033"/>
                </a:solidFill>
              </a:rPr>
              <a:t>tupla</a:t>
            </a:r>
            <a:r>
              <a:rPr lang="es-CO" dirty="0">
                <a:solidFill>
                  <a:srgbClr val="660033"/>
                </a:solidFill>
              </a:rPr>
              <a:t> de r</a:t>
            </a:r>
          </a:p>
          <a:p>
            <a:pPr eaLnBrk="1" hangingPunct="1">
              <a:spcBef>
                <a:spcPct val="50000"/>
              </a:spcBef>
            </a:pPr>
            <a:r>
              <a:rPr lang="es-CO" dirty="0" err="1"/>
              <a:t>ts</a:t>
            </a:r>
            <a:r>
              <a:rPr lang="es-CO" dirty="0"/>
              <a:t> := </a:t>
            </a:r>
            <a:r>
              <a:rPr lang="es-CO" dirty="0" err="1"/>
              <a:t>getFirst</a:t>
            </a:r>
            <a:r>
              <a:rPr lang="es-CO" dirty="0"/>
              <a:t>(</a:t>
            </a:r>
            <a:r>
              <a:rPr lang="es-CO" dirty="0">
                <a:solidFill>
                  <a:schemeClr val="accent2"/>
                </a:solidFill>
              </a:rPr>
              <a:t>s</a:t>
            </a:r>
            <a:r>
              <a:rPr lang="es-CO" dirty="0"/>
              <a:t>) </a:t>
            </a:r>
            <a:r>
              <a:rPr lang="es-CO" dirty="0">
                <a:solidFill>
                  <a:srgbClr val="660033"/>
                </a:solidFill>
              </a:rPr>
              <a:t>//Primera </a:t>
            </a:r>
            <a:r>
              <a:rPr lang="es-CO" dirty="0" err="1">
                <a:solidFill>
                  <a:srgbClr val="660033"/>
                </a:solidFill>
              </a:rPr>
              <a:t>tupla</a:t>
            </a:r>
            <a:r>
              <a:rPr lang="es-CO" dirty="0">
                <a:solidFill>
                  <a:srgbClr val="660033"/>
                </a:solidFill>
              </a:rPr>
              <a:t> de s</a:t>
            </a:r>
          </a:p>
          <a:p>
            <a:pPr eaLnBrk="1" hangingPunct="1">
              <a:spcBef>
                <a:spcPct val="50000"/>
              </a:spcBef>
            </a:pPr>
            <a:r>
              <a:rPr lang="es-CO" b="1" dirty="0" err="1" smtClean="0"/>
              <a:t>while</a:t>
            </a:r>
            <a:r>
              <a:rPr lang="es-CO" dirty="0" smtClean="0"/>
              <a:t> </a:t>
            </a:r>
            <a:r>
              <a:rPr lang="es-CO" b="1" dirty="0"/>
              <a:t>!</a:t>
            </a:r>
            <a:r>
              <a:rPr lang="es-CO" dirty="0" err="1"/>
              <a:t>eof</a:t>
            </a:r>
            <a:r>
              <a:rPr lang="es-CO" dirty="0"/>
              <a:t>(</a:t>
            </a:r>
            <a:r>
              <a:rPr lang="es-CO" dirty="0">
                <a:solidFill>
                  <a:schemeClr val="accent2"/>
                </a:solidFill>
              </a:rPr>
              <a:t>r</a:t>
            </a:r>
            <a:r>
              <a:rPr lang="es-CO" dirty="0"/>
              <a:t>) </a:t>
            </a:r>
            <a:r>
              <a:rPr lang="es-CO" b="1" dirty="0"/>
              <a:t>AND</a:t>
            </a:r>
            <a:r>
              <a:rPr lang="es-CO" dirty="0"/>
              <a:t> !</a:t>
            </a:r>
            <a:r>
              <a:rPr lang="es-CO" dirty="0" err="1"/>
              <a:t>eof</a:t>
            </a:r>
            <a:r>
              <a:rPr lang="es-CO" dirty="0"/>
              <a:t>(</a:t>
            </a:r>
            <a:r>
              <a:rPr lang="es-CO" dirty="0">
                <a:solidFill>
                  <a:schemeClr val="accent2"/>
                </a:solidFill>
              </a:rPr>
              <a:t>s</a:t>
            </a:r>
            <a:r>
              <a:rPr lang="es-CO" dirty="0"/>
              <a:t>) </a:t>
            </a:r>
            <a:r>
              <a:rPr lang="es-CO" b="1" dirty="0"/>
              <a:t>do </a:t>
            </a:r>
            <a:r>
              <a:rPr lang="es-CO" dirty="0"/>
              <a:t>{</a:t>
            </a:r>
          </a:p>
          <a:p>
            <a:pPr eaLnBrk="1" hangingPunct="1">
              <a:spcBef>
                <a:spcPct val="50000"/>
              </a:spcBef>
            </a:pPr>
            <a:r>
              <a:rPr lang="es-CO" dirty="0"/>
              <a:t>   </a:t>
            </a:r>
            <a:r>
              <a:rPr lang="es-CO" b="1" dirty="0" err="1"/>
              <a:t>while</a:t>
            </a:r>
            <a:r>
              <a:rPr lang="es-CO" dirty="0"/>
              <a:t> </a:t>
            </a:r>
            <a:r>
              <a:rPr lang="es-CO" b="1" dirty="0"/>
              <a:t>!</a:t>
            </a:r>
            <a:r>
              <a:rPr lang="es-CO" dirty="0" err="1"/>
              <a:t>eof</a:t>
            </a:r>
            <a:r>
              <a:rPr lang="es-CO" dirty="0"/>
              <a:t>(</a:t>
            </a:r>
            <a:r>
              <a:rPr lang="es-CO" dirty="0">
                <a:solidFill>
                  <a:schemeClr val="accent2"/>
                </a:solidFill>
              </a:rPr>
              <a:t>r</a:t>
            </a:r>
            <a:r>
              <a:rPr lang="es-CO" dirty="0"/>
              <a:t>) </a:t>
            </a:r>
            <a:r>
              <a:rPr lang="es-CO" b="1" dirty="0"/>
              <a:t>AND</a:t>
            </a:r>
            <a:r>
              <a:rPr lang="es-CO" dirty="0"/>
              <a:t> </a:t>
            </a:r>
            <a:r>
              <a:rPr lang="es-CO" dirty="0" err="1"/>
              <a:t>tr.A</a:t>
            </a:r>
            <a:r>
              <a:rPr lang="es-CO" dirty="0"/>
              <a:t> &lt; </a:t>
            </a:r>
            <a:r>
              <a:rPr lang="es-CO" dirty="0" err="1"/>
              <a:t>ts.B</a:t>
            </a:r>
            <a:r>
              <a:rPr lang="es-CO" dirty="0"/>
              <a:t> </a:t>
            </a:r>
            <a:r>
              <a:rPr lang="es-CO" b="1" dirty="0"/>
              <a:t>do</a:t>
            </a:r>
          </a:p>
          <a:p>
            <a:pPr eaLnBrk="1" hangingPunct="1">
              <a:spcBef>
                <a:spcPct val="50000"/>
              </a:spcBef>
            </a:pPr>
            <a:r>
              <a:rPr lang="es-CO" dirty="0"/>
              <a:t>      </a:t>
            </a:r>
            <a:r>
              <a:rPr lang="es-CO" dirty="0" err="1"/>
              <a:t>tr</a:t>
            </a:r>
            <a:r>
              <a:rPr lang="es-CO" dirty="0"/>
              <a:t> := </a:t>
            </a:r>
            <a:r>
              <a:rPr lang="es-CO" dirty="0" err="1"/>
              <a:t>getNext</a:t>
            </a:r>
            <a:r>
              <a:rPr lang="es-CO" dirty="0"/>
              <a:t>(</a:t>
            </a:r>
            <a:r>
              <a:rPr lang="es-CO" dirty="0">
                <a:solidFill>
                  <a:schemeClr val="accent2"/>
                </a:solidFill>
              </a:rPr>
              <a:t>r</a:t>
            </a:r>
            <a:r>
              <a:rPr lang="es-CO" dirty="0"/>
              <a:t>) </a:t>
            </a:r>
            <a:r>
              <a:rPr lang="es-CO" dirty="0">
                <a:solidFill>
                  <a:srgbClr val="660033"/>
                </a:solidFill>
              </a:rPr>
              <a:t>//Obtener la próxima </a:t>
            </a:r>
            <a:r>
              <a:rPr lang="es-CO" dirty="0" err="1">
                <a:solidFill>
                  <a:srgbClr val="660033"/>
                </a:solidFill>
              </a:rPr>
              <a:t>tupla</a:t>
            </a:r>
            <a:r>
              <a:rPr lang="es-CO" dirty="0">
                <a:solidFill>
                  <a:srgbClr val="660033"/>
                </a:solidFill>
              </a:rPr>
              <a:t> de r</a:t>
            </a:r>
          </a:p>
          <a:p>
            <a:pPr eaLnBrk="1" hangingPunct="1"/>
            <a:r>
              <a:rPr lang="es-CO" dirty="0"/>
              <a:t>   </a:t>
            </a:r>
            <a:r>
              <a:rPr lang="es-CO" b="1" dirty="0" err="1"/>
              <a:t>while</a:t>
            </a:r>
            <a:r>
              <a:rPr lang="es-CO" dirty="0"/>
              <a:t> </a:t>
            </a:r>
            <a:r>
              <a:rPr lang="es-CO" b="1" dirty="0"/>
              <a:t>!</a:t>
            </a:r>
            <a:r>
              <a:rPr lang="es-CO" dirty="0" err="1"/>
              <a:t>eof</a:t>
            </a:r>
            <a:r>
              <a:rPr lang="es-CO" dirty="0"/>
              <a:t>(</a:t>
            </a:r>
            <a:r>
              <a:rPr lang="es-CO" dirty="0">
                <a:solidFill>
                  <a:schemeClr val="accent2"/>
                </a:solidFill>
              </a:rPr>
              <a:t>s</a:t>
            </a:r>
            <a:r>
              <a:rPr lang="es-CO" dirty="0"/>
              <a:t>) </a:t>
            </a:r>
            <a:r>
              <a:rPr lang="es-CO" b="1" dirty="0"/>
              <a:t>AND</a:t>
            </a:r>
            <a:r>
              <a:rPr lang="es-CO" dirty="0"/>
              <a:t> </a:t>
            </a:r>
            <a:r>
              <a:rPr lang="es-CO" dirty="0" err="1"/>
              <a:t>tr.A</a:t>
            </a:r>
            <a:r>
              <a:rPr lang="es-CO" dirty="0"/>
              <a:t> </a:t>
            </a:r>
            <a:r>
              <a:rPr lang="es-CO" sz="1600" dirty="0"/>
              <a:t>&gt;</a:t>
            </a:r>
            <a:r>
              <a:rPr lang="es-CO" dirty="0"/>
              <a:t> </a:t>
            </a:r>
            <a:r>
              <a:rPr lang="es-CO" dirty="0" err="1"/>
              <a:t>ts.B</a:t>
            </a:r>
            <a:r>
              <a:rPr lang="es-CO" dirty="0"/>
              <a:t> </a:t>
            </a:r>
            <a:r>
              <a:rPr lang="es-CO" b="1" dirty="0"/>
              <a:t>do</a:t>
            </a:r>
          </a:p>
          <a:p>
            <a:pPr eaLnBrk="1" hangingPunct="1"/>
            <a:r>
              <a:rPr lang="es-CO" dirty="0"/>
              <a:t>      </a:t>
            </a:r>
            <a:r>
              <a:rPr lang="es-CO" dirty="0" err="1"/>
              <a:t>ts</a:t>
            </a:r>
            <a:r>
              <a:rPr lang="es-CO" dirty="0"/>
              <a:t> := </a:t>
            </a:r>
            <a:r>
              <a:rPr lang="es-CO" dirty="0" err="1"/>
              <a:t>getNext</a:t>
            </a:r>
            <a:r>
              <a:rPr lang="es-CO" dirty="0"/>
              <a:t>(</a:t>
            </a:r>
            <a:r>
              <a:rPr lang="es-CO" dirty="0">
                <a:solidFill>
                  <a:schemeClr val="accent2"/>
                </a:solidFill>
              </a:rPr>
              <a:t>s</a:t>
            </a:r>
            <a:r>
              <a:rPr lang="es-CO" dirty="0"/>
              <a:t>) </a:t>
            </a:r>
            <a:r>
              <a:rPr lang="es-CO" dirty="0">
                <a:solidFill>
                  <a:srgbClr val="660033"/>
                </a:solidFill>
              </a:rPr>
              <a:t>//Obtener la próxima </a:t>
            </a:r>
            <a:r>
              <a:rPr lang="es-CO" dirty="0" err="1">
                <a:solidFill>
                  <a:srgbClr val="660033"/>
                </a:solidFill>
              </a:rPr>
              <a:t>tupla</a:t>
            </a:r>
            <a:r>
              <a:rPr lang="es-CO" dirty="0">
                <a:solidFill>
                  <a:srgbClr val="660033"/>
                </a:solidFill>
              </a:rPr>
              <a:t> de s</a:t>
            </a:r>
          </a:p>
          <a:p>
            <a:pPr eaLnBrk="1" hangingPunct="1"/>
            <a:r>
              <a:rPr lang="es-CO" dirty="0"/>
              <a:t>   </a:t>
            </a:r>
            <a:r>
              <a:rPr lang="es-CO" b="1" dirty="0" err="1"/>
              <a:t>if</a:t>
            </a:r>
            <a:r>
              <a:rPr lang="es-CO" dirty="0"/>
              <a:t> </a:t>
            </a:r>
            <a:r>
              <a:rPr lang="es-CO" dirty="0" err="1"/>
              <a:t>tr.A</a:t>
            </a:r>
            <a:r>
              <a:rPr lang="es-CO" dirty="0"/>
              <a:t> = </a:t>
            </a:r>
            <a:r>
              <a:rPr lang="es-CO" dirty="0" err="1"/>
              <a:t>ts.B</a:t>
            </a:r>
            <a:r>
              <a:rPr lang="es-CO" dirty="0"/>
              <a:t> = c </a:t>
            </a:r>
            <a:r>
              <a:rPr lang="es-CO" b="1" dirty="0" err="1"/>
              <a:t>then</a:t>
            </a:r>
            <a:r>
              <a:rPr lang="es-CO" dirty="0"/>
              <a:t> { </a:t>
            </a:r>
            <a:r>
              <a:rPr lang="es-CO" dirty="0">
                <a:solidFill>
                  <a:srgbClr val="660033"/>
                </a:solidFill>
              </a:rPr>
              <a:t>//Para alguna constante c</a:t>
            </a:r>
          </a:p>
          <a:p>
            <a:pPr eaLnBrk="1" hangingPunct="1"/>
            <a:r>
              <a:rPr lang="es-CO" dirty="0"/>
              <a:t>      </a:t>
            </a:r>
            <a:r>
              <a:rPr lang="es-CO" dirty="0" err="1"/>
              <a:t>Result</a:t>
            </a:r>
            <a:r>
              <a:rPr lang="es-CO" dirty="0"/>
              <a:t> := (</a:t>
            </a:r>
            <a:r>
              <a:rPr lang="es-CO" dirty="0">
                <a:sym typeface="Symbol" panose="05050102010706020507" pitchFamily="18" charset="2"/>
              </a:rPr>
              <a:t></a:t>
            </a:r>
            <a:r>
              <a:rPr lang="es-CO" baseline="-25000" dirty="0"/>
              <a:t>A=c</a:t>
            </a:r>
            <a:r>
              <a:rPr lang="es-CO" dirty="0"/>
              <a:t>(</a:t>
            </a:r>
            <a:r>
              <a:rPr lang="es-CO" dirty="0">
                <a:solidFill>
                  <a:schemeClr val="accent2"/>
                </a:solidFill>
              </a:rPr>
              <a:t>r</a:t>
            </a:r>
            <a:r>
              <a:rPr lang="es-CO" dirty="0"/>
              <a:t>) x </a:t>
            </a:r>
            <a:r>
              <a:rPr lang="es-CO" dirty="0">
                <a:sym typeface="Symbol" panose="05050102010706020507" pitchFamily="18" charset="2"/>
              </a:rPr>
              <a:t></a:t>
            </a:r>
            <a:r>
              <a:rPr lang="es-CO" baseline="-25000" dirty="0"/>
              <a:t>B=c</a:t>
            </a:r>
            <a:r>
              <a:rPr lang="es-CO" dirty="0"/>
              <a:t>(</a:t>
            </a:r>
            <a:r>
              <a:rPr lang="es-CO" dirty="0">
                <a:solidFill>
                  <a:schemeClr val="accent2"/>
                </a:solidFill>
              </a:rPr>
              <a:t>s</a:t>
            </a:r>
            <a:r>
              <a:rPr lang="es-CO" dirty="0"/>
              <a:t>)) U </a:t>
            </a:r>
            <a:r>
              <a:rPr lang="es-CO" dirty="0" err="1"/>
              <a:t>Result</a:t>
            </a:r>
            <a:r>
              <a:rPr lang="es-CO" dirty="0"/>
              <a:t>;</a:t>
            </a:r>
          </a:p>
          <a:p>
            <a:pPr eaLnBrk="1" hangingPunct="1"/>
            <a:r>
              <a:rPr lang="es-CO" dirty="0"/>
              <a:t>      </a:t>
            </a:r>
            <a:r>
              <a:rPr lang="es-CO" dirty="0" err="1"/>
              <a:t>tr</a:t>
            </a:r>
            <a:r>
              <a:rPr lang="es-CO" dirty="0"/>
              <a:t> := próxima </a:t>
            </a:r>
            <a:r>
              <a:rPr lang="es-CO" dirty="0" err="1"/>
              <a:t>tupla</a:t>
            </a:r>
            <a:r>
              <a:rPr lang="es-CO" dirty="0"/>
              <a:t> t </a:t>
            </a:r>
            <a:r>
              <a:rPr lang="es-CO" dirty="0">
                <a:sym typeface="Symbol" panose="05050102010706020507" pitchFamily="18" charset="2"/>
              </a:rPr>
              <a:t> </a:t>
            </a:r>
            <a:r>
              <a:rPr lang="es-CO" dirty="0">
                <a:solidFill>
                  <a:schemeClr val="accent2"/>
                </a:solidFill>
              </a:rPr>
              <a:t>r</a:t>
            </a:r>
            <a:r>
              <a:rPr lang="es-CO" dirty="0">
                <a:solidFill>
                  <a:srgbClr val="9966FF"/>
                </a:solidFill>
              </a:rPr>
              <a:t> </a:t>
            </a:r>
            <a:r>
              <a:rPr lang="es-CO" dirty="0"/>
              <a:t>tal que </a:t>
            </a:r>
            <a:r>
              <a:rPr lang="es-CO" dirty="0" err="1"/>
              <a:t>t.A</a:t>
            </a:r>
            <a:r>
              <a:rPr lang="es-CO" dirty="0"/>
              <a:t> &gt; c</a:t>
            </a:r>
          </a:p>
          <a:p>
            <a:pPr eaLnBrk="1" hangingPunct="1"/>
            <a:r>
              <a:rPr lang="es-CO" dirty="0"/>
              <a:t>   }</a:t>
            </a:r>
          </a:p>
          <a:p>
            <a:pPr eaLnBrk="1" hangingPunct="1"/>
            <a:r>
              <a:rPr lang="es-CO" dirty="0"/>
              <a:t>}</a:t>
            </a:r>
          </a:p>
          <a:p>
            <a:pPr eaLnBrk="1" hangingPunct="1"/>
            <a:r>
              <a:rPr lang="es-CO" dirty="0" err="1"/>
              <a:t>Return</a:t>
            </a:r>
            <a:r>
              <a:rPr lang="es-CO" dirty="0"/>
              <a:t> </a:t>
            </a:r>
            <a:r>
              <a:rPr lang="es-CO" dirty="0" err="1"/>
              <a:t>Result</a:t>
            </a:r>
            <a:endParaRPr lang="es-CO" dirty="0"/>
          </a:p>
          <a:p>
            <a:pPr eaLnBrk="1" hangingPunct="1"/>
            <a:r>
              <a:rPr lang="es-CO" dirty="0"/>
              <a:t> </a:t>
            </a:r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Costo total: </a:t>
            </a:r>
          </a:p>
          <a:p>
            <a:pPr eaLnBrk="1" hangingPunct="1">
              <a:buFontTx/>
              <a:buNone/>
            </a:pPr>
            <a:r>
              <a:rPr lang="en-US" smtClean="0"/>
              <a:t>Costo del ordenamiento de cada relación + </a:t>
            </a:r>
          </a:p>
          <a:p>
            <a:pPr eaLnBrk="1" hangingPunct="1">
              <a:buFontTx/>
              <a:buNone/>
            </a:pPr>
            <a:r>
              <a:rPr lang="en-US" smtClean="0"/>
              <a:t>Costo de la mezcla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r>
              <a:rPr lang="en-US" smtClean="0"/>
              <a:t>El costo de la mezcla es: F</a:t>
            </a:r>
            <a:r>
              <a:rPr lang="en-US" baseline="-25000" smtClean="0"/>
              <a:t>r</a:t>
            </a:r>
            <a:r>
              <a:rPr lang="en-US" smtClean="0"/>
              <a:t> + F</a:t>
            </a:r>
            <a:r>
              <a:rPr lang="en-US" baseline="-25000" smtClean="0"/>
              <a:t>s</a:t>
            </a:r>
          </a:p>
          <a:p>
            <a:pPr eaLnBrk="1" hangingPunct="1">
              <a:buFontTx/>
              <a:buNone/>
            </a:pPr>
            <a:r>
              <a:rPr lang="en-US" smtClean="0"/>
              <a:t>Ahora se debe obtener el costo de ordenar </a:t>
            </a:r>
          </a:p>
          <a:p>
            <a:pPr eaLnBrk="1" hangingPunct="1">
              <a:buFontTx/>
              <a:buNone/>
            </a:pPr>
            <a:r>
              <a:rPr lang="en-US" smtClean="0"/>
              <a:t>una relación: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5076825" y="3860800"/>
            <a:ext cx="1439863" cy="719138"/>
          </a:xfrm>
          <a:prstGeom prst="rect">
            <a:avLst/>
          </a:prstGeom>
          <a:solidFill>
            <a:schemeClr val="accent2">
              <a:alpha val="4509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>
            <a:off x="4067175" y="3068638"/>
            <a:ext cx="1512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>
            <a:off x="5580063" y="306863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539750" y="2205038"/>
            <a:ext cx="7416800" cy="503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539750" y="2781300"/>
            <a:ext cx="3527425" cy="503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err="1" smtClean="0"/>
              <a:t>Costo</a:t>
            </a:r>
            <a:r>
              <a:rPr lang="en-US" dirty="0" smtClean="0"/>
              <a:t> de </a:t>
            </a:r>
            <a:r>
              <a:rPr lang="en-US" dirty="0" err="1" smtClean="0"/>
              <a:t>ordenar</a:t>
            </a:r>
            <a:r>
              <a:rPr lang="en-US" dirty="0" smtClean="0"/>
              <a:t>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relación</a:t>
            </a:r>
            <a:r>
              <a:rPr lang="en-US" dirty="0" smtClean="0"/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err="1" smtClean="0"/>
              <a:t>Ordenar</a:t>
            </a:r>
            <a:r>
              <a:rPr lang="en-US" dirty="0" smtClean="0"/>
              <a:t>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relación</a:t>
            </a:r>
            <a:r>
              <a:rPr lang="en-US" dirty="0" smtClean="0"/>
              <a:t> en </a:t>
            </a:r>
            <a:r>
              <a:rPr lang="en-US" dirty="0" err="1" smtClean="0"/>
              <a:t>una</a:t>
            </a:r>
            <a:r>
              <a:rPr lang="en-US" dirty="0" smtClean="0"/>
              <a:t> BD </a:t>
            </a:r>
            <a:r>
              <a:rPr lang="en-US" dirty="0" err="1" smtClean="0"/>
              <a:t>consta</a:t>
            </a:r>
            <a:r>
              <a:rPr lang="en-US" dirty="0" smtClean="0"/>
              <a:t> a </a:t>
            </a:r>
            <a:r>
              <a:rPr lang="en-US" dirty="0" err="1" smtClean="0"/>
              <a:t>su</a:t>
            </a:r>
            <a:r>
              <a:rPr lang="en-US" dirty="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err="1" smtClean="0"/>
              <a:t>vez</a:t>
            </a:r>
            <a:r>
              <a:rPr lang="en-US" dirty="0" smtClean="0"/>
              <a:t> de dos </a:t>
            </a:r>
            <a:r>
              <a:rPr lang="en-US" dirty="0" err="1" smtClean="0"/>
              <a:t>fases</a:t>
            </a:r>
            <a:r>
              <a:rPr lang="en-US" dirty="0" smtClean="0"/>
              <a:t>: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en-US" i="1" dirty="0" smtClean="0"/>
              <a:t>Partial sorting</a:t>
            </a:r>
            <a:r>
              <a:rPr lang="en-US" dirty="0" smtClean="0"/>
              <a:t> (</a:t>
            </a:r>
            <a:r>
              <a:rPr lang="en-US" dirty="0" err="1" smtClean="0"/>
              <a:t>ordenamiento</a:t>
            </a:r>
            <a:r>
              <a:rPr lang="en-US" dirty="0" smtClean="0"/>
              <a:t> </a:t>
            </a:r>
            <a:r>
              <a:rPr lang="en-US" dirty="0" err="1" smtClean="0"/>
              <a:t>parcial</a:t>
            </a:r>
            <a:r>
              <a:rPr lang="en-US" dirty="0" smtClean="0"/>
              <a:t>)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en-US" dirty="0" err="1" smtClean="0"/>
              <a:t>Mezcla</a:t>
            </a:r>
            <a:r>
              <a:rPr lang="en-US" dirty="0" smtClean="0"/>
              <a:t> (</a:t>
            </a:r>
            <a:r>
              <a:rPr lang="en-US" i="1" dirty="0" smtClean="0"/>
              <a:t>K-way merge</a:t>
            </a:r>
            <a:r>
              <a:rPr lang="en-US" dirty="0" smtClean="0"/>
              <a:t>)</a:t>
            </a:r>
            <a:r>
              <a:rPr lang="en-US" dirty="0" smtClean="0">
                <a:solidFill>
                  <a:srgbClr val="FF0000"/>
                </a:solidFill>
              </a:rPr>
              <a:t>*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dirty="0" smtClean="0"/>
          </a:p>
          <a:p>
            <a:pPr eaLnBrk="1" hangingPunct="1">
              <a:lnSpc>
                <a:spcPct val="90000"/>
              </a:lnSpc>
              <a:buFontTx/>
              <a:buChar char="-"/>
            </a:pPr>
            <a:endParaRPr 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*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0070C0"/>
                </a:solidFill>
              </a:rPr>
              <a:t>No </a:t>
            </a:r>
            <a:r>
              <a:rPr lang="en-US" sz="2400" dirty="0" err="1" smtClean="0">
                <a:solidFill>
                  <a:srgbClr val="0070C0"/>
                </a:solidFill>
              </a:rPr>
              <a:t>confundir</a:t>
            </a:r>
            <a:r>
              <a:rPr lang="en-US" sz="2400" dirty="0" smtClean="0">
                <a:solidFill>
                  <a:srgbClr val="0070C0"/>
                </a:solidFill>
              </a:rPr>
              <a:t> con la </a:t>
            </a:r>
            <a:r>
              <a:rPr lang="en-US" sz="2400" dirty="0" err="1" smtClean="0">
                <a:solidFill>
                  <a:srgbClr val="0070C0"/>
                </a:solidFill>
              </a:rPr>
              <a:t>mezcla</a:t>
            </a:r>
            <a:r>
              <a:rPr lang="en-US" sz="2400" dirty="0" smtClean="0">
                <a:solidFill>
                  <a:srgbClr val="0070C0"/>
                </a:solidFill>
              </a:rPr>
              <a:t> del </a:t>
            </a:r>
            <a:r>
              <a:rPr lang="en-US" sz="2400" i="1" dirty="0" smtClean="0">
                <a:solidFill>
                  <a:srgbClr val="0070C0"/>
                </a:solidFill>
              </a:rPr>
              <a:t>Sort Merge</a:t>
            </a:r>
            <a:r>
              <a:rPr lang="en-US" sz="2400" dirty="0" smtClean="0">
                <a:solidFill>
                  <a:srgbClr val="0070C0"/>
                </a:solidFill>
              </a:rPr>
              <a:t>, son dos </a:t>
            </a:r>
            <a:r>
              <a:rPr lang="en-US" sz="2400" dirty="0" err="1" smtClean="0">
                <a:solidFill>
                  <a:srgbClr val="0070C0"/>
                </a:solidFill>
              </a:rPr>
              <a:t>procesos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</a:rPr>
              <a:t>distintos</a:t>
            </a:r>
            <a:r>
              <a:rPr lang="en-US" sz="2400" dirty="0" smtClean="0">
                <a:solidFill>
                  <a:srgbClr val="0070C0"/>
                </a:solidFill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 smtClean="0"/>
              <a:t>- </a:t>
            </a:r>
            <a:r>
              <a:rPr lang="en-US" dirty="0" err="1" smtClean="0"/>
              <a:t>Costo</a:t>
            </a:r>
            <a:r>
              <a:rPr lang="en-US" dirty="0" smtClean="0"/>
              <a:t> del </a:t>
            </a:r>
            <a:r>
              <a:rPr lang="en-US" dirty="0" err="1" smtClean="0"/>
              <a:t>ordenamiento</a:t>
            </a:r>
            <a:r>
              <a:rPr lang="en-US" dirty="0" smtClean="0"/>
              <a:t> </a:t>
            </a:r>
            <a:r>
              <a:rPr lang="en-US" dirty="0" err="1" smtClean="0"/>
              <a:t>parcial</a:t>
            </a:r>
            <a:r>
              <a:rPr lang="en-US" dirty="0" smtClean="0"/>
              <a:t>:</a:t>
            </a:r>
          </a:p>
          <a:p>
            <a:pPr eaLnBrk="1" hangingPunct="1"/>
            <a:r>
              <a:rPr lang="en-US" dirty="0" err="1" smtClean="0"/>
              <a:t>Supóngase</a:t>
            </a:r>
            <a:r>
              <a:rPr lang="en-US" dirty="0" smtClean="0"/>
              <a:t>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memoria</a:t>
            </a:r>
            <a:r>
              <a:rPr lang="en-US" dirty="0" smtClean="0"/>
              <a:t> de M </a:t>
            </a:r>
            <a:r>
              <a:rPr lang="en-US" dirty="0" err="1" smtClean="0"/>
              <a:t>páginas</a:t>
            </a:r>
            <a:r>
              <a:rPr lang="en-US" dirty="0" smtClean="0"/>
              <a:t> y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relación</a:t>
            </a:r>
            <a:r>
              <a:rPr lang="en-US" dirty="0" smtClean="0"/>
              <a:t> de F </a:t>
            </a:r>
            <a:r>
              <a:rPr lang="en-US" dirty="0" err="1" smtClean="0"/>
              <a:t>páginas</a:t>
            </a:r>
            <a:r>
              <a:rPr lang="en-US" dirty="0" smtClean="0"/>
              <a:t> (F </a:t>
            </a:r>
            <a:r>
              <a:rPr lang="en-US" dirty="0" err="1" smtClean="0"/>
              <a:t>es</a:t>
            </a:r>
            <a:r>
              <a:rPr lang="en-US" dirty="0" smtClean="0"/>
              <a:t> </a:t>
            </a:r>
            <a:r>
              <a:rPr lang="en-US" dirty="0" err="1" smtClean="0"/>
              <a:t>usualmente</a:t>
            </a:r>
            <a:r>
              <a:rPr lang="en-US" dirty="0" smtClean="0"/>
              <a:t> </a:t>
            </a:r>
            <a:r>
              <a:rPr lang="en-US" dirty="0" err="1" smtClean="0"/>
              <a:t>más</a:t>
            </a:r>
            <a:r>
              <a:rPr lang="en-US" dirty="0" smtClean="0"/>
              <a:t> </a:t>
            </a:r>
            <a:r>
              <a:rPr lang="en-US" dirty="0" err="1" smtClean="0"/>
              <a:t>grande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M, </a:t>
            </a:r>
            <a:r>
              <a:rPr lang="en-US" dirty="0" err="1" smtClean="0"/>
              <a:t>es</a:t>
            </a:r>
            <a:r>
              <a:rPr lang="en-US" dirty="0" smtClean="0"/>
              <a:t> </a:t>
            </a:r>
            <a:r>
              <a:rPr lang="en-US" dirty="0" err="1" smtClean="0"/>
              <a:t>decir</a:t>
            </a:r>
            <a:r>
              <a:rPr lang="en-US" dirty="0" smtClean="0"/>
              <a:t>, F&gt;&gt;M)</a:t>
            </a:r>
          </a:p>
          <a:p>
            <a:pPr eaLnBrk="1" hangingPunct="1"/>
            <a:r>
              <a:rPr lang="en-US" dirty="0" smtClean="0"/>
              <a:t>Se </a:t>
            </a:r>
            <a:r>
              <a:rPr lang="en-US" dirty="0" err="1" smtClean="0"/>
              <a:t>leen</a:t>
            </a:r>
            <a:r>
              <a:rPr lang="en-US" dirty="0" smtClean="0"/>
              <a:t>, </a:t>
            </a:r>
            <a:r>
              <a:rPr lang="en-US" dirty="0" err="1" smtClean="0"/>
              <a:t>ordenan</a:t>
            </a:r>
            <a:r>
              <a:rPr lang="en-US" dirty="0" smtClean="0"/>
              <a:t> y </a:t>
            </a:r>
            <a:r>
              <a:rPr lang="en-US" dirty="0" err="1" smtClean="0"/>
              <a:t>escriben</a:t>
            </a:r>
            <a:r>
              <a:rPr lang="en-US" dirty="0" smtClean="0"/>
              <a:t> </a:t>
            </a:r>
            <a:r>
              <a:rPr lang="en-US" dirty="0" err="1" smtClean="0"/>
              <a:t>todas</a:t>
            </a:r>
            <a:r>
              <a:rPr lang="en-US" dirty="0" smtClean="0"/>
              <a:t> </a:t>
            </a:r>
            <a:r>
              <a:rPr lang="en-US" dirty="0" err="1" smtClean="0"/>
              <a:t>las</a:t>
            </a:r>
            <a:r>
              <a:rPr lang="en-US" dirty="0" smtClean="0"/>
              <a:t> </a:t>
            </a:r>
            <a:r>
              <a:rPr lang="en-US" dirty="0" err="1" smtClean="0"/>
              <a:t>páginas</a:t>
            </a:r>
            <a:r>
              <a:rPr lang="en-US" dirty="0" smtClean="0"/>
              <a:t> de la </a:t>
            </a:r>
            <a:r>
              <a:rPr lang="en-US" dirty="0" err="1" smtClean="0"/>
              <a:t>relación</a:t>
            </a:r>
            <a:r>
              <a:rPr lang="en-US" dirty="0" smtClean="0"/>
              <a:t>, </a:t>
            </a:r>
            <a:r>
              <a:rPr lang="en-US" dirty="0" err="1" smtClean="0"/>
              <a:t>tal</a:t>
            </a:r>
            <a:r>
              <a:rPr lang="en-US" dirty="0" smtClean="0"/>
              <a:t> y </a:t>
            </a:r>
            <a:r>
              <a:rPr lang="en-US" dirty="0" err="1" smtClean="0"/>
              <a:t>como</a:t>
            </a:r>
            <a:r>
              <a:rPr lang="en-US" dirty="0" smtClean="0"/>
              <a:t> lo </a:t>
            </a:r>
            <a:r>
              <a:rPr lang="en-US" dirty="0" err="1" smtClean="0"/>
              <a:t>muestra</a:t>
            </a:r>
            <a:r>
              <a:rPr lang="en-US" dirty="0" smtClean="0"/>
              <a:t> el </a:t>
            </a:r>
            <a:r>
              <a:rPr lang="en-US" dirty="0" err="1" smtClean="0"/>
              <a:t>siguiente</a:t>
            </a:r>
            <a:r>
              <a:rPr lang="en-US" dirty="0" smtClean="0"/>
              <a:t> </a:t>
            </a:r>
            <a:r>
              <a:rPr lang="en-US" dirty="0" err="1" smtClean="0"/>
              <a:t>algoritmo</a:t>
            </a:r>
            <a:r>
              <a:rPr lang="en-US" dirty="0" smtClean="0"/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Algoritmo ordenamiento parcial:</a:t>
            </a:r>
          </a:p>
          <a:p>
            <a:pPr eaLnBrk="1" hangingPunct="1">
              <a:buFontTx/>
              <a:buNone/>
            </a:pPr>
            <a:endParaRPr lang="en-US" smtClean="0"/>
          </a:p>
        </p:txBody>
      </p:sp>
      <p:sp>
        <p:nvSpPr>
          <p:cNvPr id="36868" name="Text Box 5"/>
          <p:cNvSpPr txBox="1">
            <a:spLocks noChangeArrowheads="1"/>
          </p:cNvSpPr>
          <p:nvPr/>
        </p:nvSpPr>
        <p:spPr bwMode="auto">
          <a:xfrm>
            <a:off x="684213" y="2276475"/>
            <a:ext cx="7704137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sz="2400" b="1"/>
              <a:t>DO{</a:t>
            </a:r>
          </a:p>
          <a:p>
            <a:pPr eaLnBrk="1" hangingPunct="1">
              <a:spcBef>
                <a:spcPct val="50000"/>
              </a:spcBef>
            </a:pPr>
            <a:r>
              <a:rPr lang="es-CO" sz="2400"/>
              <a:t>  1. Leer M páginas desde disco a la memoria principal</a:t>
            </a:r>
          </a:p>
          <a:p>
            <a:pPr eaLnBrk="1" hangingPunct="1">
              <a:spcBef>
                <a:spcPct val="50000"/>
              </a:spcBef>
            </a:pPr>
            <a:r>
              <a:rPr lang="es-CO" sz="2400"/>
              <a:t>  2. Ordenarlas en memoria con uno de los métodos  conocidos (suponer que existe memoria adicional suficiente para llevar a cabo este proceso, aparte de la memoria para las M páginas)</a:t>
            </a:r>
          </a:p>
          <a:p>
            <a:pPr eaLnBrk="1" hangingPunct="1">
              <a:spcBef>
                <a:spcPct val="50000"/>
              </a:spcBef>
            </a:pPr>
            <a:r>
              <a:rPr lang="es-CO" sz="2400"/>
              <a:t>  3. Escribir el resultado ordenado en un nuevo archivo</a:t>
            </a:r>
          </a:p>
          <a:p>
            <a:pPr eaLnBrk="1" hangingPunct="1">
              <a:spcBef>
                <a:spcPct val="50000"/>
              </a:spcBef>
            </a:pPr>
            <a:r>
              <a:rPr lang="es-CO" sz="2400" b="1"/>
              <a:t>}UNTIL(Fin de archivo) </a:t>
            </a:r>
            <a:endParaRPr lang="es-ES_tradnl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708525"/>
          </a:xfrm>
        </p:spPr>
        <p:txBody>
          <a:bodyPr/>
          <a:lstStyle/>
          <a:p>
            <a:pPr eaLnBrk="1" hangingPunct="1"/>
            <a:r>
              <a:rPr lang="en-US" sz="2800" dirty="0" err="1" smtClean="0"/>
              <a:t>Por</a:t>
            </a:r>
            <a:r>
              <a:rPr lang="en-US" sz="2800" dirty="0" smtClean="0"/>
              <a:t> lo </a:t>
            </a:r>
            <a:r>
              <a:rPr lang="en-US" sz="2800" dirty="0" err="1" smtClean="0"/>
              <a:t>tanto</a:t>
            </a:r>
            <a:r>
              <a:rPr lang="en-US" sz="2800" dirty="0" smtClean="0"/>
              <a:t>, el </a:t>
            </a:r>
            <a:r>
              <a:rPr lang="en-US" sz="2800" dirty="0" err="1" smtClean="0"/>
              <a:t>costo</a:t>
            </a:r>
            <a:r>
              <a:rPr lang="en-US" sz="2800" dirty="0" smtClean="0"/>
              <a:t> del </a:t>
            </a:r>
            <a:r>
              <a:rPr lang="en-US" sz="2800" dirty="0" err="1" smtClean="0"/>
              <a:t>ordenamiento</a:t>
            </a:r>
            <a:r>
              <a:rPr lang="en-US" sz="2800" dirty="0" smtClean="0"/>
              <a:t> </a:t>
            </a:r>
            <a:r>
              <a:rPr lang="en-US" sz="2800" dirty="0" err="1" smtClean="0"/>
              <a:t>parcial</a:t>
            </a:r>
            <a:r>
              <a:rPr lang="en-US" sz="2800" dirty="0" smtClean="0"/>
              <a:t> </a:t>
            </a:r>
            <a:r>
              <a:rPr lang="en-US" sz="2800" dirty="0" err="1" smtClean="0"/>
              <a:t>es</a:t>
            </a:r>
            <a:r>
              <a:rPr lang="en-US" sz="2800" dirty="0" smtClean="0"/>
              <a:t>: </a:t>
            </a:r>
          </a:p>
          <a:p>
            <a:pPr eaLnBrk="1" hangingPunct="1">
              <a:buFontTx/>
              <a:buNone/>
            </a:pPr>
            <a:r>
              <a:rPr lang="en-US" sz="2800" dirty="0" smtClean="0"/>
              <a:t>	F(</a:t>
            </a:r>
            <a:r>
              <a:rPr lang="en-US" sz="2800" dirty="0" err="1" smtClean="0"/>
              <a:t>lectura</a:t>
            </a:r>
            <a:r>
              <a:rPr lang="en-US" sz="2800" dirty="0" smtClean="0"/>
              <a:t>) + F(</a:t>
            </a:r>
            <a:r>
              <a:rPr lang="en-US" sz="2800" dirty="0" err="1" smtClean="0"/>
              <a:t>escritura</a:t>
            </a:r>
            <a:r>
              <a:rPr lang="en-US" sz="2800" dirty="0" smtClean="0"/>
              <a:t>) =  2F  (</a:t>
            </a:r>
            <a:r>
              <a:rPr lang="en-US" sz="2800" dirty="0" err="1" smtClean="0"/>
              <a:t>páginas</a:t>
            </a:r>
            <a:r>
              <a:rPr lang="en-US" sz="2800" dirty="0" smtClean="0"/>
              <a:t>)</a:t>
            </a:r>
          </a:p>
          <a:p>
            <a:pPr eaLnBrk="1" hangingPunct="1"/>
            <a:r>
              <a:rPr lang="en-US" sz="2800" dirty="0" smtClean="0"/>
              <a:t>N = </a:t>
            </a:r>
            <a:r>
              <a:rPr lang="en-US" sz="2800" dirty="0" err="1" smtClean="0"/>
              <a:t>Número</a:t>
            </a:r>
            <a:r>
              <a:rPr lang="en-US" sz="2800" dirty="0" smtClean="0"/>
              <a:t> de “</a:t>
            </a:r>
            <a:r>
              <a:rPr lang="en-US" sz="2800" i="1" dirty="0" smtClean="0"/>
              <a:t>runs</a:t>
            </a:r>
            <a:r>
              <a:rPr lang="en-US" sz="2800" dirty="0" smtClean="0"/>
              <a:t>” </a:t>
            </a:r>
            <a:r>
              <a:rPr lang="en-US" sz="2800" dirty="0" err="1" smtClean="0"/>
              <a:t>generadas</a:t>
            </a:r>
            <a:r>
              <a:rPr lang="en-US" sz="2800" dirty="0" smtClean="0"/>
              <a:t>: </a:t>
            </a:r>
          </a:p>
          <a:p>
            <a:pPr eaLnBrk="1" hangingPunct="1">
              <a:buFontTx/>
              <a:buNone/>
            </a:pPr>
            <a:r>
              <a:rPr lang="en-US" sz="2400" dirty="0" smtClean="0">
                <a:sym typeface="Symbol" panose="05050102010706020507" pitchFamily="18" charset="2"/>
              </a:rPr>
              <a:t>				</a:t>
            </a:r>
            <a:r>
              <a:rPr lang="en-US" sz="2800" dirty="0" smtClean="0">
                <a:sym typeface="Symbol" panose="05050102010706020507" pitchFamily="18" charset="2"/>
              </a:rPr>
              <a:t>N =</a:t>
            </a:r>
            <a:r>
              <a:rPr lang="en-US" sz="2400" dirty="0" smtClean="0">
                <a:sym typeface="Symbol" panose="05050102010706020507" pitchFamily="18" charset="2"/>
              </a:rPr>
              <a:t> </a:t>
            </a:r>
            <a:r>
              <a:rPr lang="en-US" sz="2800" dirty="0" smtClean="0"/>
              <a:t>F/M</a:t>
            </a:r>
            <a:r>
              <a:rPr lang="en-US" sz="2400" dirty="0" smtClean="0">
                <a:sym typeface="Symbol" panose="05050102010706020507" pitchFamily="18" charset="2"/>
              </a:rPr>
              <a:t></a:t>
            </a:r>
          </a:p>
          <a:p>
            <a:pPr eaLnBrk="1" hangingPunct="1">
              <a:buFontTx/>
              <a:buNone/>
            </a:pPr>
            <a:r>
              <a:rPr lang="en-US" sz="2800" dirty="0" err="1" smtClean="0">
                <a:sym typeface="Symbol" panose="05050102010706020507" pitchFamily="18" charset="2"/>
              </a:rPr>
              <a:t>Ej</a:t>
            </a:r>
            <a:r>
              <a:rPr lang="en-US" sz="2800" dirty="0" smtClean="0">
                <a:sym typeface="Symbol" panose="05050102010706020507" pitchFamily="18" charset="2"/>
              </a:rPr>
              <a:t>: Si M = 4 y F = 10 </a:t>
            </a:r>
            <a:r>
              <a:rPr lang="en-US" sz="2800" dirty="0" err="1" smtClean="0">
                <a:sym typeface="Symbol" panose="05050102010706020507" pitchFamily="18" charset="2"/>
              </a:rPr>
              <a:t>entonces</a:t>
            </a:r>
            <a:r>
              <a:rPr lang="en-US" sz="2800" dirty="0" smtClean="0">
                <a:sym typeface="Symbol" panose="05050102010706020507" pitchFamily="18" charset="2"/>
              </a:rPr>
              <a:t> </a:t>
            </a:r>
            <a:r>
              <a:rPr lang="en-US" sz="2800" dirty="0" smtClean="0"/>
              <a:t>10/4</a:t>
            </a:r>
            <a:r>
              <a:rPr lang="en-US" sz="2800" dirty="0" smtClean="0">
                <a:sym typeface="Symbol" panose="05050102010706020507" pitchFamily="18" charset="2"/>
              </a:rPr>
              <a:t> = 3</a:t>
            </a:r>
          </a:p>
          <a:p>
            <a:pPr eaLnBrk="1" hangingPunct="1">
              <a:buFontTx/>
              <a:buNone/>
            </a:pPr>
            <a:endParaRPr lang="en-US" sz="2800" dirty="0" smtClean="0">
              <a:sym typeface="Symbol" panose="05050102010706020507" pitchFamily="18" charset="2"/>
            </a:endParaRPr>
          </a:p>
          <a:p>
            <a:pPr eaLnBrk="1" hangingPunct="1"/>
            <a:r>
              <a:rPr lang="en-US" sz="2800" dirty="0" err="1" smtClean="0">
                <a:sym typeface="Symbol" panose="05050102010706020507" pitchFamily="18" charset="2"/>
              </a:rPr>
              <a:t>Nótese</a:t>
            </a:r>
            <a:r>
              <a:rPr lang="en-US" sz="2800" dirty="0" smtClean="0">
                <a:sym typeface="Symbol" panose="05050102010706020507" pitchFamily="18" charset="2"/>
              </a:rPr>
              <a:t> </a:t>
            </a:r>
            <a:r>
              <a:rPr lang="en-US" sz="2800" dirty="0" err="1" smtClean="0">
                <a:sym typeface="Symbol" panose="05050102010706020507" pitchFamily="18" charset="2"/>
              </a:rPr>
              <a:t>que</a:t>
            </a:r>
            <a:r>
              <a:rPr lang="en-US" sz="2800" dirty="0" smtClean="0">
                <a:sym typeface="Symbol" panose="05050102010706020507" pitchFamily="18" charset="2"/>
              </a:rPr>
              <a:t> el </a:t>
            </a:r>
            <a:r>
              <a:rPr lang="en-US" sz="2800" dirty="0" err="1" smtClean="0">
                <a:sym typeface="Symbol" panose="05050102010706020507" pitchFamily="18" charset="2"/>
              </a:rPr>
              <a:t>tamaño</a:t>
            </a:r>
            <a:r>
              <a:rPr lang="en-US" sz="2800" dirty="0" smtClean="0">
                <a:sym typeface="Symbol" panose="05050102010706020507" pitchFamily="18" charset="2"/>
              </a:rPr>
              <a:t> de </a:t>
            </a:r>
            <a:r>
              <a:rPr lang="en-US" sz="2800" dirty="0" err="1" smtClean="0">
                <a:sym typeface="Symbol" panose="05050102010706020507" pitchFamily="18" charset="2"/>
              </a:rPr>
              <a:t>cada</a:t>
            </a:r>
            <a:r>
              <a:rPr lang="en-US" sz="2800" dirty="0" smtClean="0">
                <a:sym typeface="Symbol" panose="05050102010706020507" pitchFamily="18" charset="2"/>
              </a:rPr>
              <a:t> </a:t>
            </a:r>
            <a:r>
              <a:rPr lang="en-US" sz="2800" i="1" dirty="0" smtClean="0">
                <a:sym typeface="Symbol" panose="05050102010706020507" pitchFamily="18" charset="2"/>
              </a:rPr>
              <a:t>run</a:t>
            </a:r>
            <a:r>
              <a:rPr lang="en-US" sz="2800" dirty="0" smtClean="0">
                <a:sym typeface="Symbol" panose="05050102010706020507" pitchFamily="18" charset="2"/>
              </a:rPr>
              <a:t> </a:t>
            </a:r>
            <a:r>
              <a:rPr lang="en-US" sz="2800" dirty="0" err="1" smtClean="0">
                <a:sym typeface="Symbol" panose="05050102010706020507" pitchFamily="18" charset="2"/>
              </a:rPr>
              <a:t>es</a:t>
            </a:r>
            <a:r>
              <a:rPr lang="en-US" sz="2800" dirty="0" smtClean="0">
                <a:sym typeface="Symbol" panose="05050102010706020507" pitchFamily="18" charset="2"/>
              </a:rPr>
              <a:t> M </a:t>
            </a:r>
            <a:r>
              <a:rPr lang="en-US" sz="2800" dirty="0" err="1" smtClean="0">
                <a:sym typeface="Symbol" panose="05050102010706020507" pitchFamily="18" charset="2"/>
              </a:rPr>
              <a:t>páginas</a:t>
            </a:r>
            <a:r>
              <a:rPr lang="en-US" sz="2800" dirty="0" smtClean="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</a:p>
          <a:p>
            <a:pPr eaLnBrk="1" hangingPunct="1">
              <a:buFontTx/>
              <a:buNone/>
            </a:pPr>
            <a:endParaRPr lang="en-US" sz="2000" dirty="0" smtClean="0"/>
          </a:p>
          <a:p>
            <a:pPr eaLnBrk="1" hangingPunct="1">
              <a:buFontTx/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*</a:t>
            </a:r>
            <a:r>
              <a:rPr lang="en-US" sz="2000" dirty="0" smtClean="0"/>
              <a:t> </a:t>
            </a:r>
            <a:r>
              <a:rPr lang="en-US" sz="2000" dirty="0" err="1" smtClean="0"/>
              <a:t>Excepto</a:t>
            </a:r>
            <a:r>
              <a:rPr lang="en-US" sz="2000" dirty="0" smtClean="0"/>
              <a:t> </a:t>
            </a:r>
            <a:r>
              <a:rPr lang="en-US" sz="2000" dirty="0" err="1" smtClean="0"/>
              <a:t>una</a:t>
            </a:r>
            <a:r>
              <a:rPr lang="en-US" sz="2000" dirty="0" smtClean="0"/>
              <a:t> de </a:t>
            </a:r>
            <a:r>
              <a:rPr lang="en-US" sz="2000" dirty="0" err="1" smtClean="0"/>
              <a:t>ellas</a:t>
            </a:r>
            <a:r>
              <a:rPr lang="en-US" sz="2000" dirty="0" smtClean="0"/>
              <a:t> </a:t>
            </a:r>
            <a:r>
              <a:rPr lang="en-US" sz="2000" dirty="0" err="1" smtClean="0"/>
              <a:t>cuando</a:t>
            </a:r>
            <a:r>
              <a:rPr lang="en-US" sz="2000" dirty="0" smtClean="0"/>
              <a:t> la </a:t>
            </a:r>
            <a:r>
              <a:rPr lang="en-US" sz="2000" dirty="0" err="1" smtClean="0"/>
              <a:t>división</a:t>
            </a:r>
            <a:r>
              <a:rPr lang="en-US" sz="2000" dirty="0" smtClean="0"/>
              <a:t> no </a:t>
            </a:r>
            <a:r>
              <a:rPr lang="en-US" sz="2000" dirty="0" err="1" smtClean="0"/>
              <a:t>es</a:t>
            </a:r>
            <a:r>
              <a:rPr lang="en-US" sz="2000" dirty="0" smtClean="0"/>
              <a:t> exacta…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5080000" y="2124075"/>
            <a:ext cx="609600" cy="576263"/>
          </a:xfrm>
          <a:prstGeom prst="rect">
            <a:avLst/>
          </a:prstGeom>
          <a:solidFill>
            <a:schemeClr val="accent2">
              <a:alpha val="4509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38915" name="AutoShape 4"/>
          <p:cNvSpPr>
            <a:spLocks/>
          </p:cNvSpPr>
          <p:nvPr/>
        </p:nvSpPr>
        <p:spPr bwMode="auto">
          <a:xfrm rot="-5400000">
            <a:off x="4314032" y="1845469"/>
            <a:ext cx="360362" cy="7848600"/>
          </a:xfrm>
          <a:prstGeom prst="leftBrace">
            <a:avLst>
              <a:gd name="adj1" fmla="val 181498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8916" name="Text Box 8"/>
          <p:cNvSpPr txBox="1">
            <a:spLocks noChangeArrowheads="1"/>
          </p:cNvSpPr>
          <p:nvPr/>
        </p:nvSpPr>
        <p:spPr bwMode="auto">
          <a:xfrm>
            <a:off x="250825" y="2205038"/>
            <a:ext cx="7905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13   3</a:t>
            </a:r>
            <a:endParaRPr lang="es-ES_tradnl"/>
          </a:p>
        </p:txBody>
      </p:sp>
      <p:sp>
        <p:nvSpPr>
          <p:cNvPr id="38917" name="Text Box 9"/>
          <p:cNvSpPr txBox="1">
            <a:spLocks noChangeArrowheads="1"/>
          </p:cNvSpPr>
          <p:nvPr/>
        </p:nvSpPr>
        <p:spPr bwMode="auto">
          <a:xfrm>
            <a:off x="1114425" y="2205038"/>
            <a:ext cx="72072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2   6</a:t>
            </a:r>
            <a:endParaRPr lang="es-ES_tradnl"/>
          </a:p>
        </p:txBody>
      </p:sp>
      <p:sp>
        <p:nvSpPr>
          <p:cNvPr id="38918" name="Text Box 10"/>
          <p:cNvSpPr txBox="1">
            <a:spLocks noChangeArrowheads="1"/>
          </p:cNvSpPr>
          <p:nvPr/>
        </p:nvSpPr>
        <p:spPr bwMode="auto">
          <a:xfrm>
            <a:off x="1908175" y="2205038"/>
            <a:ext cx="7905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1   10</a:t>
            </a:r>
            <a:endParaRPr lang="es-ES_tradnl"/>
          </a:p>
        </p:txBody>
      </p:sp>
      <p:sp>
        <p:nvSpPr>
          <p:cNvPr id="38919" name="Text Box 11"/>
          <p:cNvSpPr txBox="1">
            <a:spLocks noChangeArrowheads="1"/>
          </p:cNvSpPr>
          <p:nvPr/>
        </p:nvSpPr>
        <p:spPr bwMode="auto">
          <a:xfrm>
            <a:off x="2771775" y="2205038"/>
            <a:ext cx="7905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15   7</a:t>
            </a:r>
            <a:endParaRPr lang="es-ES_tradnl"/>
          </a:p>
        </p:txBody>
      </p:sp>
      <p:sp>
        <p:nvSpPr>
          <p:cNvPr id="38920" name="Text Box 12"/>
          <p:cNvSpPr txBox="1">
            <a:spLocks noChangeArrowheads="1"/>
          </p:cNvSpPr>
          <p:nvPr/>
        </p:nvSpPr>
        <p:spPr bwMode="auto">
          <a:xfrm>
            <a:off x="3779838" y="2205038"/>
            <a:ext cx="8636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20  11</a:t>
            </a:r>
            <a:endParaRPr lang="es-ES_tradnl"/>
          </a:p>
        </p:txBody>
      </p:sp>
      <p:sp>
        <p:nvSpPr>
          <p:cNvPr id="38921" name="Text Box 13"/>
          <p:cNvSpPr txBox="1">
            <a:spLocks noChangeArrowheads="1"/>
          </p:cNvSpPr>
          <p:nvPr/>
        </p:nvSpPr>
        <p:spPr bwMode="auto">
          <a:xfrm>
            <a:off x="4718050" y="2205038"/>
            <a:ext cx="64611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8   4</a:t>
            </a:r>
            <a:endParaRPr lang="es-ES_tradnl"/>
          </a:p>
        </p:txBody>
      </p:sp>
      <p:sp>
        <p:nvSpPr>
          <p:cNvPr id="38922" name="Text Box 14"/>
          <p:cNvSpPr txBox="1">
            <a:spLocks noChangeArrowheads="1"/>
          </p:cNvSpPr>
          <p:nvPr/>
        </p:nvSpPr>
        <p:spPr bwMode="auto">
          <a:xfrm>
            <a:off x="5435600" y="2205038"/>
            <a:ext cx="7905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18   5</a:t>
            </a:r>
            <a:endParaRPr lang="es-ES_tradnl"/>
          </a:p>
        </p:txBody>
      </p:sp>
      <p:sp>
        <p:nvSpPr>
          <p:cNvPr id="38923" name="Text Box 15"/>
          <p:cNvSpPr txBox="1">
            <a:spLocks noChangeArrowheads="1"/>
          </p:cNvSpPr>
          <p:nvPr/>
        </p:nvSpPr>
        <p:spPr bwMode="auto">
          <a:xfrm>
            <a:off x="6299200" y="2205038"/>
            <a:ext cx="6477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9   0</a:t>
            </a:r>
            <a:endParaRPr lang="es-ES_tradnl"/>
          </a:p>
        </p:txBody>
      </p:sp>
      <p:sp>
        <p:nvSpPr>
          <p:cNvPr id="38924" name="Text Box 16"/>
          <p:cNvSpPr txBox="1">
            <a:spLocks noChangeArrowheads="1"/>
          </p:cNvSpPr>
          <p:nvPr/>
        </p:nvSpPr>
        <p:spPr bwMode="auto">
          <a:xfrm>
            <a:off x="7094538" y="2205038"/>
            <a:ext cx="8636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12  21</a:t>
            </a:r>
            <a:endParaRPr lang="es-ES_tradnl"/>
          </a:p>
        </p:txBody>
      </p:sp>
      <p:sp>
        <p:nvSpPr>
          <p:cNvPr id="38925" name="Text Box 17"/>
          <p:cNvSpPr txBox="1">
            <a:spLocks noChangeArrowheads="1"/>
          </p:cNvSpPr>
          <p:nvPr/>
        </p:nvSpPr>
        <p:spPr bwMode="auto">
          <a:xfrm>
            <a:off x="8029575" y="2205038"/>
            <a:ext cx="8636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19  14</a:t>
            </a:r>
            <a:endParaRPr lang="es-ES_tradnl"/>
          </a:p>
        </p:txBody>
      </p:sp>
      <p:sp>
        <p:nvSpPr>
          <p:cNvPr id="38926" name="Text Box 18"/>
          <p:cNvSpPr txBox="1">
            <a:spLocks noChangeArrowheads="1"/>
          </p:cNvSpPr>
          <p:nvPr/>
        </p:nvSpPr>
        <p:spPr bwMode="auto">
          <a:xfrm>
            <a:off x="131763" y="4278313"/>
            <a:ext cx="7905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1   2</a:t>
            </a:r>
            <a:endParaRPr lang="es-ES_tradnl"/>
          </a:p>
        </p:txBody>
      </p:sp>
      <p:sp>
        <p:nvSpPr>
          <p:cNvPr id="38927" name="Text Box 19"/>
          <p:cNvSpPr txBox="1">
            <a:spLocks noChangeArrowheads="1"/>
          </p:cNvSpPr>
          <p:nvPr/>
        </p:nvSpPr>
        <p:spPr bwMode="auto">
          <a:xfrm>
            <a:off x="995363" y="4278313"/>
            <a:ext cx="72072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3   6</a:t>
            </a:r>
            <a:endParaRPr lang="es-ES_tradnl"/>
          </a:p>
        </p:txBody>
      </p:sp>
      <p:sp>
        <p:nvSpPr>
          <p:cNvPr id="38928" name="Text Box 20"/>
          <p:cNvSpPr txBox="1">
            <a:spLocks noChangeArrowheads="1"/>
          </p:cNvSpPr>
          <p:nvPr/>
        </p:nvSpPr>
        <p:spPr bwMode="auto">
          <a:xfrm>
            <a:off x="1789113" y="4278313"/>
            <a:ext cx="7905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7   10</a:t>
            </a:r>
            <a:endParaRPr lang="es-ES_tradnl"/>
          </a:p>
        </p:txBody>
      </p:sp>
      <p:sp>
        <p:nvSpPr>
          <p:cNvPr id="38929" name="Text Box 21"/>
          <p:cNvSpPr txBox="1">
            <a:spLocks noChangeArrowheads="1"/>
          </p:cNvSpPr>
          <p:nvPr/>
        </p:nvSpPr>
        <p:spPr bwMode="auto">
          <a:xfrm>
            <a:off x="2652713" y="4278313"/>
            <a:ext cx="8286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13  15</a:t>
            </a:r>
            <a:endParaRPr lang="es-ES_tradnl"/>
          </a:p>
        </p:txBody>
      </p:sp>
      <p:sp>
        <p:nvSpPr>
          <p:cNvPr id="38930" name="Text Box 22"/>
          <p:cNvSpPr txBox="1">
            <a:spLocks noChangeArrowheads="1"/>
          </p:cNvSpPr>
          <p:nvPr/>
        </p:nvSpPr>
        <p:spPr bwMode="auto">
          <a:xfrm>
            <a:off x="3738563" y="4278313"/>
            <a:ext cx="685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0  4</a:t>
            </a:r>
            <a:endParaRPr lang="es-ES_tradnl"/>
          </a:p>
        </p:txBody>
      </p:sp>
      <p:sp>
        <p:nvSpPr>
          <p:cNvPr id="38931" name="Text Box 23"/>
          <p:cNvSpPr txBox="1">
            <a:spLocks noChangeArrowheads="1"/>
          </p:cNvSpPr>
          <p:nvPr/>
        </p:nvSpPr>
        <p:spPr bwMode="auto">
          <a:xfrm>
            <a:off x="4495800" y="4278313"/>
            <a:ext cx="64611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5  8</a:t>
            </a:r>
            <a:endParaRPr lang="es-ES_tradnl"/>
          </a:p>
        </p:txBody>
      </p:sp>
      <p:sp>
        <p:nvSpPr>
          <p:cNvPr id="38932" name="Text Box 24"/>
          <p:cNvSpPr txBox="1">
            <a:spLocks noChangeArrowheads="1"/>
          </p:cNvSpPr>
          <p:nvPr/>
        </p:nvSpPr>
        <p:spPr bwMode="auto">
          <a:xfrm>
            <a:off x="5216525" y="4278313"/>
            <a:ext cx="7905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9  11</a:t>
            </a:r>
            <a:endParaRPr lang="es-ES_tradnl"/>
          </a:p>
        </p:txBody>
      </p:sp>
      <p:sp>
        <p:nvSpPr>
          <p:cNvPr id="38933" name="Text Box 25"/>
          <p:cNvSpPr txBox="1">
            <a:spLocks noChangeArrowheads="1"/>
          </p:cNvSpPr>
          <p:nvPr/>
        </p:nvSpPr>
        <p:spPr bwMode="auto">
          <a:xfrm>
            <a:off x="6080125" y="4278313"/>
            <a:ext cx="9017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18   20</a:t>
            </a:r>
            <a:endParaRPr lang="es-ES_tradnl"/>
          </a:p>
        </p:txBody>
      </p:sp>
      <p:sp>
        <p:nvSpPr>
          <p:cNvPr id="38934" name="Text Box 26"/>
          <p:cNvSpPr txBox="1">
            <a:spLocks noChangeArrowheads="1"/>
          </p:cNvSpPr>
          <p:nvPr/>
        </p:nvSpPr>
        <p:spPr bwMode="auto">
          <a:xfrm>
            <a:off x="7196138" y="4278313"/>
            <a:ext cx="8636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12  14</a:t>
            </a:r>
            <a:endParaRPr lang="es-ES_tradnl"/>
          </a:p>
        </p:txBody>
      </p:sp>
      <p:sp>
        <p:nvSpPr>
          <p:cNvPr id="38935" name="Text Box 27"/>
          <p:cNvSpPr txBox="1">
            <a:spLocks noChangeArrowheads="1"/>
          </p:cNvSpPr>
          <p:nvPr/>
        </p:nvSpPr>
        <p:spPr bwMode="auto">
          <a:xfrm>
            <a:off x="8131175" y="4278313"/>
            <a:ext cx="8636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/>
              <a:t>19  21</a:t>
            </a:r>
            <a:endParaRPr lang="es-ES_tradnl"/>
          </a:p>
        </p:txBody>
      </p:sp>
      <p:sp>
        <p:nvSpPr>
          <p:cNvPr id="38936" name="Rectangle 28"/>
          <p:cNvSpPr>
            <a:spLocks noChangeArrowheads="1"/>
          </p:cNvSpPr>
          <p:nvPr/>
        </p:nvSpPr>
        <p:spPr bwMode="auto">
          <a:xfrm>
            <a:off x="66675" y="4119563"/>
            <a:ext cx="3490913" cy="72072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8937" name="Rectangle 29"/>
          <p:cNvSpPr>
            <a:spLocks noChangeArrowheads="1"/>
          </p:cNvSpPr>
          <p:nvPr/>
        </p:nvSpPr>
        <p:spPr bwMode="auto">
          <a:xfrm>
            <a:off x="3667125" y="4119563"/>
            <a:ext cx="3384550" cy="72072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8938" name="Rectangle 31"/>
          <p:cNvSpPr>
            <a:spLocks noChangeArrowheads="1"/>
          </p:cNvSpPr>
          <p:nvPr/>
        </p:nvSpPr>
        <p:spPr bwMode="auto">
          <a:xfrm>
            <a:off x="7123113" y="4127500"/>
            <a:ext cx="1979612" cy="72072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8939" name="AutoShape 32"/>
          <p:cNvSpPr>
            <a:spLocks/>
          </p:cNvSpPr>
          <p:nvPr/>
        </p:nvSpPr>
        <p:spPr bwMode="auto">
          <a:xfrm rot="16200000" flipH="1">
            <a:off x="1799432" y="1161256"/>
            <a:ext cx="215900" cy="3313113"/>
          </a:xfrm>
          <a:prstGeom prst="rightBrace">
            <a:avLst>
              <a:gd name="adj1" fmla="val 127880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8940" name="AutoShape 33"/>
          <p:cNvSpPr>
            <a:spLocks/>
          </p:cNvSpPr>
          <p:nvPr/>
        </p:nvSpPr>
        <p:spPr bwMode="auto">
          <a:xfrm rot="16200000" flipH="1">
            <a:off x="5256213" y="1233488"/>
            <a:ext cx="215900" cy="3168650"/>
          </a:xfrm>
          <a:prstGeom prst="rightBrace">
            <a:avLst>
              <a:gd name="adj1" fmla="val 122304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8941" name="AutoShape 34"/>
          <p:cNvSpPr>
            <a:spLocks/>
          </p:cNvSpPr>
          <p:nvPr/>
        </p:nvSpPr>
        <p:spPr bwMode="auto">
          <a:xfrm rot="16200000" flipH="1">
            <a:off x="7885113" y="1917700"/>
            <a:ext cx="215900" cy="1800225"/>
          </a:xfrm>
          <a:prstGeom prst="rightBrace">
            <a:avLst>
              <a:gd name="adj1" fmla="val 69485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8942" name="Text Box 35"/>
          <p:cNvSpPr txBox="1">
            <a:spLocks noChangeArrowheads="1"/>
          </p:cNvSpPr>
          <p:nvPr/>
        </p:nvSpPr>
        <p:spPr bwMode="auto">
          <a:xfrm>
            <a:off x="1249363" y="4941888"/>
            <a:ext cx="1008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i="1" dirty="0" err="1"/>
              <a:t>Run</a:t>
            </a:r>
            <a:r>
              <a:rPr lang="es-CO" dirty="0"/>
              <a:t> 1</a:t>
            </a:r>
            <a:endParaRPr lang="es-ES_tradnl" dirty="0"/>
          </a:p>
        </p:txBody>
      </p:sp>
      <p:sp>
        <p:nvSpPr>
          <p:cNvPr id="38943" name="Text Box 36"/>
          <p:cNvSpPr txBox="1">
            <a:spLocks noChangeArrowheads="1"/>
          </p:cNvSpPr>
          <p:nvPr/>
        </p:nvSpPr>
        <p:spPr bwMode="auto">
          <a:xfrm>
            <a:off x="4633913" y="4941888"/>
            <a:ext cx="10810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i="1" dirty="0" err="1"/>
              <a:t>Run</a:t>
            </a:r>
            <a:r>
              <a:rPr lang="es-CO" dirty="0"/>
              <a:t> 2</a:t>
            </a:r>
            <a:endParaRPr lang="es-ES_tradnl" dirty="0"/>
          </a:p>
        </p:txBody>
      </p:sp>
      <p:sp>
        <p:nvSpPr>
          <p:cNvPr id="38944" name="Text Box 37"/>
          <p:cNvSpPr txBox="1">
            <a:spLocks noChangeArrowheads="1"/>
          </p:cNvSpPr>
          <p:nvPr/>
        </p:nvSpPr>
        <p:spPr bwMode="auto">
          <a:xfrm>
            <a:off x="7481888" y="4941888"/>
            <a:ext cx="1225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i="1" dirty="0" err="1"/>
              <a:t>Run</a:t>
            </a:r>
            <a:r>
              <a:rPr lang="es-CO" dirty="0"/>
              <a:t> 3</a:t>
            </a:r>
            <a:endParaRPr lang="es-ES_tradnl" dirty="0"/>
          </a:p>
        </p:txBody>
      </p:sp>
      <p:sp>
        <p:nvSpPr>
          <p:cNvPr id="38945" name="Text Box 38"/>
          <p:cNvSpPr txBox="1">
            <a:spLocks noChangeArrowheads="1"/>
          </p:cNvSpPr>
          <p:nvPr/>
        </p:nvSpPr>
        <p:spPr bwMode="auto">
          <a:xfrm>
            <a:off x="3008313" y="6072188"/>
            <a:ext cx="29527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 dirty="0"/>
              <a:t>Cada </a:t>
            </a:r>
            <a:r>
              <a:rPr lang="es-CO" i="1" dirty="0" err="1"/>
              <a:t>run</a:t>
            </a:r>
            <a:r>
              <a:rPr lang="es-CO" dirty="0"/>
              <a:t> está ordenada</a:t>
            </a:r>
            <a:endParaRPr lang="es-ES_tradnl" dirty="0"/>
          </a:p>
        </p:txBody>
      </p:sp>
      <p:sp>
        <p:nvSpPr>
          <p:cNvPr id="38946" name="AutoShape 39"/>
          <p:cNvSpPr>
            <a:spLocks noChangeArrowheads="1"/>
          </p:cNvSpPr>
          <p:nvPr/>
        </p:nvSpPr>
        <p:spPr bwMode="auto">
          <a:xfrm>
            <a:off x="1619250" y="3070225"/>
            <a:ext cx="504825" cy="792163"/>
          </a:xfrm>
          <a:prstGeom prst="downArrow">
            <a:avLst>
              <a:gd name="adj1" fmla="val 50000"/>
              <a:gd name="adj2" fmla="val 39230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8947" name="AutoShape 40"/>
          <p:cNvSpPr>
            <a:spLocks noChangeArrowheads="1"/>
          </p:cNvSpPr>
          <p:nvPr/>
        </p:nvSpPr>
        <p:spPr bwMode="auto">
          <a:xfrm>
            <a:off x="5076825" y="3141663"/>
            <a:ext cx="504825" cy="792162"/>
          </a:xfrm>
          <a:prstGeom prst="downArrow">
            <a:avLst>
              <a:gd name="adj1" fmla="val 50000"/>
              <a:gd name="adj2" fmla="val 39230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38948" name="AutoShape 41"/>
          <p:cNvSpPr>
            <a:spLocks noChangeArrowheads="1"/>
          </p:cNvSpPr>
          <p:nvPr/>
        </p:nvSpPr>
        <p:spPr bwMode="auto">
          <a:xfrm>
            <a:off x="7740650" y="3141663"/>
            <a:ext cx="504825" cy="792162"/>
          </a:xfrm>
          <a:prstGeom prst="downArrow">
            <a:avLst>
              <a:gd name="adj1" fmla="val 50000"/>
              <a:gd name="adj2" fmla="val 39230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Char char="-"/>
            </a:pPr>
            <a:r>
              <a:rPr lang="en-US" dirty="0" err="1" smtClean="0"/>
              <a:t>Costo</a:t>
            </a:r>
            <a:r>
              <a:rPr lang="en-US" dirty="0" smtClean="0"/>
              <a:t> del </a:t>
            </a:r>
            <a:r>
              <a:rPr lang="en-US" i="1" dirty="0" smtClean="0"/>
              <a:t>K-way merge</a:t>
            </a:r>
          </a:p>
          <a:p>
            <a:pPr eaLnBrk="1" hangingPunct="1">
              <a:buFontTx/>
              <a:buNone/>
            </a:pPr>
            <a:r>
              <a:rPr lang="en-US" dirty="0" err="1" smtClean="0"/>
              <a:t>Supongamos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hay N = 16 </a:t>
            </a:r>
            <a:r>
              <a:rPr lang="en-US" i="1" dirty="0" smtClean="0"/>
              <a:t>run</a:t>
            </a:r>
            <a:r>
              <a:rPr lang="en-US" dirty="0" smtClean="0"/>
              <a:t>s </a:t>
            </a:r>
          </a:p>
          <a:p>
            <a:pPr eaLnBrk="1" hangingPunct="1">
              <a:buFontTx/>
              <a:buNone/>
            </a:pPr>
            <a:r>
              <a:rPr lang="en-US" dirty="0" err="1" smtClean="0"/>
              <a:t>ordenadas</a:t>
            </a:r>
            <a:r>
              <a:rPr lang="en-US" dirty="0" smtClean="0"/>
              <a:t> </a:t>
            </a:r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una</a:t>
            </a:r>
            <a:r>
              <a:rPr lang="en-US" dirty="0" smtClean="0"/>
              <a:t> de 4 </a:t>
            </a:r>
            <a:r>
              <a:rPr lang="en-US" dirty="0" err="1" smtClean="0"/>
              <a:t>páginas</a:t>
            </a:r>
            <a:r>
              <a:rPr lang="en-US" dirty="0" smtClean="0"/>
              <a:t>.</a:t>
            </a:r>
          </a:p>
          <a:p>
            <a:pPr eaLnBrk="1" hangingPunct="1">
              <a:buFontTx/>
              <a:buNone/>
            </a:pPr>
            <a:r>
              <a:rPr lang="en-US" dirty="0" smtClean="0"/>
              <a:t>Sea M = 5</a:t>
            </a:r>
          </a:p>
          <a:p>
            <a:pPr eaLnBrk="1" hangingPunct="1">
              <a:buFontTx/>
              <a:buNone/>
            </a:pPr>
            <a:r>
              <a:rPr lang="en-US" dirty="0" smtClean="0"/>
              <a:t>Como se </a:t>
            </a:r>
            <a:r>
              <a:rPr lang="en-US" dirty="0" err="1" smtClean="0"/>
              <a:t>requiere</a:t>
            </a:r>
            <a:r>
              <a:rPr lang="en-US" dirty="0" smtClean="0"/>
              <a:t>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página</a:t>
            </a:r>
            <a:r>
              <a:rPr lang="en-US" dirty="0" smtClean="0"/>
              <a:t> para </a:t>
            </a:r>
            <a:r>
              <a:rPr lang="en-US" dirty="0" err="1" smtClean="0"/>
              <a:t>generar</a:t>
            </a:r>
            <a:r>
              <a:rPr lang="en-US" dirty="0" smtClean="0"/>
              <a:t> </a:t>
            </a:r>
          </a:p>
          <a:p>
            <a:pPr eaLnBrk="1" hangingPunct="1">
              <a:buFontTx/>
              <a:buNone/>
            </a:pPr>
            <a:r>
              <a:rPr lang="en-US" dirty="0" smtClean="0"/>
              <a:t>la </a:t>
            </a:r>
            <a:r>
              <a:rPr lang="en-US" dirty="0" err="1" smtClean="0"/>
              <a:t>salida</a:t>
            </a:r>
            <a:r>
              <a:rPr lang="en-US" dirty="0" smtClean="0"/>
              <a:t>, se </a:t>
            </a:r>
            <a:r>
              <a:rPr lang="en-US" dirty="0" err="1" smtClean="0"/>
              <a:t>puede</a:t>
            </a:r>
            <a:r>
              <a:rPr lang="en-US" dirty="0" smtClean="0"/>
              <a:t> </a:t>
            </a:r>
            <a:r>
              <a:rPr lang="en-US" dirty="0" err="1" smtClean="0"/>
              <a:t>usar</a:t>
            </a:r>
            <a:r>
              <a:rPr lang="en-US" dirty="0" smtClean="0"/>
              <a:t> un </a:t>
            </a:r>
            <a:r>
              <a:rPr lang="en-US" i="1" dirty="0" smtClean="0"/>
              <a:t>4-way merge</a:t>
            </a:r>
            <a:r>
              <a:rPr lang="en-US" dirty="0" smtClean="0"/>
              <a:t> </a:t>
            </a:r>
          </a:p>
          <a:p>
            <a:pPr eaLnBrk="1" hangingPunct="1">
              <a:buFontTx/>
              <a:buNone/>
            </a:pPr>
            <a:r>
              <a:rPr lang="en-US" dirty="0" err="1" smtClean="0"/>
              <a:t>como</a:t>
            </a:r>
            <a:r>
              <a:rPr lang="en-US" dirty="0" smtClean="0"/>
              <a:t> </a:t>
            </a:r>
            <a:r>
              <a:rPr lang="en-US" dirty="0" err="1" smtClean="0"/>
              <a:t>máximo</a:t>
            </a:r>
            <a:r>
              <a:rPr lang="en-US" dirty="0" smtClean="0"/>
              <a:t>. </a:t>
            </a:r>
            <a:r>
              <a:rPr lang="en-US" dirty="0" err="1" smtClean="0"/>
              <a:t>Gráficamente</a:t>
            </a:r>
            <a:r>
              <a:rPr lang="en-US" dirty="0" smtClean="0"/>
              <a:t>:</a:t>
            </a:r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827088" y="19891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1258888" y="19891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1690688" y="19891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2124075" y="19891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971550" y="2997200"/>
            <a:ext cx="360363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1331913" y="2997200"/>
            <a:ext cx="360362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68" name="Rectangle 8"/>
          <p:cNvSpPr>
            <a:spLocks noChangeArrowheads="1"/>
          </p:cNvSpPr>
          <p:nvPr/>
        </p:nvSpPr>
        <p:spPr bwMode="auto">
          <a:xfrm>
            <a:off x="1692275" y="2997200"/>
            <a:ext cx="360363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69" name="Rectangle 9"/>
          <p:cNvSpPr>
            <a:spLocks noChangeArrowheads="1"/>
          </p:cNvSpPr>
          <p:nvPr/>
        </p:nvSpPr>
        <p:spPr bwMode="auto">
          <a:xfrm>
            <a:off x="2052638" y="2997200"/>
            <a:ext cx="360362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70" name="Rectangle 10"/>
          <p:cNvSpPr>
            <a:spLocks noChangeArrowheads="1"/>
          </p:cNvSpPr>
          <p:nvPr/>
        </p:nvSpPr>
        <p:spPr bwMode="auto">
          <a:xfrm>
            <a:off x="2698750" y="2997200"/>
            <a:ext cx="360363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71" name="Rectangle 11"/>
          <p:cNvSpPr>
            <a:spLocks noChangeArrowheads="1"/>
          </p:cNvSpPr>
          <p:nvPr/>
        </p:nvSpPr>
        <p:spPr bwMode="auto">
          <a:xfrm>
            <a:off x="3059113" y="2997200"/>
            <a:ext cx="360362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72" name="Rectangle 12"/>
          <p:cNvSpPr>
            <a:spLocks noChangeArrowheads="1"/>
          </p:cNvSpPr>
          <p:nvPr/>
        </p:nvSpPr>
        <p:spPr bwMode="auto">
          <a:xfrm>
            <a:off x="3419475" y="2997200"/>
            <a:ext cx="360363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73" name="Rectangle 13"/>
          <p:cNvSpPr>
            <a:spLocks noChangeArrowheads="1"/>
          </p:cNvSpPr>
          <p:nvPr/>
        </p:nvSpPr>
        <p:spPr bwMode="auto">
          <a:xfrm>
            <a:off x="3779838" y="2997200"/>
            <a:ext cx="360362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74" name="Rectangle 14"/>
          <p:cNvSpPr>
            <a:spLocks noChangeArrowheads="1"/>
          </p:cNvSpPr>
          <p:nvPr/>
        </p:nvSpPr>
        <p:spPr bwMode="auto">
          <a:xfrm>
            <a:off x="4427538" y="2997200"/>
            <a:ext cx="360362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4787900" y="2997200"/>
            <a:ext cx="360363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76" name="Rectangle 16"/>
          <p:cNvSpPr>
            <a:spLocks noChangeArrowheads="1"/>
          </p:cNvSpPr>
          <p:nvPr/>
        </p:nvSpPr>
        <p:spPr bwMode="auto">
          <a:xfrm>
            <a:off x="5148263" y="2997200"/>
            <a:ext cx="360362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77" name="Rectangle 17"/>
          <p:cNvSpPr>
            <a:spLocks noChangeArrowheads="1"/>
          </p:cNvSpPr>
          <p:nvPr/>
        </p:nvSpPr>
        <p:spPr bwMode="auto">
          <a:xfrm>
            <a:off x="5508625" y="2997200"/>
            <a:ext cx="360363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78" name="Rectangle 18"/>
          <p:cNvSpPr>
            <a:spLocks noChangeArrowheads="1"/>
          </p:cNvSpPr>
          <p:nvPr/>
        </p:nvSpPr>
        <p:spPr bwMode="auto">
          <a:xfrm>
            <a:off x="6083300" y="2997200"/>
            <a:ext cx="360363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79" name="Rectangle 19"/>
          <p:cNvSpPr>
            <a:spLocks noChangeArrowheads="1"/>
          </p:cNvSpPr>
          <p:nvPr/>
        </p:nvSpPr>
        <p:spPr bwMode="auto">
          <a:xfrm>
            <a:off x="6443663" y="2997200"/>
            <a:ext cx="360362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80" name="Rectangle 20"/>
          <p:cNvSpPr>
            <a:spLocks noChangeArrowheads="1"/>
          </p:cNvSpPr>
          <p:nvPr/>
        </p:nvSpPr>
        <p:spPr bwMode="auto">
          <a:xfrm>
            <a:off x="6804025" y="2997200"/>
            <a:ext cx="360363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81" name="Rectangle 21"/>
          <p:cNvSpPr>
            <a:spLocks noChangeArrowheads="1"/>
          </p:cNvSpPr>
          <p:nvPr/>
        </p:nvSpPr>
        <p:spPr bwMode="auto">
          <a:xfrm>
            <a:off x="7164388" y="2997200"/>
            <a:ext cx="360362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82" name="AutoShape 22"/>
          <p:cNvSpPr>
            <a:spLocks/>
          </p:cNvSpPr>
          <p:nvPr/>
        </p:nvSpPr>
        <p:spPr bwMode="auto">
          <a:xfrm rot="-5400000">
            <a:off x="1506538" y="1987550"/>
            <a:ext cx="287337" cy="1439863"/>
          </a:xfrm>
          <a:prstGeom prst="leftBrace">
            <a:avLst>
              <a:gd name="adj1" fmla="val 4175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83" name="AutoShape 23"/>
          <p:cNvSpPr>
            <a:spLocks/>
          </p:cNvSpPr>
          <p:nvPr/>
        </p:nvSpPr>
        <p:spPr bwMode="auto">
          <a:xfrm rot="-5400000">
            <a:off x="3265488" y="1989137"/>
            <a:ext cx="287338" cy="1439863"/>
          </a:xfrm>
          <a:prstGeom prst="leftBrace">
            <a:avLst>
              <a:gd name="adj1" fmla="val 4175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84" name="AutoShape 24"/>
          <p:cNvSpPr>
            <a:spLocks/>
          </p:cNvSpPr>
          <p:nvPr/>
        </p:nvSpPr>
        <p:spPr bwMode="auto">
          <a:xfrm rot="-5400000">
            <a:off x="5065713" y="1987550"/>
            <a:ext cx="287337" cy="1439863"/>
          </a:xfrm>
          <a:prstGeom prst="leftBrace">
            <a:avLst>
              <a:gd name="adj1" fmla="val 4175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85" name="AutoShape 25"/>
          <p:cNvSpPr>
            <a:spLocks/>
          </p:cNvSpPr>
          <p:nvPr/>
        </p:nvSpPr>
        <p:spPr bwMode="auto">
          <a:xfrm rot="-5400000">
            <a:off x="6783388" y="1987550"/>
            <a:ext cx="287337" cy="1439863"/>
          </a:xfrm>
          <a:prstGeom prst="leftBrace">
            <a:avLst>
              <a:gd name="adj1" fmla="val 4175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86" name="Rectangle 26"/>
          <p:cNvSpPr>
            <a:spLocks noChangeArrowheads="1"/>
          </p:cNvSpPr>
          <p:nvPr/>
        </p:nvSpPr>
        <p:spPr bwMode="auto">
          <a:xfrm>
            <a:off x="2987675" y="3933825"/>
            <a:ext cx="360363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87" name="Rectangle 27"/>
          <p:cNvSpPr>
            <a:spLocks noChangeArrowheads="1"/>
          </p:cNvSpPr>
          <p:nvPr/>
        </p:nvSpPr>
        <p:spPr bwMode="auto">
          <a:xfrm>
            <a:off x="3348038" y="39322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88" name="Rectangle 28"/>
          <p:cNvSpPr>
            <a:spLocks noChangeArrowheads="1"/>
          </p:cNvSpPr>
          <p:nvPr/>
        </p:nvSpPr>
        <p:spPr bwMode="auto">
          <a:xfrm>
            <a:off x="3708400" y="39322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89" name="Rectangle 29"/>
          <p:cNvSpPr>
            <a:spLocks noChangeArrowheads="1"/>
          </p:cNvSpPr>
          <p:nvPr/>
        </p:nvSpPr>
        <p:spPr bwMode="auto">
          <a:xfrm>
            <a:off x="4067175" y="39322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90" name="Rectangle 30"/>
          <p:cNvSpPr>
            <a:spLocks noChangeArrowheads="1"/>
          </p:cNvSpPr>
          <p:nvPr/>
        </p:nvSpPr>
        <p:spPr bwMode="auto">
          <a:xfrm>
            <a:off x="4427538" y="39322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91" name="Rectangle 31"/>
          <p:cNvSpPr>
            <a:spLocks noChangeArrowheads="1"/>
          </p:cNvSpPr>
          <p:nvPr/>
        </p:nvSpPr>
        <p:spPr bwMode="auto">
          <a:xfrm>
            <a:off x="4787900" y="39322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92" name="Rectangle 32"/>
          <p:cNvSpPr>
            <a:spLocks noChangeArrowheads="1"/>
          </p:cNvSpPr>
          <p:nvPr/>
        </p:nvSpPr>
        <p:spPr bwMode="auto">
          <a:xfrm>
            <a:off x="5148263" y="39322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93" name="Rectangle 33"/>
          <p:cNvSpPr>
            <a:spLocks noChangeArrowheads="1"/>
          </p:cNvSpPr>
          <p:nvPr/>
        </p:nvSpPr>
        <p:spPr bwMode="auto">
          <a:xfrm>
            <a:off x="5508625" y="39322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94" name="Rectangle 34"/>
          <p:cNvSpPr>
            <a:spLocks noChangeArrowheads="1"/>
          </p:cNvSpPr>
          <p:nvPr/>
        </p:nvSpPr>
        <p:spPr bwMode="auto">
          <a:xfrm>
            <a:off x="5868988" y="39322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95" name="Rectangle 35"/>
          <p:cNvSpPr>
            <a:spLocks noChangeArrowheads="1"/>
          </p:cNvSpPr>
          <p:nvPr/>
        </p:nvSpPr>
        <p:spPr bwMode="auto">
          <a:xfrm>
            <a:off x="6229350" y="39322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96" name="Rectangle 36"/>
          <p:cNvSpPr>
            <a:spLocks noChangeArrowheads="1"/>
          </p:cNvSpPr>
          <p:nvPr/>
        </p:nvSpPr>
        <p:spPr bwMode="auto">
          <a:xfrm>
            <a:off x="6589713" y="39322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97" name="Rectangle 37"/>
          <p:cNvSpPr>
            <a:spLocks noChangeArrowheads="1"/>
          </p:cNvSpPr>
          <p:nvPr/>
        </p:nvSpPr>
        <p:spPr bwMode="auto">
          <a:xfrm>
            <a:off x="1544638" y="39322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98" name="Rectangle 38"/>
          <p:cNvSpPr>
            <a:spLocks noChangeArrowheads="1"/>
          </p:cNvSpPr>
          <p:nvPr/>
        </p:nvSpPr>
        <p:spPr bwMode="auto">
          <a:xfrm>
            <a:off x="1905000" y="39322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0999" name="Rectangle 39"/>
          <p:cNvSpPr>
            <a:spLocks noChangeArrowheads="1"/>
          </p:cNvSpPr>
          <p:nvPr/>
        </p:nvSpPr>
        <p:spPr bwMode="auto">
          <a:xfrm>
            <a:off x="2265363" y="39322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00" name="Rectangle 40"/>
          <p:cNvSpPr>
            <a:spLocks noChangeArrowheads="1"/>
          </p:cNvSpPr>
          <p:nvPr/>
        </p:nvSpPr>
        <p:spPr bwMode="auto">
          <a:xfrm>
            <a:off x="2625725" y="39322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01" name="AutoShape 41"/>
          <p:cNvSpPr>
            <a:spLocks/>
          </p:cNvSpPr>
          <p:nvPr/>
        </p:nvSpPr>
        <p:spPr bwMode="auto">
          <a:xfrm rot="-5400000">
            <a:off x="4104482" y="729456"/>
            <a:ext cx="287338" cy="5832475"/>
          </a:xfrm>
          <a:prstGeom prst="leftBrace">
            <a:avLst>
              <a:gd name="adj1" fmla="val 16915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02" name="Text Box 42"/>
          <p:cNvSpPr txBox="1">
            <a:spLocks noChangeArrowheads="1"/>
          </p:cNvSpPr>
          <p:nvPr/>
        </p:nvSpPr>
        <p:spPr bwMode="auto">
          <a:xfrm>
            <a:off x="179388" y="5013325"/>
            <a:ext cx="3924300" cy="187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Paso 1: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Se </a:t>
            </a:r>
            <a:r>
              <a:rPr lang="en-US" b="1" dirty="0">
                <a:solidFill>
                  <a:schemeClr val="accent2"/>
                </a:solidFill>
              </a:rPr>
              <a:t>lee</a:t>
            </a:r>
            <a:r>
              <a:rPr lang="en-US" dirty="0"/>
              <a:t> y </a:t>
            </a:r>
            <a:r>
              <a:rPr lang="en-US" b="1" dirty="0" err="1">
                <a:solidFill>
                  <a:schemeClr val="accent2"/>
                </a:solidFill>
              </a:rPr>
              <a:t>escribe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i="1" dirty="0"/>
              <a:t>run</a:t>
            </a:r>
            <a:r>
              <a:rPr lang="en-US" dirty="0"/>
              <a:t> </a:t>
            </a:r>
            <a:r>
              <a:rPr lang="en-US" dirty="0" err="1"/>
              <a:t>cuyo</a:t>
            </a:r>
            <a:r>
              <a:rPr lang="en-US" dirty="0"/>
              <a:t> </a:t>
            </a:r>
            <a:r>
              <a:rPr lang="en-US" dirty="0" err="1"/>
              <a:t>tamaño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M (</a:t>
            </a:r>
            <a:r>
              <a:rPr lang="en-US" dirty="0" smtClean="0"/>
              <a:t>M-1 </a:t>
            </a:r>
            <a:r>
              <a:rPr lang="es-ES" dirty="0" smtClean="0">
                <a:sym typeface="Symbol" panose="05050102010706020507" pitchFamily="18" charset="2"/>
              </a:rPr>
              <a:t> </a:t>
            </a:r>
            <a:r>
              <a:rPr lang="es-ES" dirty="0">
                <a:sym typeface="Symbol" panose="05050102010706020507" pitchFamily="18" charset="2"/>
              </a:rPr>
              <a:t>M</a:t>
            </a:r>
            <a:r>
              <a:rPr lang="en-US" dirty="0" smtClean="0"/>
              <a:t>) (</a:t>
            </a:r>
            <a:r>
              <a:rPr lang="en-US" b="1" dirty="0"/>
              <a:t>se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leyendo</a:t>
            </a:r>
            <a:r>
              <a:rPr lang="en-US" b="1" dirty="0"/>
              <a:t> de a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página</a:t>
            </a:r>
            <a:r>
              <a:rPr lang="en-US" b="1" dirty="0"/>
              <a:t> de </a:t>
            </a:r>
            <a:r>
              <a:rPr lang="en-US" b="1" dirty="0" err="1"/>
              <a:t>cada</a:t>
            </a:r>
            <a:r>
              <a:rPr lang="en-US" b="1" dirty="0"/>
              <a:t> </a:t>
            </a:r>
            <a:r>
              <a:rPr lang="en-US" b="1" i="1" dirty="0"/>
              <a:t>run</a:t>
            </a:r>
            <a:r>
              <a:rPr lang="en-US" dirty="0"/>
              <a:t> y se </a:t>
            </a:r>
            <a:r>
              <a:rPr lang="en-US" dirty="0" err="1"/>
              <a:t>realiza</a:t>
            </a:r>
            <a:r>
              <a:rPr lang="en-US" dirty="0"/>
              <a:t> el </a:t>
            </a:r>
            <a:r>
              <a:rPr lang="en-US" i="1" dirty="0"/>
              <a:t>K-way merge</a:t>
            </a:r>
            <a:r>
              <a:rPr lang="en-US" dirty="0"/>
              <a:t>): Total 2NM </a:t>
            </a:r>
            <a:r>
              <a:rPr lang="en-US" dirty="0" err="1"/>
              <a:t>páginas</a:t>
            </a:r>
            <a:endParaRPr lang="en-US" dirty="0"/>
          </a:p>
        </p:txBody>
      </p:sp>
      <p:sp>
        <p:nvSpPr>
          <p:cNvPr id="41003" name="Line 43"/>
          <p:cNvSpPr>
            <a:spLocks noChangeShapeType="1"/>
          </p:cNvSpPr>
          <p:nvPr/>
        </p:nvSpPr>
        <p:spPr bwMode="auto">
          <a:xfrm>
            <a:off x="250825" y="2205038"/>
            <a:ext cx="0" cy="2736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1004" name="Line 44"/>
          <p:cNvSpPr>
            <a:spLocks noChangeShapeType="1"/>
          </p:cNvSpPr>
          <p:nvPr/>
        </p:nvSpPr>
        <p:spPr bwMode="auto">
          <a:xfrm>
            <a:off x="250825" y="2205038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1005" name="Text Box 45"/>
          <p:cNvSpPr txBox="1">
            <a:spLocks noChangeArrowheads="1"/>
          </p:cNvSpPr>
          <p:nvPr/>
        </p:nvSpPr>
        <p:spPr bwMode="auto">
          <a:xfrm>
            <a:off x="4572000" y="4724400"/>
            <a:ext cx="3924300" cy="187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Paso 2: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Se </a:t>
            </a:r>
            <a:r>
              <a:rPr lang="en-US" b="1" dirty="0">
                <a:solidFill>
                  <a:schemeClr val="accent2"/>
                </a:solidFill>
              </a:rPr>
              <a:t>lee</a:t>
            </a:r>
            <a:r>
              <a:rPr lang="en-US" dirty="0"/>
              <a:t> y </a:t>
            </a:r>
            <a:r>
              <a:rPr lang="en-US" b="1" dirty="0" err="1">
                <a:solidFill>
                  <a:schemeClr val="accent2"/>
                </a:solidFill>
              </a:rPr>
              <a:t>escribe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i="1" dirty="0"/>
              <a:t>run</a:t>
            </a:r>
            <a:r>
              <a:rPr lang="en-US" dirty="0"/>
              <a:t> </a:t>
            </a:r>
            <a:r>
              <a:rPr lang="en-US" dirty="0" err="1"/>
              <a:t>cuyo</a:t>
            </a:r>
            <a:r>
              <a:rPr lang="en-US" dirty="0"/>
              <a:t> </a:t>
            </a:r>
            <a:r>
              <a:rPr lang="en-US" dirty="0" err="1"/>
              <a:t>tamaño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4M (</a:t>
            </a:r>
            <a:r>
              <a:rPr lang="en-US" b="1" dirty="0"/>
              <a:t>se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leyendo</a:t>
            </a:r>
            <a:r>
              <a:rPr lang="en-US" b="1" dirty="0"/>
              <a:t> de a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página</a:t>
            </a:r>
            <a:r>
              <a:rPr lang="en-US" b="1" dirty="0"/>
              <a:t> de </a:t>
            </a:r>
            <a:r>
              <a:rPr lang="en-US" b="1" dirty="0" err="1"/>
              <a:t>cada</a:t>
            </a:r>
            <a:r>
              <a:rPr lang="en-US" b="1" dirty="0"/>
              <a:t> </a:t>
            </a:r>
            <a:r>
              <a:rPr lang="en-US" b="1" i="1" dirty="0"/>
              <a:t>run</a:t>
            </a:r>
            <a:r>
              <a:rPr lang="en-US" dirty="0"/>
              <a:t> y se </a:t>
            </a:r>
            <a:r>
              <a:rPr lang="en-US" dirty="0" err="1"/>
              <a:t>realiza</a:t>
            </a:r>
            <a:r>
              <a:rPr lang="en-US" dirty="0"/>
              <a:t> el </a:t>
            </a:r>
            <a:r>
              <a:rPr lang="en-US" i="1" dirty="0"/>
              <a:t>K-way merge</a:t>
            </a:r>
            <a:r>
              <a:rPr lang="en-US" dirty="0"/>
              <a:t>): Total 2NM </a:t>
            </a:r>
            <a:r>
              <a:rPr lang="en-US" dirty="0" err="1"/>
              <a:t>páginas</a:t>
            </a:r>
            <a:endParaRPr lang="en-US" dirty="0"/>
          </a:p>
        </p:txBody>
      </p:sp>
      <p:sp>
        <p:nvSpPr>
          <p:cNvPr id="41006" name="AutoShape 46"/>
          <p:cNvSpPr>
            <a:spLocks/>
          </p:cNvSpPr>
          <p:nvPr/>
        </p:nvSpPr>
        <p:spPr bwMode="auto">
          <a:xfrm rot="10800000">
            <a:off x="7885113" y="1989138"/>
            <a:ext cx="287337" cy="2087562"/>
          </a:xfrm>
          <a:prstGeom prst="leftBrace">
            <a:avLst>
              <a:gd name="adj1" fmla="val 6054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07" name="Text Box 47"/>
          <p:cNvSpPr txBox="1">
            <a:spLocks noChangeArrowheads="1"/>
          </p:cNvSpPr>
          <p:nvPr/>
        </p:nvSpPr>
        <p:spPr bwMode="auto">
          <a:xfrm>
            <a:off x="3419475" y="1268413"/>
            <a:ext cx="3924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Número de Pasos: Log</a:t>
            </a:r>
            <a:r>
              <a:rPr lang="en-US" baseline="-25000"/>
              <a:t>M-1</a:t>
            </a:r>
            <a:r>
              <a:rPr lang="en-US"/>
              <a:t>(N)</a:t>
            </a:r>
          </a:p>
        </p:txBody>
      </p:sp>
      <p:sp>
        <p:nvSpPr>
          <p:cNvPr id="41008" name="Line 48"/>
          <p:cNvSpPr>
            <a:spLocks noChangeShapeType="1"/>
          </p:cNvSpPr>
          <p:nvPr/>
        </p:nvSpPr>
        <p:spPr bwMode="auto">
          <a:xfrm>
            <a:off x="611188" y="3141663"/>
            <a:ext cx="28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1009" name="Line 49"/>
          <p:cNvSpPr>
            <a:spLocks noChangeShapeType="1"/>
          </p:cNvSpPr>
          <p:nvPr/>
        </p:nvSpPr>
        <p:spPr bwMode="auto">
          <a:xfrm>
            <a:off x="611188" y="3141663"/>
            <a:ext cx="0" cy="1655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1010" name="Line 50"/>
          <p:cNvSpPr>
            <a:spLocks noChangeShapeType="1"/>
          </p:cNvSpPr>
          <p:nvPr/>
        </p:nvSpPr>
        <p:spPr bwMode="auto">
          <a:xfrm>
            <a:off x="611188" y="4797425"/>
            <a:ext cx="38163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1011" name="Line 51"/>
          <p:cNvSpPr>
            <a:spLocks noChangeShapeType="1"/>
          </p:cNvSpPr>
          <p:nvPr/>
        </p:nvSpPr>
        <p:spPr bwMode="auto">
          <a:xfrm flipH="1">
            <a:off x="6732588" y="1412875"/>
            <a:ext cx="17287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1012" name="Line 52"/>
          <p:cNvSpPr>
            <a:spLocks noChangeShapeType="1"/>
          </p:cNvSpPr>
          <p:nvPr/>
        </p:nvSpPr>
        <p:spPr bwMode="auto">
          <a:xfrm>
            <a:off x="8243888" y="2997200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1013" name="Line 53"/>
          <p:cNvSpPr>
            <a:spLocks noChangeShapeType="1"/>
          </p:cNvSpPr>
          <p:nvPr/>
        </p:nvSpPr>
        <p:spPr bwMode="auto">
          <a:xfrm>
            <a:off x="8459788" y="1412875"/>
            <a:ext cx="0" cy="1584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grpSp>
        <p:nvGrpSpPr>
          <p:cNvPr id="41014" name="Group 54"/>
          <p:cNvGrpSpPr>
            <a:grpSpLocks/>
          </p:cNvGrpSpPr>
          <p:nvPr/>
        </p:nvGrpSpPr>
        <p:grpSpPr bwMode="auto">
          <a:xfrm>
            <a:off x="925513" y="1989138"/>
            <a:ext cx="177800" cy="360362"/>
            <a:chOff x="583" y="1253"/>
            <a:chExt cx="112" cy="227"/>
          </a:xfrm>
        </p:grpSpPr>
        <p:sp>
          <p:nvSpPr>
            <p:cNvPr id="41091" name="Line 55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92" name="Line 56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93" name="Line 57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1015" name="Group 58"/>
          <p:cNvGrpSpPr>
            <a:grpSpLocks/>
          </p:cNvGrpSpPr>
          <p:nvPr/>
        </p:nvGrpSpPr>
        <p:grpSpPr bwMode="auto">
          <a:xfrm>
            <a:off x="1344613" y="1989138"/>
            <a:ext cx="177800" cy="360362"/>
            <a:chOff x="583" y="1253"/>
            <a:chExt cx="112" cy="227"/>
          </a:xfrm>
        </p:grpSpPr>
        <p:sp>
          <p:nvSpPr>
            <p:cNvPr id="41088" name="Line 59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89" name="Line 60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90" name="Line 61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1016" name="Group 62"/>
          <p:cNvGrpSpPr>
            <a:grpSpLocks/>
          </p:cNvGrpSpPr>
          <p:nvPr/>
        </p:nvGrpSpPr>
        <p:grpSpPr bwMode="auto">
          <a:xfrm>
            <a:off x="1789113" y="1989138"/>
            <a:ext cx="177800" cy="360362"/>
            <a:chOff x="583" y="1253"/>
            <a:chExt cx="112" cy="227"/>
          </a:xfrm>
        </p:grpSpPr>
        <p:sp>
          <p:nvSpPr>
            <p:cNvPr id="41085" name="Line 63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86" name="Line 64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87" name="Line 65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1017" name="Group 66"/>
          <p:cNvGrpSpPr>
            <a:grpSpLocks/>
          </p:cNvGrpSpPr>
          <p:nvPr/>
        </p:nvGrpSpPr>
        <p:grpSpPr bwMode="auto">
          <a:xfrm>
            <a:off x="2208213" y="1989138"/>
            <a:ext cx="177800" cy="360362"/>
            <a:chOff x="583" y="1253"/>
            <a:chExt cx="112" cy="227"/>
          </a:xfrm>
        </p:grpSpPr>
        <p:sp>
          <p:nvSpPr>
            <p:cNvPr id="41082" name="Line 67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83" name="Line 68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84" name="Line 69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41018" name="Rectangle 70"/>
          <p:cNvSpPr>
            <a:spLocks noChangeArrowheads="1"/>
          </p:cNvSpPr>
          <p:nvPr/>
        </p:nvSpPr>
        <p:spPr bwMode="auto">
          <a:xfrm>
            <a:off x="2554288" y="19891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19" name="Rectangle 71"/>
          <p:cNvSpPr>
            <a:spLocks noChangeArrowheads="1"/>
          </p:cNvSpPr>
          <p:nvPr/>
        </p:nvSpPr>
        <p:spPr bwMode="auto">
          <a:xfrm>
            <a:off x="2986088" y="19891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20" name="Rectangle 72"/>
          <p:cNvSpPr>
            <a:spLocks noChangeArrowheads="1"/>
          </p:cNvSpPr>
          <p:nvPr/>
        </p:nvSpPr>
        <p:spPr bwMode="auto">
          <a:xfrm>
            <a:off x="3417888" y="19891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21" name="Rectangle 73"/>
          <p:cNvSpPr>
            <a:spLocks noChangeArrowheads="1"/>
          </p:cNvSpPr>
          <p:nvPr/>
        </p:nvSpPr>
        <p:spPr bwMode="auto">
          <a:xfrm>
            <a:off x="3851275" y="19891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grpSp>
        <p:nvGrpSpPr>
          <p:cNvPr id="41022" name="Group 74"/>
          <p:cNvGrpSpPr>
            <a:grpSpLocks/>
          </p:cNvGrpSpPr>
          <p:nvPr/>
        </p:nvGrpSpPr>
        <p:grpSpPr bwMode="auto">
          <a:xfrm>
            <a:off x="2652713" y="1989138"/>
            <a:ext cx="177800" cy="360362"/>
            <a:chOff x="583" y="1253"/>
            <a:chExt cx="112" cy="227"/>
          </a:xfrm>
        </p:grpSpPr>
        <p:sp>
          <p:nvSpPr>
            <p:cNvPr id="41079" name="Line 75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80" name="Line 76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81" name="Line 77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1023" name="Group 78"/>
          <p:cNvGrpSpPr>
            <a:grpSpLocks/>
          </p:cNvGrpSpPr>
          <p:nvPr/>
        </p:nvGrpSpPr>
        <p:grpSpPr bwMode="auto">
          <a:xfrm>
            <a:off x="3071813" y="1989138"/>
            <a:ext cx="177800" cy="360362"/>
            <a:chOff x="583" y="1253"/>
            <a:chExt cx="112" cy="227"/>
          </a:xfrm>
        </p:grpSpPr>
        <p:sp>
          <p:nvSpPr>
            <p:cNvPr id="41076" name="Line 79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77" name="Line 80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78" name="Line 81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1024" name="Group 82"/>
          <p:cNvGrpSpPr>
            <a:grpSpLocks/>
          </p:cNvGrpSpPr>
          <p:nvPr/>
        </p:nvGrpSpPr>
        <p:grpSpPr bwMode="auto">
          <a:xfrm>
            <a:off x="3516313" y="1989138"/>
            <a:ext cx="177800" cy="360362"/>
            <a:chOff x="583" y="1253"/>
            <a:chExt cx="112" cy="227"/>
          </a:xfrm>
        </p:grpSpPr>
        <p:sp>
          <p:nvSpPr>
            <p:cNvPr id="41073" name="Line 83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74" name="Line 84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75" name="Line 85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1025" name="Group 86"/>
          <p:cNvGrpSpPr>
            <a:grpSpLocks/>
          </p:cNvGrpSpPr>
          <p:nvPr/>
        </p:nvGrpSpPr>
        <p:grpSpPr bwMode="auto">
          <a:xfrm>
            <a:off x="3935413" y="1989138"/>
            <a:ext cx="177800" cy="360362"/>
            <a:chOff x="583" y="1253"/>
            <a:chExt cx="112" cy="227"/>
          </a:xfrm>
        </p:grpSpPr>
        <p:sp>
          <p:nvSpPr>
            <p:cNvPr id="41070" name="Line 87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71" name="Line 88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72" name="Line 89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41026" name="Rectangle 90"/>
          <p:cNvSpPr>
            <a:spLocks noChangeArrowheads="1"/>
          </p:cNvSpPr>
          <p:nvPr/>
        </p:nvSpPr>
        <p:spPr bwMode="auto">
          <a:xfrm>
            <a:off x="4356100" y="19891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27" name="Rectangle 91"/>
          <p:cNvSpPr>
            <a:spLocks noChangeArrowheads="1"/>
          </p:cNvSpPr>
          <p:nvPr/>
        </p:nvSpPr>
        <p:spPr bwMode="auto">
          <a:xfrm>
            <a:off x="4787900" y="19891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28" name="Rectangle 92"/>
          <p:cNvSpPr>
            <a:spLocks noChangeArrowheads="1"/>
          </p:cNvSpPr>
          <p:nvPr/>
        </p:nvSpPr>
        <p:spPr bwMode="auto">
          <a:xfrm>
            <a:off x="5219700" y="19891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29" name="Rectangle 93"/>
          <p:cNvSpPr>
            <a:spLocks noChangeArrowheads="1"/>
          </p:cNvSpPr>
          <p:nvPr/>
        </p:nvSpPr>
        <p:spPr bwMode="auto">
          <a:xfrm>
            <a:off x="5653088" y="19891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grpSp>
        <p:nvGrpSpPr>
          <p:cNvPr id="41030" name="Group 94"/>
          <p:cNvGrpSpPr>
            <a:grpSpLocks/>
          </p:cNvGrpSpPr>
          <p:nvPr/>
        </p:nvGrpSpPr>
        <p:grpSpPr bwMode="auto">
          <a:xfrm>
            <a:off x="4454525" y="1989138"/>
            <a:ext cx="177800" cy="360362"/>
            <a:chOff x="583" y="1253"/>
            <a:chExt cx="112" cy="227"/>
          </a:xfrm>
        </p:grpSpPr>
        <p:sp>
          <p:nvSpPr>
            <p:cNvPr id="41067" name="Line 95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68" name="Line 96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69" name="Line 97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1031" name="Group 98"/>
          <p:cNvGrpSpPr>
            <a:grpSpLocks/>
          </p:cNvGrpSpPr>
          <p:nvPr/>
        </p:nvGrpSpPr>
        <p:grpSpPr bwMode="auto">
          <a:xfrm>
            <a:off x="4873625" y="1989138"/>
            <a:ext cx="177800" cy="360362"/>
            <a:chOff x="583" y="1253"/>
            <a:chExt cx="112" cy="227"/>
          </a:xfrm>
        </p:grpSpPr>
        <p:sp>
          <p:nvSpPr>
            <p:cNvPr id="41064" name="Line 99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65" name="Line 100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66" name="Line 101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1032" name="Group 102"/>
          <p:cNvGrpSpPr>
            <a:grpSpLocks/>
          </p:cNvGrpSpPr>
          <p:nvPr/>
        </p:nvGrpSpPr>
        <p:grpSpPr bwMode="auto">
          <a:xfrm>
            <a:off x="5318125" y="1989138"/>
            <a:ext cx="177800" cy="360362"/>
            <a:chOff x="583" y="1253"/>
            <a:chExt cx="112" cy="227"/>
          </a:xfrm>
        </p:grpSpPr>
        <p:sp>
          <p:nvSpPr>
            <p:cNvPr id="41061" name="Line 103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62" name="Line 104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63" name="Line 105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1033" name="Group 106"/>
          <p:cNvGrpSpPr>
            <a:grpSpLocks/>
          </p:cNvGrpSpPr>
          <p:nvPr/>
        </p:nvGrpSpPr>
        <p:grpSpPr bwMode="auto">
          <a:xfrm>
            <a:off x="5737225" y="1989138"/>
            <a:ext cx="177800" cy="360362"/>
            <a:chOff x="583" y="1253"/>
            <a:chExt cx="112" cy="227"/>
          </a:xfrm>
        </p:grpSpPr>
        <p:sp>
          <p:nvSpPr>
            <p:cNvPr id="41058" name="Line 107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59" name="Line 108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60" name="Line 109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41034" name="Rectangle 110"/>
          <p:cNvSpPr>
            <a:spLocks noChangeArrowheads="1"/>
          </p:cNvSpPr>
          <p:nvPr/>
        </p:nvSpPr>
        <p:spPr bwMode="auto">
          <a:xfrm>
            <a:off x="6083300" y="19891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35" name="Rectangle 111"/>
          <p:cNvSpPr>
            <a:spLocks noChangeArrowheads="1"/>
          </p:cNvSpPr>
          <p:nvPr/>
        </p:nvSpPr>
        <p:spPr bwMode="auto">
          <a:xfrm>
            <a:off x="6515100" y="19891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36" name="Rectangle 112"/>
          <p:cNvSpPr>
            <a:spLocks noChangeArrowheads="1"/>
          </p:cNvSpPr>
          <p:nvPr/>
        </p:nvSpPr>
        <p:spPr bwMode="auto">
          <a:xfrm>
            <a:off x="6946900" y="1989138"/>
            <a:ext cx="36036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37" name="Rectangle 113"/>
          <p:cNvSpPr>
            <a:spLocks noChangeArrowheads="1"/>
          </p:cNvSpPr>
          <p:nvPr/>
        </p:nvSpPr>
        <p:spPr bwMode="auto">
          <a:xfrm>
            <a:off x="7380288" y="1989138"/>
            <a:ext cx="36036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grpSp>
        <p:nvGrpSpPr>
          <p:cNvPr id="41038" name="Group 114"/>
          <p:cNvGrpSpPr>
            <a:grpSpLocks/>
          </p:cNvGrpSpPr>
          <p:nvPr/>
        </p:nvGrpSpPr>
        <p:grpSpPr bwMode="auto">
          <a:xfrm>
            <a:off x="6181725" y="1989138"/>
            <a:ext cx="177800" cy="360362"/>
            <a:chOff x="583" y="1253"/>
            <a:chExt cx="112" cy="227"/>
          </a:xfrm>
        </p:grpSpPr>
        <p:sp>
          <p:nvSpPr>
            <p:cNvPr id="41055" name="Line 115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56" name="Line 116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57" name="Line 117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1039" name="Group 118"/>
          <p:cNvGrpSpPr>
            <a:grpSpLocks/>
          </p:cNvGrpSpPr>
          <p:nvPr/>
        </p:nvGrpSpPr>
        <p:grpSpPr bwMode="auto">
          <a:xfrm>
            <a:off x="6600825" y="1989138"/>
            <a:ext cx="177800" cy="360362"/>
            <a:chOff x="583" y="1253"/>
            <a:chExt cx="112" cy="227"/>
          </a:xfrm>
        </p:grpSpPr>
        <p:sp>
          <p:nvSpPr>
            <p:cNvPr id="41052" name="Line 119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53" name="Line 120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54" name="Line 121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1040" name="Group 122"/>
          <p:cNvGrpSpPr>
            <a:grpSpLocks/>
          </p:cNvGrpSpPr>
          <p:nvPr/>
        </p:nvGrpSpPr>
        <p:grpSpPr bwMode="auto">
          <a:xfrm>
            <a:off x="7045325" y="1989138"/>
            <a:ext cx="177800" cy="360362"/>
            <a:chOff x="583" y="1253"/>
            <a:chExt cx="112" cy="227"/>
          </a:xfrm>
        </p:grpSpPr>
        <p:sp>
          <p:nvSpPr>
            <p:cNvPr id="41049" name="Line 123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50" name="Line 124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51" name="Line 125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1041" name="Group 126"/>
          <p:cNvGrpSpPr>
            <a:grpSpLocks/>
          </p:cNvGrpSpPr>
          <p:nvPr/>
        </p:nvGrpSpPr>
        <p:grpSpPr bwMode="auto">
          <a:xfrm>
            <a:off x="7464425" y="1989138"/>
            <a:ext cx="177800" cy="360362"/>
            <a:chOff x="583" y="1253"/>
            <a:chExt cx="112" cy="227"/>
          </a:xfrm>
        </p:grpSpPr>
        <p:sp>
          <p:nvSpPr>
            <p:cNvPr id="41046" name="Line 127"/>
            <p:cNvSpPr>
              <a:spLocks noChangeShapeType="1"/>
            </p:cNvSpPr>
            <p:nvPr/>
          </p:nvSpPr>
          <p:spPr bwMode="auto">
            <a:xfrm>
              <a:off x="583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47" name="Line 128"/>
            <p:cNvSpPr>
              <a:spLocks noChangeShapeType="1"/>
            </p:cNvSpPr>
            <p:nvPr/>
          </p:nvSpPr>
          <p:spPr bwMode="auto">
            <a:xfrm>
              <a:off x="636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048" name="Line 129"/>
            <p:cNvSpPr>
              <a:spLocks noChangeShapeType="1"/>
            </p:cNvSpPr>
            <p:nvPr/>
          </p:nvSpPr>
          <p:spPr bwMode="auto">
            <a:xfrm>
              <a:off x="695" y="125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41042" name="Rectangle 130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41043" name="Text Box 131"/>
          <p:cNvSpPr txBox="1">
            <a:spLocks noChangeArrowheads="1"/>
          </p:cNvSpPr>
          <p:nvPr/>
        </p:nvSpPr>
        <p:spPr bwMode="auto">
          <a:xfrm>
            <a:off x="363538" y="908050"/>
            <a:ext cx="1441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CO" b="1" dirty="0"/>
              <a:t>Una </a:t>
            </a:r>
            <a:r>
              <a:rPr lang="es-CO" b="1" i="1" dirty="0" err="1"/>
              <a:t>run</a:t>
            </a:r>
            <a:r>
              <a:rPr lang="es-CO" b="1" dirty="0"/>
              <a:t> de </a:t>
            </a:r>
          </a:p>
          <a:p>
            <a:pPr algn="ctr" eaLnBrk="1" hangingPunct="1"/>
            <a:r>
              <a:rPr lang="es-CO" b="1" dirty="0"/>
              <a:t>4 páginas</a:t>
            </a:r>
            <a:endParaRPr lang="es-ES_tradnl" b="1" dirty="0"/>
          </a:p>
        </p:txBody>
      </p:sp>
      <p:sp>
        <p:nvSpPr>
          <p:cNvPr id="41044" name="AutoShape 132"/>
          <p:cNvSpPr>
            <a:spLocks/>
          </p:cNvSpPr>
          <p:nvPr/>
        </p:nvSpPr>
        <p:spPr bwMode="auto">
          <a:xfrm rot="5400000">
            <a:off x="863600" y="1592263"/>
            <a:ext cx="287338" cy="360362"/>
          </a:xfrm>
          <a:prstGeom prst="leftBrace">
            <a:avLst>
              <a:gd name="adj1" fmla="val 1045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045" name="Text Box 133"/>
          <p:cNvSpPr txBox="1">
            <a:spLocks noChangeArrowheads="1"/>
          </p:cNvSpPr>
          <p:nvPr/>
        </p:nvSpPr>
        <p:spPr bwMode="auto">
          <a:xfrm>
            <a:off x="8156575" y="3213100"/>
            <a:ext cx="865188" cy="64135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i="1" dirty="0"/>
              <a:t>K-way     merge</a:t>
            </a:r>
            <a:endParaRPr lang="es-ES_tradnl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84313"/>
            <a:ext cx="9155113" cy="5068887"/>
          </a:xfrm>
        </p:spPr>
        <p:txBody>
          <a:bodyPr/>
          <a:lstStyle/>
          <a:p>
            <a:pPr eaLnBrk="1" hangingPunct="1"/>
            <a:r>
              <a:rPr lang="en-US" dirty="0" smtClean="0"/>
              <a:t>En </a:t>
            </a:r>
            <a:r>
              <a:rPr lang="en-US" dirty="0" err="1" smtClean="0">
                <a:solidFill>
                  <a:srgbClr val="FF0000"/>
                </a:solidFill>
              </a:rPr>
              <a:t>cada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paso</a:t>
            </a:r>
            <a:r>
              <a:rPr lang="en-US" dirty="0" smtClean="0"/>
              <a:t> se </a:t>
            </a:r>
            <a:r>
              <a:rPr lang="en-US" dirty="0" err="1" smtClean="0"/>
              <a:t>acceden</a:t>
            </a:r>
            <a:r>
              <a:rPr lang="en-US" dirty="0" smtClean="0"/>
              <a:t> 2NM </a:t>
            </a:r>
            <a:r>
              <a:rPr lang="en-US" dirty="0" err="1" smtClean="0"/>
              <a:t>páginas</a:t>
            </a:r>
            <a:endParaRPr lang="en-US" dirty="0" smtClean="0"/>
          </a:p>
          <a:p>
            <a:pPr eaLnBrk="1" hangingPunct="1"/>
            <a:r>
              <a:rPr lang="en-US" dirty="0" err="1" smtClean="0"/>
              <a:t>Por</a:t>
            </a:r>
            <a:r>
              <a:rPr lang="en-US" dirty="0" smtClean="0"/>
              <a:t> lo </a:t>
            </a:r>
            <a:r>
              <a:rPr lang="en-US" dirty="0" err="1" smtClean="0"/>
              <a:t>tanto</a:t>
            </a:r>
            <a:r>
              <a:rPr lang="en-US" dirty="0" smtClean="0"/>
              <a:t>, el total de </a:t>
            </a:r>
            <a:r>
              <a:rPr lang="en-US" dirty="0" err="1" smtClean="0"/>
              <a:t>páginas</a:t>
            </a:r>
            <a:r>
              <a:rPr lang="en-US" dirty="0" smtClean="0"/>
              <a:t> </a:t>
            </a:r>
            <a:r>
              <a:rPr lang="en-US" dirty="0" err="1" smtClean="0"/>
              <a:t>accedidas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dirty="0" smtClean="0"/>
              <a:t>			(2NM) * Log</a:t>
            </a:r>
            <a:r>
              <a:rPr lang="en-US" baseline="-25000" dirty="0" smtClean="0"/>
              <a:t>M-1</a:t>
            </a:r>
            <a:r>
              <a:rPr lang="en-US" dirty="0" smtClean="0"/>
              <a:t>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dirty="0" smtClean="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dirty="0" smtClean="0"/>
          </a:p>
          <a:p>
            <a:pPr eaLnBrk="1" hangingPunct="1">
              <a:spcBef>
                <a:spcPct val="50000"/>
              </a:spcBef>
            </a:pPr>
            <a:r>
              <a:rPr lang="en-US" dirty="0" err="1" smtClean="0"/>
              <a:t>Pero</a:t>
            </a:r>
            <a:r>
              <a:rPr lang="en-US" dirty="0" smtClean="0"/>
              <a:t> NM = F (</a:t>
            </a:r>
            <a:r>
              <a:rPr lang="en-US" dirty="0" err="1" smtClean="0"/>
              <a:t>número</a:t>
            </a:r>
            <a:r>
              <a:rPr lang="en-US" dirty="0" smtClean="0"/>
              <a:t> de </a:t>
            </a:r>
            <a:r>
              <a:rPr lang="en-US" dirty="0" err="1" smtClean="0"/>
              <a:t>páginas</a:t>
            </a:r>
            <a:r>
              <a:rPr lang="en-US" dirty="0" smtClean="0"/>
              <a:t> de la </a:t>
            </a:r>
            <a:r>
              <a:rPr lang="en-US" dirty="0" err="1" smtClean="0"/>
              <a:t>relación</a:t>
            </a:r>
            <a:r>
              <a:rPr lang="en-US" dirty="0" smtClean="0"/>
              <a:t>) y N </a:t>
            </a:r>
            <a:r>
              <a:rPr lang="en-US" dirty="0" smtClean="0">
                <a:sym typeface="Symbol" panose="05050102010706020507" pitchFamily="18" charset="2"/>
              </a:rPr>
              <a:t>= </a:t>
            </a:r>
            <a:r>
              <a:rPr lang="en-US" dirty="0" smtClean="0"/>
              <a:t>F/M</a:t>
            </a:r>
            <a:r>
              <a:rPr lang="en-US" dirty="0" smtClean="0">
                <a:sym typeface="Symbol" panose="05050102010706020507" pitchFamily="18" charset="2"/>
              </a:rPr>
              <a:t>, </a:t>
            </a:r>
            <a:r>
              <a:rPr lang="en-US" dirty="0" err="1" smtClean="0">
                <a:sym typeface="Symbol" panose="05050102010706020507" pitchFamily="18" charset="2"/>
              </a:rPr>
              <a:t>remplazando</a:t>
            </a:r>
            <a:r>
              <a:rPr lang="en-US" dirty="0" smtClean="0">
                <a:sym typeface="Symbol" panose="05050102010706020507" pitchFamily="18" charset="2"/>
              </a:rPr>
              <a:t> la </a:t>
            </a:r>
            <a:r>
              <a:rPr lang="en-US" dirty="0" err="1" smtClean="0">
                <a:sym typeface="Symbol" panose="05050102010706020507" pitchFamily="18" charset="2"/>
              </a:rPr>
              <a:t>fórmula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queda</a:t>
            </a:r>
            <a:r>
              <a:rPr lang="en-US" dirty="0" smtClean="0">
                <a:sym typeface="Symbol" panose="05050102010706020507" pitchFamily="18" charset="2"/>
              </a:rPr>
              <a:t>:</a:t>
            </a:r>
            <a:endParaRPr lang="en-US" dirty="0" smtClean="0"/>
          </a:p>
        </p:txBody>
      </p:sp>
      <p:sp>
        <p:nvSpPr>
          <p:cNvPr id="41988" name="AutoShape 4"/>
          <p:cNvSpPr>
            <a:spLocks/>
          </p:cNvSpPr>
          <p:nvPr/>
        </p:nvSpPr>
        <p:spPr bwMode="auto">
          <a:xfrm rot="-5400000">
            <a:off x="2695575" y="3059113"/>
            <a:ext cx="268288" cy="1008062"/>
          </a:xfrm>
          <a:prstGeom prst="leftBrace">
            <a:avLst>
              <a:gd name="adj1" fmla="val 31312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539750" y="3716338"/>
            <a:ext cx="310373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chemeClr val="accent2"/>
                </a:solidFill>
              </a:rPr>
              <a:t>Total de </a:t>
            </a:r>
            <a:r>
              <a:rPr lang="en-US" sz="2000" dirty="0" err="1">
                <a:solidFill>
                  <a:schemeClr val="accent2"/>
                </a:solidFill>
              </a:rPr>
              <a:t>páginas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que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</a:p>
          <a:p>
            <a:pPr eaLnBrk="1" hangingPunct="1"/>
            <a:r>
              <a:rPr lang="en-US" sz="2000" dirty="0">
                <a:solidFill>
                  <a:schemeClr val="accent2"/>
                </a:solidFill>
              </a:rPr>
              <a:t>se </a:t>
            </a:r>
            <a:r>
              <a:rPr lang="en-US" sz="2000" dirty="0" smtClean="0">
                <a:solidFill>
                  <a:schemeClr val="accent2"/>
                </a:solidFill>
              </a:rPr>
              <a:t>accede </a:t>
            </a:r>
            <a:r>
              <a:rPr lang="en-US" sz="2000" dirty="0">
                <a:solidFill>
                  <a:schemeClr val="accent2"/>
                </a:solidFill>
              </a:rPr>
              <a:t>(lee y escribe) </a:t>
            </a:r>
          </a:p>
          <a:p>
            <a:pPr eaLnBrk="1" hangingPunct="1"/>
            <a:r>
              <a:rPr lang="en-US" sz="2000" dirty="0" err="1">
                <a:solidFill>
                  <a:schemeClr val="accent2"/>
                </a:solidFill>
              </a:rPr>
              <a:t>en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cada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paso</a:t>
            </a:r>
            <a:endParaRPr lang="en-US" sz="2000" baseline="-25000" dirty="0">
              <a:solidFill>
                <a:schemeClr val="accent2"/>
              </a:solidFill>
            </a:endParaRPr>
          </a:p>
        </p:txBody>
      </p:sp>
      <p:sp>
        <p:nvSpPr>
          <p:cNvPr id="41990" name="AutoShape 6"/>
          <p:cNvSpPr>
            <a:spLocks/>
          </p:cNvSpPr>
          <p:nvPr/>
        </p:nvSpPr>
        <p:spPr bwMode="auto">
          <a:xfrm rot="-5400000">
            <a:off x="4544219" y="2728119"/>
            <a:ext cx="263525" cy="1665287"/>
          </a:xfrm>
          <a:prstGeom prst="leftBrace">
            <a:avLst>
              <a:gd name="adj1" fmla="val 52661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3779838" y="3716338"/>
            <a:ext cx="2736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Número total de pasos</a:t>
            </a:r>
            <a:endParaRPr lang="en-US" sz="2000" baseline="-250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dirty="0" smtClean="0"/>
              <a:t>(2F) * Log</a:t>
            </a:r>
            <a:r>
              <a:rPr lang="en-US" baseline="-25000" dirty="0" smtClean="0"/>
              <a:t>M-1</a:t>
            </a:r>
            <a:r>
              <a:rPr lang="en-US" dirty="0" smtClean="0"/>
              <a:t>(F/M) =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dirty="0" smtClean="0"/>
              <a:t>(2F) * (Log</a:t>
            </a:r>
            <a:r>
              <a:rPr lang="en-US" baseline="-25000" dirty="0" smtClean="0"/>
              <a:t>M-1</a:t>
            </a:r>
            <a:r>
              <a:rPr lang="en-US" dirty="0" smtClean="0"/>
              <a:t>(F) - Log</a:t>
            </a:r>
            <a:r>
              <a:rPr lang="en-US" baseline="-25000" dirty="0" smtClean="0"/>
              <a:t>M-1</a:t>
            </a:r>
            <a:r>
              <a:rPr lang="en-US" dirty="0" smtClean="0"/>
              <a:t>M) =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dirty="0" smtClean="0"/>
          </a:p>
          <a:p>
            <a:pPr eaLnBrk="1" hangingPunct="1">
              <a:buFontTx/>
              <a:buNone/>
            </a:pPr>
            <a:r>
              <a:rPr lang="en-US" dirty="0" smtClean="0"/>
              <a:t>(2F) * (Log</a:t>
            </a:r>
            <a:r>
              <a:rPr lang="en-US" baseline="-25000" dirty="0" smtClean="0"/>
              <a:t>M-1</a:t>
            </a:r>
            <a:r>
              <a:rPr lang="en-US" dirty="0" smtClean="0"/>
              <a:t>(F) - 1)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sz="2400" dirty="0" err="1" smtClean="0">
                <a:sym typeface="Wingdings" panose="05000000000000000000" pitchFamily="2" charset="2"/>
              </a:rPr>
              <a:t>Costo</a:t>
            </a:r>
            <a:r>
              <a:rPr lang="en-US" sz="2400" dirty="0" smtClean="0">
                <a:sym typeface="Wingdings" panose="05000000000000000000" pitchFamily="2" charset="2"/>
              </a:rPr>
              <a:t> del </a:t>
            </a:r>
            <a:r>
              <a:rPr lang="en-US" sz="2400" i="1" dirty="0" smtClean="0">
                <a:sym typeface="Wingdings" panose="05000000000000000000" pitchFamily="2" charset="2"/>
              </a:rPr>
              <a:t>K-way merge</a:t>
            </a:r>
          </a:p>
          <a:p>
            <a:pPr eaLnBrk="1" hangingPunct="1">
              <a:buFontTx/>
              <a:buNone/>
            </a:pPr>
            <a:r>
              <a:rPr lang="en-US" sz="2400" dirty="0" err="1" smtClean="0">
                <a:sym typeface="Wingdings" panose="05000000000000000000" pitchFamily="2" charset="2"/>
              </a:rPr>
              <a:t>Por</a:t>
            </a:r>
            <a:r>
              <a:rPr lang="en-US" sz="2400" dirty="0" smtClean="0">
                <a:sym typeface="Wingdings" panose="05000000000000000000" pitchFamily="2" charset="2"/>
              </a:rPr>
              <a:t> lo </a:t>
            </a:r>
            <a:r>
              <a:rPr lang="en-US" sz="2400" dirty="0" err="1" smtClean="0">
                <a:sym typeface="Wingdings" panose="05000000000000000000" pitchFamily="2" charset="2"/>
              </a:rPr>
              <a:t>tanto</a:t>
            </a:r>
            <a:r>
              <a:rPr lang="en-US" sz="2400" dirty="0" smtClean="0">
                <a:sym typeface="Wingdings" panose="05000000000000000000" pitchFamily="2" charset="2"/>
              </a:rPr>
              <a:t>, el </a:t>
            </a:r>
            <a:r>
              <a:rPr lang="en-US" sz="2400" dirty="0" err="1" smtClean="0">
                <a:sym typeface="Wingdings" panose="05000000000000000000" pitchFamily="2" charset="2"/>
              </a:rPr>
              <a:t>costo</a:t>
            </a:r>
            <a:r>
              <a:rPr lang="en-US" sz="2400" dirty="0" smtClean="0">
                <a:sym typeface="Wingdings" panose="05000000000000000000" pitchFamily="2" charset="2"/>
              </a:rPr>
              <a:t> total del </a:t>
            </a:r>
            <a:r>
              <a:rPr lang="en-US" sz="2400" dirty="0" err="1" smtClean="0">
                <a:sym typeface="Wingdings" panose="05000000000000000000" pitchFamily="2" charset="2"/>
              </a:rPr>
              <a:t>ordenamiento</a:t>
            </a:r>
            <a:r>
              <a:rPr lang="en-US" sz="2400" dirty="0" smtClean="0">
                <a:sym typeface="Wingdings" panose="05000000000000000000" pitchFamily="2" charset="2"/>
              </a:rPr>
              <a:t> </a:t>
            </a:r>
            <a:r>
              <a:rPr lang="en-US" sz="2400" dirty="0" err="1" smtClean="0">
                <a:sym typeface="Wingdings" panose="05000000000000000000" pitchFamily="2" charset="2"/>
              </a:rPr>
              <a:t>es</a:t>
            </a:r>
            <a:r>
              <a:rPr lang="en-US" sz="2400" dirty="0" smtClean="0">
                <a:sym typeface="Wingdings" panose="05000000000000000000" pitchFamily="2" charset="2"/>
              </a:rPr>
              <a:t>:</a:t>
            </a:r>
          </a:p>
          <a:p>
            <a:pPr eaLnBrk="1" hangingPunct="1">
              <a:buFontTx/>
              <a:buNone/>
            </a:pPr>
            <a:r>
              <a:rPr lang="en-US" sz="2400" dirty="0" smtClean="0">
                <a:solidFill>
                  <a:schemeClr val="accent2"/>
                </a:solidFill>
                <a:sym typeface="Wingdings" panose="05000000000000000000" pitchFamily="2" charset="2"/>
              </a:rPr>
              <a:t>     </a:t>
            </a:r>
            <a:r>
              <a:rPr lang="en-US" sz="2400" dirty="0" err="1" smtClean="0">
                <a:solidFill>
                  <a:schemeClr val="accent2"/>
                </a:solidFill>
                <a:sym typeface="Wingdings" panose="05000000000000000000" pitchFamily="2" charset="2"/>
              </a:rPr>
              <a:t>Costo</a:t>
            </a:r>
            <a:r>
              <a:rPr lang="en-US" sz="2400" dirty="0" smtClean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US" sz="2400" dirty="0" err="1" smtClean="0">
                <a:solidFill>
                  <a:schemeClr val="accent2"/>
                </a:solidFill>
              </a:rPr>
              <a:t>ordenamiento</a:t>
            </a:r>
            <a:r>
              <a:rPr lang="en-US" sz="2400" dirty="0" smtClean="0">
                <a:solidFill>
                  <a:schemeClr val="accent2"/>
                </a:solidFill>
              </a:rPr>
              <a:t> </a:t>
            </a:r>
            <a:r>
              <a:rPr lang="en-US" sz="2400" dirty="0" err="1" smtClean="0">
                <a:solidFill>
                  <a:schemeClr val="accent2"/>
                </a:solidFill>
              </a:rPr>
              <a:t>parcial</a:t>
            </a:r>
            <a:r>
              <a:rPr lang="en-US" sz="2400" dirty="0" smtClean="0">
                <a:sym typeface="Wingdings" panose="05000000000000000000" pitchFamily="2" charset="2"/>
              </a:rPr>
              <a:t> + </a:t>
            </a:r>
            <a:r>
              <a:rPr lang="en-US" sz="2400" dirty="0" err="1" smtClean="0">
                <a:solidFill>
                  <a:srgbClr val="006600"/>
                </a:solidFill>
                <a:sym typeface="Wingdings" panose="05000000000000000000" pitchFamily="2" charset="2"/>
              </a:rPr>
              <a:t>Costo</a:t>
            </a:r>
            <a:r>
              <a:rPr lang="en-US" sz="2400" dirty="0" smtClean="0">
                <a:solidFill>
                  <a:srgbClr val="006600"/>
                </a:solidFill>
                <a:sym typeface="Wingdings" panose="05000000000000000000" pitchFamily="2" charset="2"/>
              </a:rPr>
              <a:t> del </a:t>
            </a:r>
            <a:r>
              <a:rPr lang="en-US" sz="2400" i="1" dirty="0" smtClean="0">
                <a:solidFill>
                  <a:srgbClr val="006600"/>
                </a:solidFill>
                <a:sym typeface="Wingdings" panose="05000000000000000000" pitchFamily="2" charset="2"/>
              </a:rPr>
              <a:t>K-way merge</a:t>
            </a:r>
            <a:r>
              <a:rPr lang="en-US" sz="2400" dirty="0" smtClean="0">
                <a:sym typeface="Wingdings" panose="05000000000000000000" pitchFamily="2" charset="2"/>
              </a:rPr>
              <a:t>:</a:t>
            </a:r>
          </a:p>
          <a:p>
            <a:pPr eaLnBrk="1" hangingPunct="1">
              <a:buFontTx/>
              <a:buNone/>
            </a:pPr>
            <a:r>
              <a:rPr lang="en-US" dirty="0" smtClean="0">
                <a:solidFill>
                  <a:schemeClr val="accent2"/>
                </a:solidFill>
                <a:sym typeface="Wingdings" panose="05000000000000000000" pitchFamily="2" charset="2"/>
              </a:rPr>
              <a:t>             2F</a:t>
            </a:r>
            <a:r>
              <a:rPr lang="en-US" dirty="0" smtClean="0">
                <a:sym typeface="Wingdings" panose="05000000000000000000" pitchFamily="2" charset="2"/>
              </a:rPr>
              <a:t> +</a:t>
            </a:r>
            <a:r>
              <a:rPr lang="en-US" sz="2400" dirty="0" smtClean="0">
                <a:sym typeface="Wingdings" panose="05000000000000000000" pitchFamily="2" charset="2"/>
              </a:rPr>
              <a:t> </a:t>
            </a:r>
            <a:r>
              <a:rPr lang="en-US" dirty="0" smtClean="0">
                <a:solidFill>
                  <a:srgbClr val="006600"/>
                </a:solidFill>
              </a:rPr>
              <a:t>(2F) * (Log</a:t>
            </a:r>
            <a:r>
              <a:rPr lang="en-US" baseline="-25000" dirty="0" smtClean="0">
                <a:solidFill>
                  <a:srgbClr val="006600"/>
                </a:solidFill>
              </a:rPr>
              <a:t>M-1</a:t>
            </a:r>
            <a:r>
              <a:rPr lang="en-US" dirty="0" smtClean="0">
                <a:solidFill>
                  <a:srgbClr val="006600"/>
                </a:solidFill>
              </a:rPr>
              <a:t>(F) - 1)</a:t>
            </a:r>
            <a:r>
              <a:rPr lang="en-US" dirty="0" smtClean="0"/>
              <a:t> </a:t>
            </a:r>
            <a:endParaRPr lang="en-US" sz="2400" dirty="0" smtClean="0">
              <a:sym typeface="Wingdings" panose="05000000000000000000" pitchFamily="2" charset="2"/>
            </a:endParaRPr>
          </a:p>
          <a:p>
            <a:pPr eaLnBrk="1" hangingPunct="1">
              <a:buFontTx/>
              <a:buNone/>
            </a:pPr>
            <a:endParaRPr lang="en-US" sz="2400" dirty="0" smtClean="0"/>
          </a:p>
        </p:txBody>
      </p:sp>
      <p:sp>
        <p:nvSpPr>
          <p:cNvPr id="43012" name="AutoShape 4"/>
          <p:cNvSpPr>
            <a:spLocks/>
          </p:cNvSpPr>
          <p:nvPr/>
        </p:nvSpPr>
        <p:spPr bwMode="auto">
          <a:xfrm rot="-5400000">
            <a:off x="4510088" y="2338387"/>
            <a:ext cx="268288" cy="1439863"/>
          </a:xfrm>
          <a:prstGeom prst="leftBrace">
            <a:avLst>
              <a:gd name="adj1" fmla="val 44724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4386263" y="3125788"/>
            <a:ext cx="1079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  <a:sym typeface="Symbol" panose="05050102010706020507" pitchFamily="18" charset="2"/>
              </a:rPr>
              <a:t> 1</a:t>
            </a:r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395288" y="3573463"/>
            <a:ext cx="3816350" cy="719137"/>
          </a:xfrm>
          <a:prstGeom prst="rect">
            <a:avLst/>
          </a:prstGeom>
          <a:solidFill>
            <a:schemeClr val="accent2">
              <a:alpha val="4509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Simplificando:</a:t>
            </a:r>
          </a:p>
          <a:p>
            <a:pPr eaLnBrk="1" hangingPunct="1">
              <a:buFontTx/>
              <a:buNone/>
            </a:pPr>
            <a:r>
              <a:rPr lang="en-US" smtClean="0">
                <a:sym typeface="Wingdings" panose="05000000000000000000" pitchFamily="2" charset="2"/>
              </a:rPr>
              <a:t> 2F +</a:t>
            </a:r>
            <a:r>
              <a:rPr lang="en-US" sz="2400" smtClean="0">
                <a:sym typeface="Wingdings" panose="05000000000000000000" pitchFamily="2" charset="2"/>
              </a:rPr>
              <a:t> </a:t>
            </a:r>
            <a:r>
              <a:rPr lang="en-US" smtClean="0"/>
              <a:t>2F * Log</a:t>
            </a:r>
            <a:r>
              <a:rPr lang="en-US" baseline="-25000" smtClean="0"/>
              <a:t>M-1</a:t>
            </a:r>
            <a:r>
              <a:rPr lang="en-US" smtClean="0"/>
              <a:t>(F) – 2F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r>
              <a:rPr lang="en-US" smtClean="0"/>
              <a:t>Costo del ordenamiento de una relación: </a:t>
            </a:r>
          </a:p>
          <a:p>
            <a:pPr eaLnBrk="1" hangingPunct="1">
              <a:buFontTx/>
              <a:buNone/>
            </a:pPr>
            <a:r>
              <a:rPr lang="en-US" smtClean="0"/>
              <a:t>				2F * Log</a:t>
            </a:r>
            <a:r>
              <a:rPr lang="en-US" baseline="-25000" smtClean="0"/>
              <a:t>M-1</a:t>
            </a:r>
            <a:r>
              <a:rPr lang="en-US" smtClean="0"/>
              <a:t>(F)</a:t>
            </a:r>
          </a:p>
          <a:p>
            <a:pPr eaLnBrk="1" hangingPunct="1">
              <a:buFontTx/>
              <a:buNone/>
            </a:pPr>
            <a:r>
              <a:rPr lang="en-US" smtClean="0"/>
              <a:t>Redondeando el logaritmo:</a:t>
            </a:r>
          </a:p>
          <a:p>
            <a:pPr eaLnBrk="1" hangingPunct="1">
              <a:buFontTx/>
              <a:buNone/>
            </a:pPr>
            <a:r>
              <a:rPr lang="en-US" smtClean="0"/>
              <a:t>				2F * </a:t>
            </a:r>
            <a:r>
              <a:rPr lang="en-US" sz="2800" smtClean="0">
                <a:sym typeface="Symbol" panose="05050102010706020507" pitchFamily="18" charset="2"/>
              </a:rPr>
              <a:t></a:t>
            </a:r>
            <a:r>
              <a:rPr lang="en-US" smtClean="0"/>
              <a:t>Log</a:t>
            </a:r>
            <a:r>
              <a:rPr lang="en-US" baseline="-25000" smtClean="0"/>
              <a:t>M-1</a:t>
            </a:r>
            <a:r>
              <a:rPr lang="en-US" smtClean="0"/>
              <a:t>(F)</a:t>
            </a:r>
            <a:r>
              <a:rPr lang="en-US" sz="2800" smtClean="0">
                <a:sym typeface="Symbol" panose="05050102010706020507" pitchFamily="18" charset="2"/>
              </a:rPr>
              <a:t></a:t>
            </a:r>
          </a:p>
          <a:p>
            <a:pPr eaLnBrk="1" hangingPunct="1">
              <a:buFontTx/>
              <a:buNone/>
            </a:pPr>
            <a:endParaRPr lang="en-US" smtClean="0"/>
          </a:p>
        </p:txBody>
      </p:sp>
      <p:sp>
        <p:nvSpPr>
          <p:cNvPr id="44036" name="Line 4"/>
          <p:cNvSpPr>
            <a:spLocks noChangeShapeType="1"/>
          </p:cNvSpPr>
          <p:nvPr/>
        </p:nvSpPr>
        <p:spPr bwMode="auto">
          <a:xfrm flipV="1">
            <a:off x="468313" y="2205038"/>
            <a:ext cx="79057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 flipV="1">
            <a:off x="4357688" y="2205038"/>
            <a:ext cx="79057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3132138" y="5084763"/>
            <a:ext cx="3168650" cy="719137"/>
          </a:xfrm>
          <a:prstGeom prst="rect">
            <a:avLst/>
          </a:prstGeom>
          <a:solidFill>
            <a:schemeClr val="accent2">
              <a:alpha val="4509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auto">
          <a:xfrm>
            <a:off x="6300788" y="5203825"/>
            <a:ext cx="20161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>
                <a:sym typeface="Wingdings" panose="05000000000000000000" pitchFamily="2" charset="2"/>
              </a:rPr>
              <a:t> Costo del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>
                <a:sym typeface="Wingdings" panose="05000000000000000000" pitchFamily="2" charset="2"/>
              </a:rPr>
              <a:t>    ordenamiento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 err="1" smtClean="0"/>
              <a:t>Por</a:t>
            </a:r>
            <a:r>
              <a:rPr lang="en-US" dirty="0" smtClean="0"/>
              <a:t> lo </a:t>
            </a:r>
            <a:r>
              <a:rPr lang="en-US" dirty="0" err="1" smtClean="0"/>
              <a:t>tanto</a:t>
            </a:r>
            <a:r>
              <a:rPr lang="en-US" dirty="0" smtClean="0"/>
              <a:t>, el </a:t>
            </a:r>
            <a:r>
              <a:rPr lang="en-US" dirty="0" err="1" smtClean="0"/>
              <a:t>costo</a:t>
            </a:r>
            <a:r>
              <a:rPr lang="en-US" dirty="0" smtClean="0"/>
              <a:t> total del </a:t>
            </a:r>
            <a:r>
              <a:rPr lang="en-US" i="1" dirty="0" smtClean="0"/>
              <a:t>Sort Merge </a:t>
            </a:r>
          </a:p>
          <a:p>
            <a:pPr eaLnBrk="1" hangingPunct="1">
              <a:buFontTx/>
              <a:buNone/>
            </a:pPr>
            <a:r>
              <a:rPr lang="en-US" i="1" dirty="0" smtClean="0"/>
              <a:t>Join</a:t>
            </a:r>
            <a:r>
              <a:rPr lang="en-US" dirty="0" smtClean="0"/>
              <a:t> </a:t>
            </a:r>
            <a:r>
              <a:rPr lang="en-US" dirty="0" err="1" smtClean="0"/>
              <a:t>será</a:t>
            </a:r>
            <a:r>
              <a:rPr lang="en-US" dirty="0" smtClean="0"/>
              <a:t>:</a:t>
            </a:r>
          </a:p>
          <a:p>
            <a:pPr eaLnBrk="1" hangingPunct="1">
              <a:buFontTx/>
              <a:buNone/>
            </a:pPr>
            <a:r>
              <a:rPr lang="en-US" dirty="0" err="1" smtClean="0"/>
              <a:t>Costo</a:t>
            </a:r>
            <a:r>
              <a:rPr lang="en-US" dirty="0" smtClean="0"/>
              <a:t> del </a:t>
            </a:r>
            <a:r>
              <a:rPr lang="en-US" dirty="0" err="1" smtClean="0"/>
              <a:t>ordenamiento</a:t>
            </a:r>
            <a:r>
              <a:rPr lang="en-US" dirty="0" smtClean="0"/>
              <a:t> de </a:t>
            </a:r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relación</a:t>
            </a:r>
            <a:r>
              <a:rPr lang="en-US" dirty="0" smtClean="0"/>
              <a:t> +</a:t>
            </a:r>
          </a:p>
          <a:p>
            <a:pPr eaLnBrk="1" hangingPunct="1">
              <a:buFontTx/>
              <a:buNone/>
            </a:pPr>
            <a:r>
              <a:rPr lang="en-US" dirty="0" err="1" smtClean="0"/>
              <a:t>Costo</a:t>
            </a:r>
            <a:r>
              <a:rPr lang="en-US" dirty="0" smtClean="0"/>
              <a:t> de la </a:t>
            </a:r>
            <a:r>
              <a:rPr lang="en-US" dirty="0" err="1" smtClean="0"/>
              <a:t>etapa</a:t>
            </a:r>
            <a:r>
              <a:rPr lang="en-US" dirty="0" smtClean="0"/>
              <a:t> </a:t>
            </a:r>
            <a:r>
              <a:rPr lang="en-US" i="1" dirty="0" smtClean="0"/>
              <a:t>merge</a:t>
            </a:r>
            <a:r>
              <a:rPr lang="en-US" dirty="0" smtClean="0"/>
              <a:t> del </a:t>
            </a:r>
            <a:r>
              <a:rPr lang="en-US" i="1" dirty="0" smtClean="0"/>
              <a:t>Sort Merge</a:t>
            </a:r>
            <a:r>
              <a:rPr lang="en-US" dirty="0" smtClean="0"/>
              <a:t>:</a:t>
            </a:r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>
              <a:buFontTx/>
              <a:buNone/>
            </a:pPr>
            <a:r>
              <a:rPr lang="en-US" sz="2800" dirty="0" smtClean="0"/>
              <a:t>2F</a:t>
            </a:r>
            <a:r>
              <a:rPr lang="en-US" sz="2800" baseline="-25000" dirty="0" smtClean="0"/>
              <a:t>r</a:t>
            </a:r>
            <a:r>
              <a:rPr lang="en-US" sz="2800" dirty="0" smtClean="0"/>
              <a:t> * </a:t>
            </a:r>
            <a:r>
              <a:rPr lang="en-US" sz="2800" dirty="0" smtClean="0">
                <a:sym typeface="Symbol" panose="05050102010706020507" pitchFamily="18" charset="2"/>
              </a:rPr>
              <a:t></a:t>
            </a:r>
            <a:r>
              <a:rPr lang="en-US" sz="2800" dirty="0" smtClean="0"/>
              <a:t>Log</a:t>
            </a:r>
            <a:r>
              <a:rPr lang="en-US" sz="2800" baseline="-25000" dirty="0" smtClean="0"/>
              <a:t>M-1</a:t>
            </a:r>
            <a:r>
              <a:rPr lang="en-US" sz="2800" dirty="0" smtClean="0"/>
              <a:t>(F</a:t>
            </a:r>
            <a:r>
              <a:rPr lang="en-US" sz="2800" baseline="-25000" dirty="0" smtClean="0"/>
              <a:t>r</a:t>
            </a:r>
            <a:r>
              <a:rPr lang="en-US" sz="2800" dirty="0" smtClean="0"/>
              <a:t>)</a:t>
            </a:r>
            <a:r>
              <a:rPr lang="en-US" sz="2800" dirty="0" smtClean="0">
                <a:sym typeface="Symbol" panose="05050102010706020507" pitchFamily="18" charset="2"/>
              </a:rPr>
              <a:t> + </a:t>
            </a:r>
            <a:r>
              <a:rPr lang="en-US" sz="2800" dirty="0" smtClean="0"/>
              <a:t>2F</a:t>
            </a:r>
            <a:r>
              <a:rPr lang="en-US" sz="2800" baseline="-25000" dirty="0" smtClean="0"/>
              <a:t>s</a:t>
            </a:r>
            <a:r>
              <a:rPr lang="en-US" sz="2800" dirty="0" smtClean="0"/>
              <a:t> * </a:t>
            </a:r>
            <a:r>
              <a:rPr lang="en-US" sz="2800" dirty="0" smtClean="0">
                <a:sym typeface="Symbol" panose="05050102010706020507" pitchFamily="18" charset="2"/>
              </a:rPr>
              <a:t></a:t>
            </a:r>
            <a:r>
              <a:rPr lang="en-US" sz="2800" dirty="0" smtClean="0"/>
              <a:t>Log</a:t>
            </a:r>
            <a:r>
              <a:rPr lang="en-US" sz="2800" baseline="-25000" dirty="0" smtClean="0"/>
              <a:t>M-1</a:t>
            </a:r>
            <a:r>
              <a:rPr lang="en-US" sz="2800" dirty="0" smtClean="0"/>
              <a:t>(F</a:t>
            </a:r>
            <a:r>
              <a:rPr lang="en-US" sz="2800" baseline="-25000" dirty="0" smtClean="0"/>
              <a:t>s</a:t>
            </a:r>
            <a:r>
              <a:rPr lang="en-US" sz="2800" dirty="0" smtClean="0"/>
              <a:t>)</a:t>
            </a:r>
            <a:r>
              <a:rPr lang="en-US" sz="2800" dirty="0" smtClean="0">
                <a:sym typeface="Symbol" panose="05050102010706020507" pitchFamily="18" charset="2"/>
              </a:rPr>
              <a:t> + F</a:t>
            </a:r>
            <a:r>
              <a:rPr lang="en-US" sz="2800" baseline="-25000" dirty="0" smtClean="0">
                <a:sym typeface="Symbol" panose="05050102010706020507" pitchFamily="18" charset="2"/>
              </a:rPr>
              <a:t>r</a:t>
            </a:r>
            <a:r>
              <a:rPr lang="en-US" sz="2800" dirty="0" smtClean="0">
                <a:sym typeface="Symbol" panose="05050102010706020507" pitchFamily="18" charset="2"/>
              </a:rPr>
              <a:t> + F</a:t>
            </a:r>
            <a:r>
              <a:rPr lang="en-US" sz="2800" baseline="-25000" dirty="0" smtClean="0">
                <a:sym typeface="Symbol" panose="05050102010706020507" pitchFamily="18" charset="2"/>
              </a:rPr>
              <a:t>s</a:t>
            </a:r>
            <a:endParaRPr lang="en-US" sz="2800" baseline="-25000" dirty="0" smtClean="0"/>
          </a:p>
        </p:txBody>
      </p:sp>
      <p:sp>
        <p:nvSpPr>
          <p:cNvPr id="45060" name="AutoShape 4"/>
          <p:cNvSpPr>
            <a:spLocks/>
          </p:cNvSpPr>
          <p:nvPr/>
        </p:nvSpPr>
        <p:spPr bwMode="auto">
          <a:xfrm rot="-5400000">
            <a:off x="1791494" y="3956844"/>
            <a:ext cx="231775" cy="2592387"/>
          </a:xfrm>
          <a:prstGeom prst="leftBrace">
            <a:avLst>
              <a:gd name="adj1" fmla="val 93208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971550" y="5302250"/>
            <a:ext cx="17287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  <a:sym typeface="Symbol" panose="05050102010706020507" pitchFamily="18" charset="2"/>
              </a:rPr>
              <a:t>Costo de ordenar r</a:t>
            </a:r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4356100" y="5302250"/>
            <a:ext cx="17287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  <a:sym typeface="Symbol" panose="05050102010706020507" pitchFamily="18" charset="2"/>
              </a:rPr>
              <a:t>Costo de ordenar s</a:t>
            </a:r>
          </a:p>
        </p:txBody>
      </p:sp>
      <p:sp>
        <p:nvSpPr>
          <p:cNvPr id="45063" name="AutoShape 7"/>
          <p:cNvSpPr>
            <a:spLocks/>
          </p:cNvSpPr>
          <p:nvPr/>
        </p:nvSpPr>
        <p:spPr bwMode="auto">
          <a:xfrm rot="-5400000">
            <a:off x="4960144" y="3956844"/>
            <a:ext cx="231775" cy="2592387"/>
          </a:xfrm>
          <a:prstGeom prst="leftBrace">
            <a:avLst>
              <a:gd name="adj1" fmla="val 93208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5064" name="AutoShape 8"/>
          <p:cNvSpPr>
            <a:spLocks/>
          </p:cNvSpPr>
          <p:nvPr/>
        </p:nvSpPr>
        <p:spPr bwMode="auto">
          <a:xfrm rot="-5400000">
            <a:off x="7300913" y="4568825"/>
            <a:ext cx="158750" cy="1295400"/>
          </a:xfrm>
          <a:prstGeom prst="leftBrace">
            <a:avLst>
              <a:gd name="adj1" fmla="val 68000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5065" name="Text Box 9"/>
          <p:cNvSpPr txBox="1">
            <a:spLocks noChangeArrowheads="1"/>
          </p:cNvSpPr>
          <p:nvPr/>
        </p:nvSpPr>
        <p:spPr bwMode="auto">
          <a:xfrm>
            <a:off x="6516688" y="5302250"/>
            <a:ext cx="172878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 err="1">
                <a:solidFill>
                  <a:schemeClr val="accent2"/>
                </a:solidFill>
                <a:sym typeface="Symbol" panose="05050102010706020507" pitchFamily="18" charset="2"/>
              </a:rPr>
              <a:t>Costo</a:t>
            </a:r>
            <a:r>
              <a:rPr 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 de la </a:t>
            </a:r>
            <a:r>
              <a:rPr lang="en-US" sz="2000" dirty="0" err="1">
                <a:solidFill>
                  <a:schemeClr val="accent2"/>
                </a:solidFill>
                <a:sym typeface="Symbol" panose="05050102010706020507" pitchFamily="18" charset="2"/>
              </a:rPr>
              <a:t>mezcla</a:t>
            </a:r>
            <a:r>
              <a:rPr 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 del </a:t>
            </a:r>
            <a:r>
              <a:rPr lang="en-US" sz="2000" i="1" dirty="0">
                <a:solidFill>
                  <a:schemeClr val="accent2"/>
                </a:solidFill>
                <a:sym typeface="Symbol" panose="05050102010706020507" pitchFamily="18" charset="2"/>
              </a:rPr>
              <a:t>S</a:t>
            </a:r>
            <a:r>
              <a:rPr lang="en-US" sz="2000" i="1" dirty="0" smtClean="0">
                <a:solidFill>
                  <a:schemeClr val="accent2"/>
                </a:solidFill>
                <a:sym typeface="Symbol" panose="05050102010706020507" pitchFamily="18" charset="2"/>
              </a:rPr>
              <a:t>ort </a:t>
            </a:r>
            <a:r>
              <a:rPr lang="en-US" sz="2000" i="1" dirty="0">
                <a:solidFill>
                  <a:schemeClr val="accent2"/>
                </a:solidFill>
                <a:sym typeface="Symbol" panose="05050102010706020507" pitchFamily="18" charset="2"/>
              </a:rPr>
              <a:t>M</a:t>
            </a:r>
            <a:r>
              <a:rPr lang="en-US" sz="2000" i="1" dirty="0" smtClean="0">
                <a:solidFill>
                  <a:schemeClr val="accent2"/>
                </a:solidFill>
                <a:sym typeface="Symbol" panose="05050102010706020507" pitchFamily="18" charset="2"/>
              </a:rPr>
              <a:t>erge</a:t>
            </a:r>
            <a:endParaRPr lang="en-US" sz="2000" i="1" dirty="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45066" name="Rectangle 10"/>
          <p:cNvSpPr>
            <a:spLocks noChangeArrowheads="1"/>
          </p:cNvSpPr>
          <p:nvPr/>
        </p:nvSpPr>
        <p:spPr bwMode="auto">
          <a:xfrm>
            <a:off x="468313" y="4365625"/>
            <a:ext cx="7488237" cy="719138"/>
          </a:xfrm>
          <a:prstGeom prst="rect">
            <a:avLst/>
          </a:prstGeom>
          <a:solidFill>
            <a:schemeClr val="accent2">
              <a:alpha val="4509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Se </a:t>
            </a:r>
            <a:r>
              <a:rPr lang="en-US" dirty="0" err="1" smtClean="0"/>
              <a:t>han</a:t>
            </a:r>
            <a:r>
              <a:rPr lang="en-US" dirty="0" smtClean="0"/>
              <a:t> </a:t>
            </a:r>
            <a:r>
              <a:rPr lang="en-US" dirty="0" err="1" smtClean="0"/>
              <a:t>propuesto</a:t>
            </a:r>
            <a:r>
              <a:rPr lang="en-US" dirty="0" smtClean="0"/>
              <a:t> </a:t>
            </a:r>
            <a:r>
              <a:rPr lang="en-US" dirty="0" err="1" smtClean="0"/>
              <a:t>mejoras</a:t>
            </a:r>
            <a:r>
              <a:rPr lang="en-US" dirty="0" smtClean="0"/>
              <a:t> al </a:t>
            </a:r>
            <a:r>
              <a:rPr lang="en-US" dirty="0" err="1" smtClean="0"/>
              <a:t>algoritmo</a:t>
            </a:r>
            <a:r>
              <a:rPr lang="en-US" dirty="0" smtClean="0"/>
              <a:t> </a:t>
            </a:r>
            <a:r>
              <a:rPr lang="en-US" i="1" dirty="0" smtClean="0"/>
              <a:t>Sort Merg</a:t>
            </a:r>
            <a:r>
              <a:rPr lang="en-US" dirty="0" smtClean="0"/>
              <a:t>e </a:t>
            </a:r>
            <a:r>
              <a:rPr lang="en-US" dirty="0" err="1" smtClean="0"/>
              <a:t>donde</a:t>
            </a:r>
            <a:r>
              <a:rPr lang="en-US" dirty="0" smtClean="0"/>
              <a:t> se </a:t>
            </a:r>
            <a:r>
              <a:rPr lang="en-US" dirty="0" err="1" smtClean="0"/>
              <a:t>fusionan</a:t>
            </a:r>
            <a:r>
              <a:rPr lang="en-US" dirty="0" smtClean="0"/>
              <a:t> </a:t>
            </a:r>
            <a:r>
              <a:rPr lang="en-US" dirty="0" err="1" smtClean="0"/>
              <a:t>las</a:t>
            </a:r>
            <a:r>
              <a:rPr lang="en-US" dirty="0" smtClean="0"/>
              <a:t> </a:t>
            </a:r>
            <a:r>
              <a:rPr lang="en-US" dirty="0" err="1" smtClean="0"/>
              <a:t>mezclas</a:t>
            </a:r>
            <a:r>
              <a:rPr lang="en-US" dirty="0" smtClean="0"/>
              <a:t> de ambos </a:t>
            </a:r>
            <a:r>
              <a:rPr lang="en-US" dirty="0" err="1" smtClean="0"/>
              <a:t>procesos</a:t>
            </a:r>
            <a:r>
              <a:rPr lang="en-US" dirty="0" smtClean="0"/>
              <a:t> (</a:t>
            </a:r>
            <a:r>
              <a:rPr lang="en-US" i="1" dirty="0" smtClean="0"/>
              <a:t>merge</a:t>
            </a:r>
            <a:r>
              <a:rPr lang="en-US" dirty="0" smtClean="0"/>
              <a:t> del </a:t>
            </a:r>
            <a:r>
              <a:rPr lang="en-US" i="1" dirty="0" smtClean="0"/>
              <a:t>Sort Merge </a:t>
            </a:r>
            <a:r>
              <a:rPr lang="en-US" dirty="0" smtClean="0"/>
              <a:t>y </a:t>
            </a:r>
            <a:r>
              <a:rPr lang="en-US" i="1" dirty="0" smtClean="0"/>
              <a:t>merge</a:t>
            </a:r>
            <a:r>
              <a:rPr lang="en-US" dirty="0" smtClean="0"/>
              <a:t> del </a:t>
            </a:r>
            <a:r>
              <a:rPr lang="en-US" i="1" dirty="0" smtClean="0"/>
              <a:t>K-way</a:t>
            </a:r>
            <a:r>
              <a:rPr lang="en-US" dirty="0" smtClean="0"/>
              <a:t>) y se </a:t>
            </a:r>
            <a:r>
              <a:rPr lang="en-US" dirty="0" err="1" smtClean="0"/>
              <a:t>evita</a:t>
            </a:r>
            <a:r>
              <a:rPr lang="en-US" dirty="0" smtClean="0"/>
              <a:t> el </a:t>
            </a:r>
            <a:r>
              <a:rPr lang="en-US" dirty="0" err="1" smtClean="0"/>
              <a:t>acceso</a:t>
            </a:r>
            <a:r>
              <a:rPr lang="en-US" dirty="0" smtClean="0"/>
              <a:t> (</a:t>
            </a:r>
            <a:r>
              <a:rPr lang="en-US" sz="2800" dirty="0" smtClean="0">
                <a:sym typeface="Symbol" panose="05050102010706020507" pitchFamily="18" charset="2"/>
              </a:rPr>
              <a:t>F</a:t>
            </a:r>
            <a:r>
              <a:rPr lang="en-US" sz="2800" baseline="-25000" dirty="0" smtClean="0">
                <a:sym typeface="Symbol" panose="05050102010706020507" pitchFamily="18" charset="2"/>
              </a:rPr>
              <a:t>r</a:t>
            </a:r>
            <a:r>
              <a:rPr lang="en-US" sz="2800" dirty="0" smtClean="0">
                <a:sym typeface="Symbol" panose="05050102010706020507" pitchFamily="18" charset="2"/>
              </a:rPr>
              <a:t> + F</a:t>
            </a:r>
            <a:r>
              <a:rPr lang="en-US" sz="2800" baseline="-25000" dirty="0" smtClean="0">
                <a:sym typeface="Symbol" panose="05050102010706020507" pitchFamily="18" charset="2"/>
              </a:rPr>
              <a:t>s</a:t>
            </a:r>
            <a:r>
              <a:rPr lang="en-US" sz="2800" dirty="0" smtClean="0"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dirty="0" err="1" smtClean="0"/>
              <a:t>Así</a:t>
            </a:r>
            <a:r>
              <a:rPr lang="en-US" dirty="0" smtClean="0"/>
              <a:t>, el </a:t>
            </a:r>
            <a:r>
              <a:rPr lang="en-US" dirty="0" err="1" smtClean="0"/>
              <a:t>costo</a:t>
            </a:r>
            <a:r>
              <a:rPr lang="en-US" dirty="0" smtClean="0"/>
              <a:t> del </a:t>
            </a:r>
            <a:r>
              <a:rPr lang="en-US" i="1" dirty="0" smtClean="0"/>
              <a:t>Sort Merg</a:t>
            </a:r>
            <a:r>
              <a:rPr lang="en-US" dirty="0" smtClean="0"/>
              <a:t>e se reduce a:</a:t>
            </a:r>
          </a:p>
          <a:p>
            <a:pPr algn="ctr" eaLnBrk="1" hangingPunct="1">
              <a:buFontTx/>
              <a:buNone/>
            </a:pPr>
            <a:r>
              <a:rPr lang="en-US" sz="2800" dirty="0" smtClean="0"/>
              <a:t>2F</a:t>
            </a:r>
            <a:r>
              <a:rPr lang="en-US" sz="2800" baseline="-25000" dirty="0" smtClean="0"/>
              <a:t>r</a:t>
            </a:r>
            <a:r>
              <a:rPr lang="en-US" sz="2800" dirty="0" smtClean="0"/>
              <a:t> * </a:t>
            </a:r>
            <a:r>
              <a:rPr lang="en-US" sz="2800" dirty="0" smtClean="0">
                <a:sym typeface="Symbol" panose="05050102010706020507" pitchFamily="18" charset="2"/>
              </a:rPr>
              <a:t></a:t>
            </a:r>
            <a:r>
              <a:rPr lang="en-US" sz="2800" dirty="0" smtClean="0"/>
              <a:t>Log</a:t>
            </a:r>
            <a:r>
              <a:rPr lang="en-US" sz="2800" baseline="-25000" dirty="0" smtClean="0"/>
              <a:t>M-1</a:t>
            </a:r>
            <a:r>
              <a:rPr lang="en-US" sz="2800" dirty="0" smtClean="0"/>
              <a:t>(F</a:t>
            </a:r>
            <a:r>
              <a:rPr lang="en-US" sz="2800" baseline="-25000" dirty="0" smtClean="0"/>
              <a:t>r</a:t>
            </a:r>
            <a:r>
              <a:rPr lang="en-US" sz="2800" dirty="0" smtClean="0"/>
              <a:t>)</a:t>
            </a:r>
            <a:r>
              <a:rPr lang="en-US" sz="2800" dirty="0" smtClean="0">
                <a:sym typeface="Symbol" panose="05050102010706020507" pitchFamily="18" charset="2"/>
              </a:rPr>
              <a:t> + </a:t>
            </a:r>
            <a:r>
              <a:rPr lang="en-US" sz="2800" dirty="0" smtClean="0"/>
              <a:t>2F</a:t>
            </a:r>
            <a:r>
              <a:rPr lang="en-US" sz="2800" baseline="-25000" dirty="0" smtClean="0"/>
              <a:t>s</a:t>
            </a:r>
            <a:r>
              <a:rPr lang="en-US" sz="2800" dirty="0" smtClean="0"/>
              <a:t> * </a:t>
            </a:r>
            <a:r>
              <a:rPr lang="en-US" sz="2800" dirty="0" smtClean="0">
                <a:sym typeface="Symbol" panose="05050102010706020507" pitchFamily="18" charset="2"/>
              </a:rPr>
              <a:t></a:t>
            </a:r>
            <a:r>
              <a:rPr lang="en-US" sz="2800" dirty="0" smtClean="0"/>
              <a:t>Log</a:t>
            </a:r>
            <a:r>
              <a:rPr lang="en-US" sz="2800" baseline="-25000" dirty="0" smtClean="0"/>
              <a:t>M-1</a:t>
            </a:r>
            <a:r>
              <a:rPr lang="en-US" sz="2800" dirty="0" smtClean="0"/>
              <a:t>(F</a:t>
            </a:r>
            <a:r>
              <a:rPr lang="en-US" sz="2800" baseline="-25000" dirty="0" smtClean="0"/>
              <a:t>s</a:t>
            </a:r>
            <a:r>
              <a:rPr lang="en-US" sz="2800" dirty="0" smtClean="0"/>
              <a:t>)</a:t>
            </a:r>
            <a:r>
              <a:rPr lang="en-US" sz="2800" dirty="0" smtClean="0">
                <a:sym typeface="Symbol" panose="05050102010706020507" pitchFamily="18" charset="2"/>
              </a:rPr>
              <a:t></a:t>
            </a: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1547813" y="4653136"/>
            <a:ext cx="6119812" cy="719137"/>
          </a:xfrm>
          <a:prstGeom prst="rect">
            <a:avLst/>
          </a:prstGeom>
          <a:solidFill>
            <a:schemeClr val="accent2">
              <a:alpha val="4509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Ej: Sea F</a:t>
            </a:r>
            <a:r>
              <a:rPr lang="en-US" baseline="-25000" smtClean="0"/>
              <a:t>r</a:t>
            </a:r>
            <a:r>
              <a:rPr lang="en-US" smtClean="0"/>
              <a:t> = 1000, F</a:t>
            </a:r>
            <a:r>
              <a:rPr lang="en-US" baseline="-25000" smtClean="0"/>
              <a:t>s</a:t>
            </a:r>
            <a:r>
              <a:rPr lang="en-US" smtClean="0"/>
              <a:t> = 100 y M = 102</a:t>
            </a:r>
          </a:p>
          <a:p>
            <a:pPr eaLnBrk="1" hangingPunct="1">
              <a:buFontTx/>
              <a:buNone/>
            </a:pPr>
            <a:r>
              <a:rPr lang="en-US" sz="2800" smtClean="0"/>
              <a:t>2(1000) * </a:t>
            </a:r>
            <a:r>
              <a:rPr lang="en-US" sz="2800" smtClean="0">
                <a:sym typeface="Symbol" panose="05050102010706020507" pitchFamily="18" charset="2"/>
              </a:rPr>
              <a:t></a:t>
            </a:r>
            <a:r>
              <a:rPr lang="en-US" sz="2800" smtClean="0"/>
              <a:t>Log</a:t>
            </a:r>
            <a:r>
              <a:rPr lang="en-US" sz="2800" baseline="-25000" smtClean="0"/>
              <a:t>101</a:t>
            </a:r>
            <a:r>
              <a:rPr lang="en-US" sz="2800" smtClean="0"/>
              <a:t>(1000)</a:t>
            </a:r>
            <a:r>
              <a:rPr lang="en-US" sz="2800" smtClean="0">
                <a:sym typeface="Symbol" panose="05050102010706020507" pitchFamily="18" charset="2"/>
              </a:rPr>
              <a:t> + </a:t>
            </a:r>
            <a:r>
              <a:rPr lang="en-US" sz="2800" smtClean="0"/>
              <a:t>2(100) * </a:t>
            </a:r>
            <a:r>
              <a:rPr lang="en-US" sz="2800" smtClean="0">
                <a:sym typeface="Symbol" panose="05050102010706020507" pitchFamily="18" charset="2"/>
              </a:rPr>
              <a:t></a:t>
            </a:r>
            <a:r>
              <a:rPr lang="en-US" sz="2800" smtClean="0"/>
              <a:t>Log</a:t>
            </a:r>
            <a:r>
              <a:rPr lang="en-US" sz="2800" baseline="-25000" smtClean="0"/>
              <a:t>101</a:t>
            </a:r>
            <a:r>
              <a:rPr lang="en-US" sz="2800" smtClean="0"/>
              <a:t>(100)</a:t>
            </a:r>
            <a:r>
              <a:rPr lang="en-US" sz="2800" smtClean="0">
                <a:sym typeface="Symbol" panose="05050102010706020507" pitchFamily="18" charset="2"/>
              </a:rPr>
              <a:t></a:t>
            </a:r>
          </a:p>
          <a:p>
            <a:pPr eaLnBrk="1" hangingPunct="1">
              <a:buFontTx/>
              <a:buNone/>
            </a:pPr>
            <a:endParaRPr lang="en-US" sz="2800" smtClean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en-US" sz="2800" smtClean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sz="2800" smtClean="0">
                <a:sym typeface="Symbol" panose="05050102010706020507" pitchFamily="18" charset="2"/>
              </a:rPr>
              <a:t>2000 * 2 + 200 * 1 = 4201 (páginas)</a:t>
            </a:r>
          </a:p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endParaRPr lang="en-US" smtClean="0"/>
          </a:p>
        </p:txBody>
      </p:sp>
      <p:sp>
        <p:nvSpPr>
          <p:cNvPr id="47108" name="AutoShape 4"/>
          <p:cNvSpPr>
            <a:spLocks/>
          </p:cNvSpPr>
          <p:nvPr/>
        </p:nvSpPr>
        <p:spPr bwMode="auto">
          <a:xfrm rot="-5400000">
            <a:off x="1133475" y="2401888"/>
            <a:ext cx="250825" cy="720725"/>
          </a:xfrm>
          <a:prstGeom prst="leftBrace">
            <a:avLst>
              <a:gd name="adj1" fmla="val 23945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1039813" y="2925763"/>
            <a:ext cx="579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F</a:t>
            </a:r>
            <a:r>
              <a:rPr lang="en-US" sz="2000" baseline="-25000">
                <a:solidFill>
                  <a:schemeClr val="accent2"/>
                </a:solidFill>
              </a:rPr>
              <a:t>r</a:t>
            </a:r>
          </a:p>
        </p:txBody>
      </p:sp>
      <p:sp>
        <p:nvSpPr>
          <p:cNvPr id="47110" name="AutoShape 6"/>
          <p:cNvSpPr>
            <a:spLocks/>
          </p:cNvSpPr>
          <p:nvPr/>
        </p:nvSpPr>
        <p:spPr bwMode="auto">
          <a:xfrm rot="-5400000">
            <a:off x="3657600" y="2400300"/>
            <a:ext cx="250825" cy="720725"/>
          </a:xfrm>
          <a:prstGeom prst="leftBrace">
            <a:avLst>
              <a:gd name="adj1" fmla="val 23945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3563938" y="2924175"/>
            <a:ext cx="579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F</a:t>
            </a:r>
            <a:r>
              <a:rPr lang="en-US" sz="2000" baseline="-25000">
                <a:solidFill>
                  <a:schemeClr val="accent2"/>
                </a:solidFill>
              </a:rPr>
              <a:t>r</a:t>
            </a:r>
          </a:p>
        </p:txBody>
      </p:sp>
      <p:sp>
        <p:nvSpPr>
          <p:cNvPr id="47112" name="AutoShape 8"/>
          <p:cNvSpPr>
            <a:spLocks/>
          </p:cNvSpPr>
          <p:nvPr/>
        </p:nvSpPr>
        <p:spPr bwMode="auto">
          <a:xfrm rot="-5400000">
            <a:off x="2936875" y="2543176"/>
            <a:ext cx="249237" cy="436562"/>
          </a:xfrm>
          <a:prstGeom prst="leftBrace">
            <a:avLst>
              <a:gd name="adj1" fmla="val 14597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2767013" y="2927350"/>
            <a:ext cx="6524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M-1</a:t>
            </a:r>
            <a:endParaRPr lang="en-US" sz="2000" baseline="-25000">
              <a:solidFill>
                <a:schemeClr val="accent2"/>
              </a:solidFill>
            </a:endParaRPr>
          </a:p>
        </p:txBody>
      </p:sp>
      <p:sp>
        <p:nvSpPr>
          <p:cNvPr id="47114" name="AutoShape 10"/>
          <p:cNvSpPr>
            <a:spLocks/>
          </p:cNvSpPr>
          <p:nvPr/>
        </p:nvSpPr>
        <p:spPr bwMode="auto">
          <a:xfrm rot="-5400000">
            <a:off x="5313363" y="2400300"/>
            <a:ext cx="250825" cy="720725"/>
          </a:xfrm>
          <a:prstGeom prst="leftBrace">
            <a:avLst>
              <a:gd name="adj1" fmla="val 23945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5219700" y="2924175"/>
            <a:ext cx="579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F</a:t>
            </a:r>
            <a:r>
              <a:rPr lang="en-US" sz="2000" baseline="-2500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47116" name="AutoShape 12"/>
          <p:cNvSpPr>
            <a:spLocks/>
          </p:cNvSpPr>
          <p:nvPr/>
        </p:nvSpPr>
        <p:spPr bwMode="auto">
          <a:xfrm rot="-5400000">
            <a:off x="7686675" y="2401888"/>
            <a:ext cx="250825" cy="720725"/>
          </a:xfrm>
          <a:prstGeom prst="leftBrace">
            <a:avLst>
              <a:gd name="adj1" fmla="val 23945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7117" name="Text Box 13"/>
          <p:cNvSpPr txBox="1">
            <a:spLocks noChangeArrowheads="1"/>
          </p:cNvSpPr>
          <p:nvPr/>
        </p:nvSpPr>
        <p:spPr bwMode="auto">
          <a:xfrm>
            <a:off x="7593013" y="2925763"/>
            <a:ext cx="579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F</a:t>
            </a:r>
            <a:r>
              <a:rPr lang="en-US" sz="2000" baseline="-2500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47118" name="AutoShape 14"/>
          <p:cNvSpPr>
            <a:spLocks/>
          </p:cNvSpPr>
          <p:nvPr/>
        </p:nvSpPr>
        <p:spPr bwMode="auto">
          <a:xfrm rot="-5400000">
            <a:off x="7032625" y="2543176"/>
            <a:ext cx="249237" cy="436562"/>
          </a:xfrm>
          <a:prstGeom prst="leftBrace">
            <a:avLst>
              <a:gd name="adj1" fmla="val 14597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47119" name="Text Box 15"/>
          <p:cNvSpPr txBox="1">
            <a:spLocks noChangeArrowheads="1"/>
          </p:cNvSpPr>
          <p:nvPr/>
        </p:nvSpPr>
        <p:spPr bwMode="auto">
          <a:xfrm>
            <a:off x="6862763" y="2927350"/>
            <a:ext cx="6524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accent2"/>
                </a:solidFill>
              </a:rPr>
              <a:t>M-1</a:t>
            </a:r>
            <a:endParaRPr lang="en-US" sz="2000" baseline="-250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dirty="0" smtClean="0"/>
              <a:t>Sort Merge Join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En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caso</a:t>
            </a:r>
            <a:r>
              <a:rPr lang="en-US" dirty="0" smtClean="0"/>
              <a:t> el </a:t>
            </a:r>
            <a:r>
              <a:rPr lang="en-US" dirty="0" err="1" smtClean="0"/>
              <a:t>costo</a:t>
            </a:r>
            <a:r>
              <a:rPr lang="en-US" dirty="0" smtClean="0"/>
              <a:t> </a:t>
            </a:r>
            <a:r>
              <a:rPr lang="en-US" dirty="0" err="1" smtClean="0"/>
              <a:t>dio</a:t>
            </a:r>
            <a:r>
              <a:rPr lang="en-US" dirty="0" smtClean="0"/>
              <a:t> mayor </a:t>
            </a:r>
            <a:r>
              <a:rPr lang="en-US" dirty="0" err="1" smtClean="0"/>
              <a:t>que</a:t>
            </a:r>
            <a:r>
              <a:rPr lang="en-US" dirty="0" smtClean="0"/>
              <a:t> el del </a:t>
            </a:r>
            <a:r>
              <a:rPr lang="en-US" i="1" dirty="0" smtClean="0"/>
              <a:t>Block Nested</a:t>
            </a:r>
            <a:r>
              <a:rPr lang="en-US" dirty="0" smtClean="0"/>
              <a:t>, </a:t>
            </a:r>
            <a:r>
              <a:rPr lang="en-US" dirty="0" err="1" smtClean="0"/>
              <a:t>pero</a:t>
            </a:r>
            <a:r>
              <a:rPr lang="en-US" dirty="0" smtClean="0"/>
              <a:t> a </a:t>
            </a:r>
            <a:r>
              <a:rPr lang="en-US" dirty="0" err="1" smtClean="0"/>
              <a:t>medida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/>
                </a:solidFill>
              </a:rPr>
              <a:t>r</a:t>
            </a:r>
            <a:r>
              <a:rPr lang="en-US" dirty="0" smtClean="0"/>
              <a:t> y </a:t>
            </a:r>
            <a:r>
              <a:rPr lang="en-US" dirty="0" smtClean="0">
                <a:solidFill>
                  <a:schemeClr val="accent2"/>
                </a:solidFill>
              </a:rPr>
              <a:t>s</a:t>
            </a:r>
            <a:r>
              <a:rPr lang="en-US" dirty="0" smtClean="0"/>
              <a:t> </a:t>
            </a:r>
            <a:r>
              <a:rPr lang="en-US" dirty="0" err="1" smtClean="0"/>
              <a:t>crecen</a:t>
            </a:r>
            <a:r>
              <a:rPr lang="en-US" dirty="0" smtClean="0"/>
              <a:t>, el </a:t>
            </a:r>
            <a:r>
              <a:rPr lang="en-US" i="1" dirty="0" smtClean="0"/>
              <a:t>Sort Merge </a:t>
            </a:r>
            <a:r>
              <a:rPr lang="en-US" dirty="0" err="1" smtClean="0"/>
              <a:t>tiene</a:t>
            </a:r>
            <a:r>
              <a:rPr lang="en-US" dirty="0" smtClean="0"/>
              <a:t> un </a:t>
            </a:r>
            <a:r>
              <a:rPr lang="en-US" dirty="0" err="1" smtClean="0"/>
              <a:t>mejor</a:t>
            </a:r>
            <a:r>
              <a:rPr lang="en-US" dirty="0" smtClean="0"/>
              <a:t> </a:t>
            </a:r>
            <a:r>
              <a:rPr lang="en-US" dirty="0" err="1" smtClean="0"/>
              <a:t>comportamiento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el </a:t>
            </a:r>
            <a:r>
              <a:rPr lang="en-US" i="1" dirty="0" smtClean="0"/>
              <a:t>Block Nested</a:t>
            </a:r>
            <a:r>
              <a:rPr lang="en-US" dirty="0" smtClean="0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Hash Join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800" dirty="0" smtClean="0"/>
              <a:t>5. </a:t>
            </a:r>
            <a:r>
              <a:rPr lang="en-US" sz="2800" i="1" dirty="0" smtClean="0"/>
              <a:t>Hash Join </a:t>
            </a:r>
            <a:r>
              <a:rPr lang="en-US" sz="2800" dirty="0" smtClean="0"/>
              <a:t>(</a:t>
            </a:r>
            <a:r>
              <a:rPr lang="en-US" sz="2800" dirty="0" err="1" smtClean="0"/>
              <a:t>Reunión</a:t>
            </a:r>
            <a:r>
              <a:rPr lang="en-US" sz="2800" dirty="0" smtClean="0"/>
              <a:t> con </a:t>
            </a:r>
            <a:r>
              <a:rPr lang="en-US" sz="2800" dirty="0" err="1" smtClean="0"/>
              <a:t>Dispersión</a:t>
            </a:r>
            <a:r>
              <a:rPr lang="en-US" sz="2800" dirty="0" smtClean="0"/>
              <a:t>)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800" dirty="0" smtClean="0"/>
              <a:t>El </a:t>
            </a:r>
            <a:r>
              <a:rPr lang="en-US" sz="2800" i="1" dirty="0" smtClean="0"/>
              <a:t>hash join</a:t>
            </a:r>
            <a:r>
              <a:rPr lang="en-US" sz="2800" dirty="0" smtClean="0"/>
              <a:t> se </a:t>
            </a:r>
            <a:r>
              <a:rPr lang="en-US" sz="2800" dirty="0" err="1" smtClean="0"/>
              <a:t>hace</a:t>
            </a:r>
            <a:r>
              <a:rPr lang="en-US" sz="2800" dirty="0" smtClean="0"/>
              <a:t> en dos </a:t>
            </a:r>
            <a:r>
              <a:rPr lang="en-US" sz="2800" dirty="0" err="1" smtClean="0"/>
              <a:t>etapas</a:t>
            </a:r>
            <a:r>
              <a:rPr lang="en-US" sz="2800" dirty="0" smtClean="0"/>
              <a:t>: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eriod"/>
            </a:pPr>
            <a:r>
              <a:rPr lang="en-US" sz="2800" dirty="0" smtClean="0"/>
              <a:t>Se </a:t>
            </a:r>
            <a:r>
              <a:rPr lang="en-US" sz="2800" dirty="0" err="1" smtClean="0"/>
              <a:t>hace</a:t>
            </a:r>
            <a:r>
              <a:rPr lang="en-US" sz="2800" dirty="0" smtClean="0"/>
              <a:t> un </a:t>
            </a:r>
            <a:r>
              <a:rPr lang="en-US" sz="2800" dirty="0" err="1" smtClean="0"/>
              <a:t>proceso</a:t>
            </a:r>
            <a:r>
              <a:rPr lang="en-US" sz="2800" dirty="0" smtClean="0"/>
              <a:t> de </a:t>
            </a:r>
            <a:r>
              <a:rPr lang="en-US" sz="2800" i="1" dirty="0" smtClean="0"/>
              <a:t>hashing</a:t>
            </a:r>
            <a:r>
              <a:rPr lang="en-US" sz="2800" dirty="0" smtClean="0"/>
              <a:t> en </a:t>
            </a:r>
            <a:r>
              <a:rPr lang="en-US" sz="2800" dirty="0" smtClean="0">
                <a:solidFill>
                  <a:schemeClr val="accent2"/>
                </a:solidFill>
              </a:rPr>
              <a:t>r</a:t>
            </a:r>
            <a:r>
              <a:rPr lang="en-US" sz="2800" dirty="0" smtClean="0"/>
              <a:t> </a:t>
            </a:r>
            <a:r>
              <a:rPr lang="en-US" sz="2800" dirty="0" err="1" smtClean="0"/>
              <a:t>sobre</a:t>
            </a:r>
            <a:r>
              <a:rPr lang="en-US" sz="2800" dirty="0" smtClean="0"/>
              <a:t> el </a:t>
            </a:r>
            <a:r>
              <a:rPr lang="en-US" sz="2800" dirty="0" err="1" smtClean="0"/>
              <a:t>atributo</a:t>
            </a:r>
            <a:r>
              <a:rPr lang="en-US" sz="2800" dirty="0" smtClean="0"/>
              <a:t> de </a:t>
            </a:r>
            <a:r>
              <a:rPr lang="en-US" sz="2800" i="1" dirty="0" smtClean="0"/>
              <a:t>join</a:t>
            </a:r>
            <a:r>
              <a:rPr lang="en-US" sz="2800" dirty="0" smtClean="0"/>
              <a:t> (A)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800" dirty="0" smtClean="0"/>
              <a:t>	Se </a:t>
            </a:r>
            <a:r>
              <a:rPr lang="en-US" sz="2800" dirty="0" err="1" smtClean="0"/>
              <a:t>hace</a:t>
            </a:r>
            <a:r>
              <a:rPr lang="en-US" sz="2800" dirty="0" smtClean="0"/>
              <a:t> un </a:t>
            </a:r>
            <a:r>
              <a:rPr lang="en-US" sz="2800" dirty="0" err="1" smtClean="0"/>
              <a:t>proceso</a:t>
            </a:r>
            <a:r>
              <a:rPr lang="en-US" sz="2800" dirty="0" smtClean="0"/>
              <a:t> de </a:t>
            </a:r>
            <a:r>
              <a:rPr lang="en-US" sz="2800" i="1" dirty="0" smtClean="0"/>
              <a:t>hashing</a:t>
            </a:r>
            <a:r>
              <a:rPr lang="en-US" sz="2800" dirty="0" smtClean="0"/>
              <a:t> en </a:t>
            </a:r>
            <a:r>
              <a:rPr lang="en-US" sz="2800" dirty="0" smtClean="0">
                <a:solidFill>
                  <a:schemeClr val="accent2"/>
                </a:solidFill>
              </a:rPr>
              <a:t>s</a:t>
            </a:r>
            <a:r>
              <a:rPr lang="en-US" sz="2800" dirty="0" smtClean="0"/>
              <a:t> </a:t>
            </a:r>
            <a:r>
              <a:rPr lang="en-US" sz="2800" dirty="0" err="1" smtClean="0"/>
              <a:t>sobre</a:t>
            </a:r>
            <a:r>
              <a:rPr lang="en-US" sz="2800" dirty="0" smtClean="0"/>
              <a:t> el </a:t>
            </a:r>
            <a:r>
              <a:rPr lang="en-US" sz="2800" dirty="0" err="1" smtClean="0"/>
              <a:t>atributo</a:t>
            </a:r>
            <a:r>
              <a:rPr lang="en-US" sz="2800" dirty="0" smtClean="0"/>
              <a:t> de </a:t>
            </a:r>
            <a:r>
              <a:rPr lang="en-US" sz="2800" i="1" dirty="0" smtClean="0"/>
              <a:t>join</a:t>
            </a:r>
            <a:r>
              <a:rPr lang="en-US" sz="2800" dirty="0" smtClean="0"/>
              <a:t> (B)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800" dirty="0" smtClean="0"/>
              <a:t>	</a:t>
            </a:r>
            <a:r>
              <a:rPr lang="en-US" sz="2800" dirty="0" err="1" smtClean="0"/>
              <a:t>Esto</a:t>
            </a:r>
            <a:r>
              <a:rPr lang="en-US" sz="2800" dirty="0" smtClean="0"/>
              <a:t> </a:t>
            </a:r>
            <a:r>
              <a:rPr lang="en-US" sz="2800" dirty="0" err="1" smtClean="0"/>
              <a:t>tiene</a:t>
            </a:r>
            <a:r>
              <a:rPr lang="en-US" sz="2800" dirty="0" smtClean="0"/>
              <a:t> el </a:t>
            </a:r>
            <a:r>
              <a:rPr lang="en-US" sz="2800" dirty="0" err="1" smtClean="0"/>
              <a:t>efecto</a:t>
            </a:r>
            <a:r>
              <a:rPr lang="en-US" sz="2800" dirty="0" smtClean="0"/>
              <a:t> de </a:t>
            </a:r>
            <a:r>
              <a:rPr lang="en-US" sz="2800" dirty="0" err="1" smtClean="0"/>
              <a:t>que</a:t>
            </a:r>
            <a:r>
              <a:rPr lang="en-US" sz="2800" dirty="0" smtClean="0"/>
              <a:t> </a:t>
            </a:r>
            <a:r>
              <a:rPr lang="en-US" sz="2800" dirty="0" err="1" smtClean="0"/>
              <a:t>las</a:t>
            </a:r>
            <a:r>
              <a:rPr lang="en-US" sz="2800" dirty="0" smtClean="0"/>
              <a:t> </a:t>
            </a:r>
            <a:r>
              <a:rPr lang="en-US" sz="2800" dirty="0" err="1" smtClean="0"/>
              <a:t>tuplas</a:t>
            </a:r>
            <a:r>
              <a:rPr lang="en-US" sz="2800" dirty="0" smtClean="0"/>
              <a:t> de </a:t>
            </a:r>
            <a:r>
              <a:rPr lang="en-US" sz="2800" dirty="0" smtClean="0">
                <a:solidFill>
                  <a:schemeClr val="accent2"/>
                </a:solidFill>
              </a:rPr>
              <a:t>r</a:t>
            </a:r>
            <a:r>
              <a:rPr lang="en-US" sz="2800" dirty="0" smtClean="0"/>
              <a:t> y </a:t>
            </a:r>
            <a:r>
              <a:rPr lang="en-US" sz="2800" dirty="0" smtClean="0">
                <a:solidFill>
                  <a:schemeClr val="accent2"/>
                </a:solidFill>
              </a:rPr>
              <a:t>s</a:t>
            </a:r>
            <a:r>
              <a:rPr lang="en-US" sz="2800" dirty="0" smtClean="0"/>
              <a:t> </a:t>
            </a:r>
            <a:r>
              <a:rPr lang="en-US" sz="2800" dirty="0" err="1" smtClean="0"/>
              <a:t>que</a:t>
            </a:r>
            <a:r>
              <a:rPr lang="en-US" sz="2800" dirty="0" smtClean="0"/>
              <a:t> </a:t>
            </a:r>
            <a:r>
              <a:rPr lang="en-US" sz="2800" dirty="0" err="1" smtClean="0"/>
              <a:t>posiblemente</a:t>
            </a:r>
            <a:r>
              <a:rPr lang="en-US" sz="2800" dirty="0" smtClean="0"/>
              <a:t> </a:t>
            </a:r>
            <a:r>
              <a:rPr lang="en-US" sz="2800" dirty="0" err="1" smtClean="0"/>
              <a:t>harán</a:t>
            </a:r>
            <a:r>
              <a:rPr lang="en-US" sz="2800" dirty="0" smtClean="0"/>
              <a:t> parte del </a:t>
            </a:r>
            <a:r>
              <a:rPr lang="en-US" sz="2800" i="1" dirty="0" smtClean="0"/>
              <a:t>join</a:t>
            </a:r>
            <a:r>
              <a:rPr lang="en-US" sz="2800" dirty="0" smtClean="0"/>
              <a:t> </a:t>
            </a:r>
            <a:r>
              <a:rPr lang="en-US" sz="2800" dirty="0" err="1" smtClean="0"/>
              <a:t>quedarán</a:t>
            </a:r>
            <a:r>
              <a:rPr lang="en-US" sz="2800" dirty="0" smtClean="0"/>
              <a:t> en el </a:t>
            </a:r>
            <a:r>
              <a:rPr lang="en-US" sz="2800" dirty="0" err="1" smtClean="0"/>
              <a:t>mismo</a:t>
            </a:r>
            <a:r>
              <a:rPr lang="en-US" sz="2800" dirty="0" smtClean="0"/>
              <a:t> </a:t>
            </a:r>
            <a:r>
              <a:rPr lang="en-US" sz="2800" i="1" dirty="0" smtClean="0"/>
              <a:t>bucket</a:t>
            </a:r>
            <a:r>
              <a:rPr lang="en-US" sz="2800" dirty="0" smtClean="0"/>
              <a:t> (</a:t>
            </a:r>
            <a:r>
              <a:rPr lang="en-US" sz="2800" dirty="0" err="1" smtClean="0"/>
              <a:t>cubeta</a:t>
            </a:r>
            <a:r>
              <a:rPr lang="en-US" sz="2800" dirty="0" smtClean="0"/>
              <a:t>)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800" dirty="0" smtClean="0"/>
              <a:t>b. 	Se </a:t>
            </a:r>
            <a:r>
              <a:rPr lang="en-US" sz="2800" dirty="0" err="1" smtClean="0"/>
              <a:t>hace</a:t>
            </a:r>
            <a:r>
              <a:rPr lang="en-US" sz="2800" dirty="0" smtClean="0"/>
              <a:t> el </a:t>
            </a:r>
            <a:r>
              <a:rPr lang="en-US" sz="2800" i="1" dirty="0" smtClean="0"/>
              <a:t>join</a:t>
            </a:r>
            <a:r>
              <a:rPr lang="en-US" sz="2800" dirty="0" smtClean="0"/>
              <a:t> de </a:t>
            </a:r>
            <a:r>
              <a:rPr lang="en-US" sz="2800" dirty="0" smtClean="0">
                <a:solidFill>
                  <a:schemeClr val="accent2"/>
                </a:solidFill>
              </a:rPr>
              <a:t>r</a:t>
            </a:r>
            <a:r>
              <a:rPr lang="en-US" sz="2800" dirty="0" smtClean="0"/>
              <a:t> y </a:t>
            </a:r>
            <a:r>
              <a:rPr lang="en-US" sz="2800" dirty="0" smtClean="0">
                <a:solidFill>
                  <a:schemeClr val="accent2"/>
                </a:solidFill>
              </a:rPr>
              <a:t>s</a:t>
            </a:r>
            <a:r>
              <a:rPr lang="en-US" sz="2800" dirty="0" smtClean="0"/>
              <a:t> en </a:t>
            </a:r>
            <a:r>
              <a:rPr lang="en-US" sz="2800" dirty="0" err="1" smtClean="0"/>
              <a:t>cada</a:t>
            </a:r>
            <a:r>
              <a:rPr lang="en-US" sz="2800" dirty="0" smtClean="0"/>
              <a:t> </a:t>
            </a:r>
            <a:r>
              <a:rPr lang="en-US" sz="2800" dirty="0" err="1" smtClean="0"/>
              <a:t>cubeta</a:t>
            </a:r>
            <a:r>
              <a:rPr lang="en-US" sz="2800" dirty="0" smtClean="0"/>
              <a:t> para </a:t>
            </a:r>
            <a:r>
              <a:rPr lang="en-US" sz="2800" dirty="0" err="1" smtClean="0"/>
              <a:t>producir</a:t>
            </a:r>
            <a:r>
              <a:rPr lang="en-US" sz="2800" dirty="0" smtClean="0"/>
              <a:t> </a:t>
            </a:r>
            <a:r>
              <a:rPr lang="en-US" sz="2800" dirty="0" err="1" smtClean="0"/>
              <a:t>así</a:t>
            </a:r>
            <a:r>
              <a:rPr lang="en-US" sz="2800" dirty="0" smtClean="0"/>
              <a:t> el </a:t>
            </a:r>
            <a:r>
              <a:rPr lang="en-US" sz="2800" dirty="0" err="1" smtClean="0"/>
              <a:t>resultado</a:t>
            </a:r>
            <a:r>
              <a:rPr lang="en-US" sz="2800" dirty="0" smtClean="0"/>
              <a:t> final (</a:t>
            </a:r>
            <a:r>
              <a:rPr lang="en-US" sz="2800" i="1" dirty="0" smtClean="0"/>
              <a:t>join</a:t>
            </a:r>
            <a:r>
              <a:rPr lang="en-US" sz="2800" dirty="0" smtClean="0"/>
              <a:t> total).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i="1" smtClean="0"/>
              <a:t>Hash Join</a:t>
            </a:r>
          </a:p>
        </p:txBody>
      </p:sp>
      <p:sp>
        <p:nvSpPr>
          <p:cNvPr id="50179" name="Text Box 6"/>
          <p:cNvSpPr txBox="1">
            <a:spLocks noChangeArrowheads="1"/>
          </p:cNvSpPr>
          <p:nvPr/>
        </p:nvSpPr>
        <p:spPr bwMode="auto">
          <a:xfrm>
            <a:off x="519113" y="2019300"/>
            <a:ext cx="504825" cy="1443038"/>
          </a:xfrm>
          <a:prstGeom prst="rect">
            <a:avLst/>
          </a:prstGeom>
          <a:solidFill>
            <a:srgbClr val="C0C0C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s-CO" sz="2400"/>
          </a:p>
          <a:p>
            <a:pPr algn="ctr" eaLnBrk="1" hangingPunct="1">
              <a:spcBef>
                <a:spcPct val="50000"/>
              </a:spcBef>
            </a:pPr>
            <a:r>
              <a:rPr lang="es-CO" sz="2400">
                <a:solidFill>
                  <a:schemeClr val="accent2"/>
                </a:solidFill>
              </a:rPr>
              <a:t>r</a:t>
            </a:r>
          </a:p>
          <a:p>
            <a:pPr algn="ctr" eaLnBrk="1" hangingPunct="1">
              <a:spcBef>
                <a:spcPct val="50000"/>
              </a:spcBef>
            </a:pPr>
            <a:endParaRPr lang="es-ES_tradnl"/>
          </a:p>
        </p:txBody>
      </p:sp>
      <p:sp>
        <p:nvSpPr>
          <p:cNvPr id="50180" name="Text Box 7"/>
          <p:cNvSpPr txBox="1">
            <a:spLocks noChangeArrowheads="1"/>
          </p:cNvSpPr>
          <p:nvPr/>
        </p:nvSpPr>
        <p:spPr bwMode="auto">
          <a:xfrm>
            <a:off x="539750" y="3716338"/>
            <a:ext cx="504825" cy="1577975"/>
          </a:xfrm>
          <a:prstGeom prst="rect">
            <a:avLst/>
          </a:prstGeom>
          <a:solidFill>
            <a:srgbClr val="C0C0C0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s-CO" sz="2400">
              <a:solidFill>
                <a:schemeClr val="accent2"/>
              </a:solidFill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s-CO" sz="2400">
                <a:solidFill>
                  <a:schemeClr val="accent2"/>
                </a:solidFill>
              </a:rPr>
              <a:t>s</a:t>
            </a:r>
          </a:p>
          <a:p>
            <a:pPr algn="ctr" eaLnBrk="1" hangingPunct="1">
              <a:spcBef>
                <a:spcPct val="50000"/>
              </a:spcBef>
            </a:pPr>
            <a:endParaRPr lang="es-ES_tradnl" sz="2400">
              <a:solidFill>
                <a:schemeClr val="accent2"/>
              </a:solidFill>
            </a:endParaRPr>
          </a:p>
        </p:txBody>
      </p:sp>
      <p:sp>
        <p:nvSpPr>
          <p:cNvPr id="50181" name="Line 8"/>
          <p:cNvSpPr>
            <a:spLocks noChangeShapeType="1"/>
          </p:cNvSpPr>
          <p:nvPr/>
        </p:nvSpPr>
        <p:spPr bwMode="auto">
          <a:xfrm flipV="1">
            <a:off x="1042988" y="4365625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182" name="Line 9"/>
          <p:cNvSpPr>
            <a:spLocks noChangeShapeType="1"/>
          </p:cNvSpPr>
          <p:nvPr/>
        </p:nvSpPr>
        <p:spPr bwMode="auto">
          <a:xfrm>
            <a:off x="1044575" y="2997200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183" name="Text Box 10"/>
          <p:cNvSpPr txBox="1">
            <a:spLocks noChangeArrowheads="1"/>
          </p:cNvSpPr>
          <p:nvPr/>
        </p:nvSpPr>
        <p:spPr bwMode="auto">
          <a:xfrm>
            <a:off x="7524750" y="2420938"/>
            <a:ext cx="12239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>
                <a:solidFill>
                  <a:schemeClr val="accent2"/>
                </a:solidFill>
              </a:rPr>
              <a:t>r</a:t>
            </a:r>
            <a:r>
              <a:rPr lang="en-US" sz="2400" baseline="-25000">
                <a:solidFill>
                  <a:schemeClr val="accent2"/>
                </a:solidFill>
              </a:rPr>
              <a:t>1</a:t>
            </a:r>
            <a:r>
              <a:rPr lang="en-US" sz="2400"/>
              <a:t> </a:t>
            </a:r>
            <a:r>
              <a:rPr lang="en-US" sz="2400" b="1"/>
              <a:t>⋈</a:t>
            </a:r>
            <a:r>
              <a:rPr lang="en-US" sz="2400"/>
              <a:t> </a:t>
            </a:r>
            <a:r>
              <a:rPr lang="en-US" sz="2400">
                <a:solidFill>
                  <a:schemeClr val="accent2"/>
                </a:solidFill>
              </a:rPr>
              <a:t>s</a:t>
            </a:r>
            <a:r>
              <a:rPr lang="en-US" sz="2400" baseline="-25000">
                <a:solidFill>
                  <a:schemeClr val="accent2"/>
                </a:solidFill>
              </a:rPr>
              <a:t>1</a:t>
            </a:r>
            <a:endParaRPr lang="es-ES_tradnl" sz="2400" baseline="-25000">
              <a:solidFill>
                <a:schemeClr val="accent2"/>
              </a:solidFill>
            </a:endParaRPr>
          </a:p>
        </p:txBody>
      </p:sp>
      <p:sp>
        <p:nvSpPr>
          <p:cNvPr id="50184" name="Text Box 12"/>
          <p:cNvSpPr txBox="1">
            <a:spLocks noChangeArrowheads="1"/>
          </p:cNvSpPr>
          <p:nvPr/>
        </p:nvSpPr>
        <p:spPr bwMode="auto">
          <a:xfrm>
            <a:off x="7561263" y="4330700"/>
            <a:ext cx="11874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>
                <a:solidFill>
                  <a:schemeClr val="accent2"/>
                </a:solidFill>
              </a:rPr>
              <a:t>r</a:t>
            </a:r>
            <a:r>
              <a:rPr lang="en-US" sz="2400" baseline="-25000">
                <a:solidFill>
                  <a:schemeClr val="accent2"/>
                </a:solidFill>
              </a:rPr>
              <a:t>n</a:t>
            </a:r>
            <a:r>
              <a:rPr lang="en-US" sz="2400"/>
              <a:t> </a:t>
            </a:r>
            <a:r>
              <a:rPr lang="en-US" sz="2400" b="1"/>
              <a:t>⋈</a:t>
            </a:r>
            <a:r>
              <a:rPr lang="en-US" sz="2400"/>
              <a:t> </a:t>
            </a:r>
            <a:r>
              <a:rPr lang="en-US" sz="2400">
                <a:solidFill>
                  <a:schemeClr val="accent2"/>
                </a:solidFill>
              </a:rPr>
              <a:t>s</a:t>
            </a:r>
            <a:r>
              <a:rPr lang="en-US" sz="2400" baseline="-25000">
                <a:solidFill>
                  <a:schemeClr val="accent2"/>
                </a:solidFill>
              </a:rPr>
              <a:t>n</a:t>
            </a:r>
            <a:endParaRPr lang="es-ES_tradnl" sz="2400" baseline="-25000">
              <a:solidFill>
                <a:schemeClr val="accent2"/>
              </a:solidFill>
            </a:endParaRPr>
          </a:p>
        </p:txBody>
      </p:sp>
      <p:sp>
        <p:nvSpPr>
          <p:cNvPr id="50185" name="Line 13"/>
          <p:cNvSpPr>
            <a:spLocks noChangeShapeType="1"/>
          </p:cNvSpPr>
          <p:nvPr/>
        </p:nvSpPr>
        <p:spPr bwMode="auto">
          <a:xfrm flipV="1">
            <a:off x="4498975" y="5367338"/>
            <a:ext cx="720725" cy="358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186" name="Line 14"/>
          <p:cNvSpPr>
            <a:spLocks noChangeShapeType="1"/>
          </p:cNvSpPr>
          <p:nvPr/>
        </p:nvSpPr>
        <p:spPr bwMode="auto">
          <a:xfrm flipH="1" flipV="1">
            <a:off x="2771775" y="5367338"/>
            <a:ext cx="719138" cy="3603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187" name="Text Box 15"/>
          <p:cNvSpPr txBox="1">
            <a:spLocks noChangeArrowheads="1"/>
          </p:cNvSpPr>
          <p:nvPr/>
        </p:nvSpPr>
        <p:spPr bwMode="auto">
          <a:xfrm>
            <a:off x="3563938" y="5583238"/>
            <a:ext cx="129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i="1" dirty="0" err="1"/>
              <a:t>Stage</a:t>
            </a:r>
            <a:r>
              <a:rPr lang="es-CO" dirty="0"/>
              <a:t> 1</a:t>
            </a:r>
            <a:endParaRPr lang="es-ES_tradnl" dirty="0"/>
          </a:p>
        </p:txBody>
      </p:sp>
      <p:sp>
        <p:nvSpPr>
          <p:cNvPr id="50188" name="Line 19"/>
          <p:cNvSpPr>
            <a:spLocks noChangeShapeType="1"/>
          </p:cNvSpPr>
          <p:nvPr/>
        </p:nvSpPr>
        <p:spPr bwMode="auto">
          <a:xfrm flipH="1" flipV="1">
            <a:off x="3779838" y="2924175"/>
            <a:ext cx="504825" cy="5048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189" name="Line 20"/>
          <p:cNvSpPr>
            <a:spLocks noChangeShapeType="1"/>
          </p:cNvSpPr>
          <p:nvPr/>
        </p:nvSpPr>
        <p:spPr bwMode="auto">
          <a:xfrm flipH="1">
            <a:off x="3779838" y="3860800"/>
            <a:ext cx="504825" cy="5746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190" name="Text Box 21"/>
          <p:cNvSpPr txBox="1">
            <a:spLocks noChangeArrowheads="1"/>
          </p:cNvSpPr>
          <p:nvPr/>
        </p:nvSpPr>
        <p:spPr bwMode="auto">
          <a:xfrm>
            <a:off x="4243388" y="3325813"/>
            <a:ext cx="863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i="1" dirty="0"/>
              <a:t>Hash </a:t>
            </a:r>
            <a:r>
              <a:rPr lang="es-CO" i="1" dirty="0" err="1"/>
              <a:t>Table</a:t>
            </a:r>
            <a:endParaRPr lang="es-ES_tradnl" i="1" dirty="0"/>
          </a:p>
        </p:txBody>
      </p:sp>
      <p:sp>
        <p:nvSpPr>
          <p:cNvPr id="50191" name="Line 22"/>
          <p:cNvSpPr>
            <a:spLocks noChangeShapeType="1"/>
          </p:cNvSpPr>
          <p:nvPr/>
        </p:nvSpPr>
        <p:spPr bwMode="auto">
          <a:xfrm flipH="1" flipV="1">
            <a:off x="5580063" y="3068638"/>
            <a:ext cx="504825" cy="5048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192" name="Line 23"/>
          <p:cNvSpPr>
            <a:spLocks noChangeShapeType="1"/>
          </p:cNvSpPr>
          <p:nvPr/>
        </p:nvSpPr>
        <p:spPr bwMode="auto">
          <a:xfrm flipH="1">
            <a:off x="5580063" y="3695700"/>
            <a:ext cx="504825" cy="5254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193" name="Text Box 24"/>
          <p:cNvSpPr txBox="1">
            <a:spLocks noChangeArrowheads="1"/>
          </p:cNvSpPr>
          <p:nvPr/>
        </p:nvSpPr>
        <p:spPr bwMode="auto">
          <a:xfrm>
            <a:off x="6121400" y="3479800"/>
            <a:ext cx="1114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i="1" dirty="0" err="1"/>
              <a:t>Buckets</a:t>
            </a:r>
            <a:endParaRPr lang="es-ES_tradnl" i="1" dirty="0"/>
          </a:p>
        </p:txBody>
      </p:sp>
      <p:sp>
        <p:nvSpPr>
          <p:cNvPr id="50194" name="Oval 25"/>
          <p:cNvSpPr>
            <a:spLocks noChangeArrowheads="1"/>
          </p:cNvSpPr>
          <p:nvPr/>
        </p:nvSpPr>
        <p:spPr bwMode="auto">
          <a:xfrm>
            <a:off x="6372225" y="2276475"/>
            <a:ext cx="647700" cy="72072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000" b="1"/>
              <a:t>⋈</a:t>
            </a:r>
          </a:p>
          <a:p>
            <a:pPr algn="ctr" eaLnBrk="1" hangingPunct="1"/>
            <a:r>
              <a:rPr lang="en-US" sz="2000" b="1"/>
              <a:t>A=B</a:t>
            </a:r>
            <a:endParaRPr lang="es-ES_tradnl" sz="2000" b="1"/>
          </a:p>
        </p:txBody>
      </p:sp>
      <p:sp>
        <p:nvSpPr>
          <p:cNvPr id="50195" name="Oval 26"/>
          <p:cNvSpPr>
            <a:spLocks noChangeArrowheads="1"/>
          </p:cNvSpPr>
          <p:nvPr/>
        </p:nvSpPr>
        <p:spPr bwMode="auto">
          <a:xfrm>
            <a:off x="6408738" y="4221163"/>
            <a:ext cx="647700" cy="72072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000" b="1"/>
              <a:t>⋈</a:t>
            </a:r>
          </a:p>
          <a:p>
            <a:pPr algn="ctr" eaLnBrk="1" hangingPunct="1"/>
            <a:r>
              <a:rPr lang="en-US" sz="2000" b="1"/>
              <a:t>A=B</a:t>
            </a:r>
            <a:endParaRPr lang="es-ES_tradnl" sz="2000" b="1"/>
          </a:p>
        </p:txBody>
      </p:sp>
      <p:sp>
        <p:nvSpPr>
          <p:cNvPr id="50196" name="Text Box 27"/>
          <p:cNvSpPr txBox="1">
            <a:spLocks noChangeArrowheads="1"/>
          </p:cNvSpPr>
          <p:nvPr/>
        </p:nvSpPr>
        <p:spPr bwMode="auto">
          <a:xfrm>
            <a:off x="2124075" y="3292475"/>
            <a:ext cx="1079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 i="1" dirty="0"/>
              <a:t>Hash </a:t>
            </a:r>
            <a:r>
              <a:rPr lang="es-CO" i="1" dirty="0" err="1"/>
              <a:t>Function</a:t>
            </a:r>
            <a:endParaRPr lang="es-ES_tradnl" i="1" dirty="0"/>
          </a:p>
        </p:txBody>
      </p:sp>
      <p:sp>
        <p:nvSpPr>
          <p:cNvPr id="50197" name="Text Box 28"/>
          <p:cNvSpPr txBox="1">
            <a:spLocks noChangeArrowheads="1"/>
          </p:cNvSpPr>
          <p:nvPr/>
        </p:nvSpPr>
        <p:spPr bwMode="auto">
          <a:xfrm>
            <a:off x="1423988" y="2036763"/>
            <a:ext cx="1368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i="1" dirty="0"/>
              <a:t>Input buffer </a:t>
            </a:r>
            <a:r>
              <a:rPr lang="es-CO" i="1" dirty="0" err="1"/>
              <a:t>for</a:t>
            </a:r>
            <a:r>
              <a:rPr lang="es-CO" i="1" dirty="0"/>
              <a:t> </a:t>
            </a:r>
            <a:r>
              <a:rPr lang="es-CO" dirty="0">
                <a:solidFill>
                  <a:schemeClr val="accent2"/>
                </a:solidFill>
              </a:rPr>
              <a:t>r</a:t>
            </a:r>
            <a:endParaRPr lang="es-ES_tradnl" dirty="0">
              <a:solidFill>
                <a:schemeClr val="accent2"/>
              </a:solidFill>
            </a:endParaRPr>
          </a:p>
        </p:txBody>
      </p:sp>
      <p:sp>
        <p:nvSpPr>
          <p:cNvPr id="50198" name="Text Box 29"/>
          <p:cNvSpPr txBox="1">
            <a:spLocks noChangeArrowheads="1"/>
          </p:cNvSpPr>
          <p:nvPr/>
        </p:nvSpPr>
        <p:spPr bwMode="auto">
          <a:xfrm>
            <a:off x="1423988" y="4652963"/>
            <a:ext cx="14763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i="1" dirty="0"/>
              <a:t>Input buffer </a:t>
            </a:r>
            <a:r>
              <a:rPr lang="es-CO" i="1" dirty="0" err="1"/>
              <a:t>for</a:t>
            </a:r>
            <a:r>
              <a:rPr lang="es-CO" i="1" dirty="0"/>
              <a:t> </a:t>
            </a:r>
            <a:r>
              <a:rPr lang="es-CO" dirty="0">
                <a:solidFill>
                  <a:schemeClr val="accent2"/>
                </a:solidFill>
              </a:rPr>
              <a:t>s</a:t>
            </a:r>
            <a:endParaRPr lang="es-ES_tradnl" dirty="0">
              <a:solidFill>
                <a:schemeClr val="accent2"/>
              </a:solidFill>
            </a:endParaRPr>
          </a:p>
        </p:txBody>
      </p:sp>
      <p:grpSp>
        <p:nvGrpSpPr>
          <p:cNvPr id="50199" name="Group 30"/>
          <p:cNvGrpSpPr>
            <a:grpSpLocks/>
          </p:cNvGrpSpPr>
          <p:nvPr/>
        </p:nvGrpSpPr>
        <p:grpSpPr bwMode="auto">
          <a:xfrm>
            <a:off x="3132138" y="2205038"/>
            <a:ext cx="585787" cy="863600"/>
            <a:chOff x="1474" y="436"/>
            <a:chExt cx="369" cy="544"/>
          </a:xfrm>
        </p:grpSpPr>
        <p:sp>
          <p:nvSpPr>
            <p:cNvPr id="50236" name="Text Box 31"/>
            <p:cNvSpPr txBox="1">
              <a:spLocks noChangeArrowheads="1"/>
            </p:cNvSpPr>
            <p:nvPr/>
          </p:nvSpPr>
          <p:spPr bwMode="auto">
            <a:xfrm>
              <a:off x="1474" y="436"/>
              <a:ext cx="363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CO" sz="2000">
                  <a:solidFill>
                    <a:schemeClr val="accent2"/>
                  </a:solidFill>
                </a:rPr>
                <a:t>r</a:t>
              </a:r>
              <a:r>
                <a:rPr lang="es-CO" sz="2000" baseline="-25000">
                  <a:solidFill>
                    <a:schemeClr val="accent2"/>
                  </a:solidFill>
                </a:rPr>
                <a:t>1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s-CO" sz="2000">
                  <a:solidFill>
                    <a:schemeClr val="accent2"/>
                  </a:solidFill>
                </a:rPr>
                <a:t>s</a:t>
              </a:r>
              <a:r>
                <a:rPr lang="es-CO" sz="2000" baseline="-25000">
                  <a:solidFill>
                    <a:schemeClr val="accent2"/>
                  </a:solidFill>
                </a:rPr>
                <a:t>1</a:t>
              </a:r>
              <a:endParaRPr lang="es-ES_tradnl" sz="2000" baseline="-25000">
                <a:solidFill>
                  <a:schemeClr val="accent2"/>
                </a:solidFill>
              </a:endParaRPr>
            </a:p>
          </p:txBody>
        </p:sp>
        <p:sp>
          <p:nvSpPr>
            <p:cNvPr id="50237" name="Line 32"/>
            <p:cNvSpPr>
              <a:spLocks noChangeShapeType="1"/>
            </p:cNvSpPr>
            <p:nvPr/>
          </p:nvSpPr>
          <p:spPr bwMode="auto">
            <a:xfrm>
              <a:off x="1480" y="735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0200" name="Group 33"/>
          <p:cNvGrpSpPr>
            <a:grpSpLocks/>
          </p:cNvGrpSpPr>
          <p:nvPr/>
        </p:nvGrpSpPr>
        <p:grpSpPr bwMode="auto">
          <a:xfrm>
            <a:off x="3132138" y="4149725"/>
            <a:ext cx="585787" cy="863600"/>
            <a:chOff x="2064" y="754"/>
            <a:chExt cx="369" cy="544"/>
          </a:xfrm>
        </p:grpSpPr>
        <p:sp>
          <p:nvSpPr>
            <p:cNvPr id="50234" name="Text Box 34"/>
            <p:cNvSpPr txBox="1">
              <a:spLocks noChangeArrowheads="1"/>
            </p:cNvSpPr>
            <p:nvPr/>
          </p:nvSpPr>
          <p:spPr bwMode="auto">
            <a:xfrm>
              <a:off x="2064" y="754"/>
              <a:ext cx="363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CO" sz="2000">
                  <a:solidFill>
                    <a:schemeClr val="accent2"/>
                  </a:solidFill>
                </a:rPr>
                <a:t>r</a:t>
              </a:r>
              <a:r>
                <a:rPr lang="es-CO" sz="2000" baseline="-25000">
                  <a:solidFill>
                    <a:schemeClr val="accent2"/>
                  </a:solidFill>
                </a:rPr>
                <a:t>n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s-CO" sz="2000">
                  <a:solidFill>
                    <a:schemeClr val="accent2"/>
                  </a:solidFill>
                </a:rPr>
                <a:t>s</a:t>
              </a:r>
              <a:r>
                <a:rPr lang="es-CO" sz="2000" baseline="-25000">
                  <a:solidFill>
                    <a:schemeClr val="accent2"/>
                  </a:solidFill>
                </a:rPr>
                <a:t>n</a:t>
              </a:r>
              <a:endParaRPr lang="es-ES_tradnl" sz="2000" baseline="-25000">
                <a:solidFill>
                  <a:schemeClr val="accent2"/>
                </a:solidFill>
              </a:endParaRPr>
            </a:p>
          </p:txBody>
        </p:sp>
        <p:sp>
          <p:nvSpPr>
            <p:cNvPr id="50235" name="Line 35"/>
            <p:cNvSpPr>
              <a:spLocks noChangeShapeType="1"/>
            </p:cNvSpPr>
            <p:nvPr/>
          </p:nvSpPr>
          <p:spPr bwMode="auto">
            <a:xfrm>
              <a:off x="2070" y="1053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0201" name="Rectangle 36"/>
          <p:cNvSpPr>
            <a:spLocks noChangeArrowheads="1"/>
          </p:cNvSpPr>
          <p:nvPr/>
        </p:nvSpPr>
        <p:spPr bwMode="auto">
          <a:xfrm>
            <a:off x="1331913" y="1989138"/>
            <a:ext cx="2663825" cy="33115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grpSp>
        <p:nvGrpSpPr>
          <p:cNvPr id="50202" name="Group 37"/>
          <p:cNvGrpSpPr>
            <a:grpSpLocks/>
          </p:cNvGrpSpPr>
          <p:nvPr/>
        </p:nvGrpSpPr>
        <p:grpSpPr bwMode="auto">
          <a:xfrm>
            <a:off x="5003800" y="2205038"/>
            <a:ext cx="585788" cy="863600"/>
            <a:chOff x="1474" y="436"/>
            <a:chExt cx="369" cy="544"/>
          </a:xfrm>
        </p:grpSpPr>
        <p:sp>
          <p:nvSpPr>
            <p:cNvPr id="50232" name="Text Box 38"/>
            <p:cNvSpPr txBox="1">
              <a:spLocks noChangeArrowheads="1"/>
            </p:cNvSpPr>
            <p:nvPr/>
          </p:nvSpPr>
          <p:spPr bwMode="auto">
            <a:xfrm>
              <a:off x="1474" y="436"/>
              <a:ext cx="363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CO" sz="2000">
                  <a:solidFill>
                    <a:schemeClr val="accent2"/>
                  </a:solidFill>
                </a:rPr>
                <a:t>r</a:t>
              </a:r>
              <a:r>
                <a:rPr lang="es-CO" sz="2000" baseline="-25000">
                  <a:solidFill>
                    <a:schemeClr val="accent2"/>
                  </a:solidFill>
                </a:rPr>
                <a:t>1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s-CO" sz="2000">
                  <a:solidFill>
                    <a:schemeClr val="accent2"/>
                  </a:solidFill>
                </a:rPr>
                <a:t>s</a:t>
              </a:r>
              <a:r>
                <a:rPr lang="es-CO" sz="2000" baseline="-25000">
                  <a:solidFill>
                    <a:schemeClr val="accent2"/>
                  </a:solidFill>
                </a:rPr>
                <a:t>1</a:t>
              </a:r>
              <a:endParaRPr lang="es-ES_tradnl" sz="2000" baseline="-25000">
                <a:solidFill>
                  <a:schemeClr val="accent2"/>
                </a:solidFill>
              </a:endParaRPr>
            </a:p>
          </p:txBody>
        </p:sp>
        <p:sp>
          <p:nvSpPr>
            <p:cNvPr id="50233" name="Line 39"/>
            <p:cNvSpPr>
              <a:spLocks noChangeShapeType="1"/>
            </p:cNvSpPr>
            <p:nvPr/>
          </p:nvSpPr>
          <p:spPr bwMode="auto">
            <a:xfrm>
              <a:off x="1480" y="735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0203" name="Group 40"/>
          <p:cNvGrpSpPr>
            <a:grpSpLocks/>
          </p:cNvGrpSpPr>
          <p:nvPr/>
        </p:nvGrpSpPr>
        <p:grpSpPr bwMode="auto">
          <a:xfrm>
            <a:off x="4994275" y="4149725"/>
            <a:ext cx="585788" cy="863600"/>
            <a:chOff x="2064" y="754"/>
            <a:chExt cx="369" cy="544"/>
          </a:xfrm>
        </p:grpSpPr>
        <p:sp>
          <p:nvSpPr>
            <p:cNvPr id="50230" name="Text Box 41"/>
            <p:cNvSpPr txBox="1">
              <a:spLocks noChangeArrowheads="1"/>
            </p:cNvSpPr>
            <p:nvPr/>
          </p:nvSpPr>
          <p:spPr bwMode="auto">
            <a:xfrm>
              <a:off x="2064" y="754"/>
              <a:ext cx="363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CO" sz="2000">
                  <a:solidFill>
                    <a:schemeClr val="accent2"/>
                  </a:solidFill>
                </a:rPr>
                <a:t>r</a:t>
              </a:r>
              <a:r>
                <a:rPr lang="es-CO" sz="2000" baseline="-25000">
                  <a:solidFill>
                    <a:schemeClr val="accent2"/>
                  </a:solidFill>
                </a:rPr>
                <a:t>n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s-CO" sz="2000">
                  <a:solidFill>
                    <a:schemeClr val="accent2"/>
                  </a:solidFill>
                </a:rPr>
                <a:t>s</a:t>
              </a:r>
              <a:r>
                <a:rPr lang="es-CO" sz="2000" baseline="-25000">
                  <a:solidFill>
                    <a:schemeClr val="accent2"/>
                  </a:solidFill>
                </a:rPr>
                <a:t>n</a:t>
              </a:r>
              <a:endParaRPr lang="es-ES_tradnl" sz="2000" baseline="-25000">
                <a:solidFill>
                  <a:schemeClr val="accent2"/>
                </a:solidFill>
              </a:endParaRPr>
            </a:p>
          </p:txBody>
        </p:sp>
        <p:sp>
          <p:nvSpPr>
            <p:cNvPr id="50231" name="Line 42"/>
            <p:cNvSpPr>
              <a:spLocks noChangeShapeType="1"/>
            </p:cNvSpPr>
            <p:nvPr/>
          </p:nvSpPr>
          <p:spPr bwMode="auto">
            <a:xfrm>
              <a:off x="2070" y="1053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0204" name="Line 43"/>
          <p:cNvSpPr>
            <a:spLocks noChangeShapeType="1"/>
          </p:cNvSpPr>
          <p:nvPr/>
        </p:nvSpPr>
        <p:spPr bwMode="auto">
          <a:xfrm>
            <a:off x="7019925" y="2636838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05" name="Line 44"/>
          <p:cNvSpPr>
            <a:spLocks noChangeShapeType="1"/>
          </p:cNvSpPr>
          <p:nvPr/>
        </p:nvSpPr>
        <p:spPr bwMode="auto">
          <a:xfrm>
            <a:off x="7056438" y="4581525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06" name="Line 45"/>
          <p:cNvSpPr>
            <a:spLocks noChangeShapeType="1"/>
          </p:cNvSpPr>
          <p:nvPr/>
        </p:nvSpPr>
        <p:spPr bwMode="auto">
          <a:xfrm flipV="1">
            <a:off x="5580063" y="4652963"/>
            <a:ext cx="792162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07" name="Line 46"/>
          <p:cNvSpPr>
            <a:spLocks noChangeShapeType="1"/>
          </p:cNvSpPr>
          <p:nvPr/>
        </p:nvSpPr>
        <p:spPr bwMode="auto">
          <a:xfrm>
            <a:off x="5580063" y="4365625"/>
            <a:ext cx="792162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08" name="Line 47"/>
          <p:cNvSpPr>
            <a:spLocks noChangeShapeType="1"/>
          </p:cNvSpPr>
          <p:nvPr/>
        </p:nvSpPr>
        <p:spPr bwMode="auto">
          <a:xfrm flipV="1">
            <a:off x="5580063" y="2708275"/>
            <a:ext cx="792162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09" name="Line 48"/>
          <p:cNvSpPr>
            <a:spLocks noChangeShapeType="1"/>
          </p:cNvSpPr>
          <p:nvPr/>
        </p:nvSpPr>
        <p:spPr bwMode="auto">
          <a:xfrm>
            <a:off x="5580063" y="2420938"/>
            <a:ext cx="792162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10" name="Line 49"/>
          <p:cNvSpPr>
            <a:spLocks noChangeShapeType="1"/>
          </p:cNvSpPr>
          <p:nvPr/>
        </p:nvSpPr>
        <p:spPr bwMode="auto">
          <a:xfrm>
            <a:off x="3779838" y="2678113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11" name="Line 50"/>
          <p:cNvSpPr>
            <a:spLocks noChangeShapeType="1"/>
          </p:cNvSpPr>
          <p:nvPr/>
        </p:nvSpPr>
        <p:spPr bwMode="auto">
          <a:xfrm>
            <a:off x="3779838" y="4611688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12" name="Rectangle 51"/>
          <p:cNvSpPr>
            <a:spLocks noChangeArrowheads="1"/>
          </p:cNvSpPr>
          <p:nvPr/>
        </p:nvSpPr>
        <p:spPr bwMode="auto">
          <a:xfrm>
            <a:off x="1547813" y="2708275"/>
            <a:ext cx="576262" cy="57626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50213" name="Rectangle 52"/>
          <p:cNvSpPr>
            <a:spLocks noChangeArrowheads="1"/>
          </p:cNvSpPr>
          <p:nvPr/>
        </p:nvSpPr>
        <p:spPr bwMode="auto">
          <a:xfrm>
            <a:off x="1547813" y="4076700"/>
            <a:ext cx="576262" cy="57626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50214" name="Line 53"/>
          <p:cNvSpPr>
            <a:spLocks noChangeShapeType="1"/>
          </p:cNvSpPr>
          <p:nvPr/>
        </p:nvSpPr>
        <p:spPr bwMode="auto">
          <a:xfrm>
            <a:off x="2124075" y="2997200"/>
            <a:ext cx="360363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15" name="Line 54"/>
          <p:cNvSpPr>
            <a:spLocks noChangeShapeType="1"/>
          </p:cNvSpPr>
          <p:nvPr/>
        </p:nvSpPr>
        <p:spPr bwMode="auto">
          <a:xfrm flipV="1">
            <a:off x="2124075" y="4005263"/>
            <a:ext cx="3603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16" name="Line 55"/>
          <p:cNvSpPr>
            <a:spLocks noChangeShapeType="1"/>
          </p:cNvSpPr>
          <p:nvPr/>
        </p:nvSpPr>
        <p:spPr bwMode="auto">
          <a:xfrm flipV="1">
            <a:off x="2700338" y="2708275"/>
            <a:ext cx="358775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17" name="Line 56"/>
          <p:cNvSpPr>
            <a:spLocks noChangeShapeType="1"/>
          </p:cNvSpPr>
          <p:nvPr/>
        </p:nvSpPr>
        <p:spPr bwMode="auto">
          <a:xfrm>
            <a:off x="2700338" y="3932238"/>
            <a:ext cx="4318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18" name="Line 57"/>
          <p:cNvSpPr>
            <a:spLocks noChangeShapeType="1"/>
          </p:cNvSpPr>
          <p:nvPr/>
        </p:nvSpPr>
        <p:spPr bwMode="auto">
          <a:xfrm flipV="1">
            <a:off x="7162800" y="5373688"/>
            <a:ext cx="720725" cy="358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19" name="Line 58"/>
          <p:cNvSpPr>
            <a:spLocks noChangeShapeType="1"/>
          </p:cNvSpPr>
          <p:nvPr/>
        </p:nvSpPr>
        <p:spPr bwMode="auto">
          <a:xfrm flipH="1" flipV="1">
            <a:off x="5435600" y="5373688"/>
            <a:ext cx="719138" cy="3603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50220" name="Text Box 59"/>
          <p:cNvSpPr txBox="1">
            <a:spLocks noChangeArrowheads="1"/>
          </p:cNvSpPr>
          <p:nvPr/>
        </p:nvSpPr>
        <p:spPr bwMode="auto">
          <a:xfrm>
            <a:off x="6227763" y="5589588"/>
            <a:ext cx="129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CO" i="1" dirty="0" err="1"/>
              <a:t>Stage</a:t>
            </a:r>
            <a:r>
              <a:rPr lang="es-CO" dirty="0"/>
              <a:t> 2</a:t>
            </a:r>
            <a:endParaRPr lang="es-ES_tradnl" dirty="0"/>
          </a:p>
        </p:txBody>
      </p:sp>
      <p:sp>
        <p:nvSpPr>
          <p:cNvPr id="50221" name="Oval 61"/>
          <p:cNvSpPr>
            <a:spLocks noChangeArrowheads="1"/>
          </p:cNvSpPr>
          <p:nvPr/>
        </p:nvSpPr>
        <p:spPr bwMode="auto">
          <a:xfrm>
            <a:off x="3348038" y="3213100"/>
            <a:ext cx="90487" cy="90488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50222" name="Oval 62"/>
          <p:cNvSpPr>
            <a:spLocks noChangeArrowheads="1"/>
          </p:cNvSpPr>
          <p:nvPr/>
        </p:nvSpPr>
        <p:spPr bwMode="auto">
          <a:xfrm>
            <a:off x="3348038" y="3482975"/>
            <a:ext cx="90487" cy="90488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50223" name="Oval 63"/>
          <p:cNvSpPr>
            <a:spLocks noChangeArrowheads="1"/>
          </p:cNvSpPr>
          <p:nvPr/>
        </p:nvSpPr>
        <p:spPr bwMode="auto">
          <a:xfrm>
            <a:off x="3348038" y="3789363"/>
            <a:ext cx="90487" cy="90487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50224" name="Oval 64"/>
          <p:cNvSpPr>
            <a:spLocks noChangeArrowheads="1"/>
          </p:cNvSpPr>
          <p:nvPr/>
        </p:nvSpPr>
        <p:spPr bwMode="auto">
          <a:xfrm>
            <a:off x="5202238" y="3213100"/>
            <a:ext cx="90487" cy="90488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50225" name="Oval 65"/>
          <p:cNvSpPr>
            <a:spLocks noChangeArrowheads="1"/>
          </p:cNvSpPr>
          <p:nvPr/>
        </p:nvSpPr>
        <p:spPr bwMode="auto">
          <a:xfrm>
            <a:off x="5202238" y="3482975"/>
            <a:ext cx="90487" cy="90488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50226" name="Oval 66"/>
          <p:cNvSpPr>
            <a:spLocks noChangeArrowheads="1"/>
          </p:cNvSpPr>
          <p:nvPr/>
        </p:nvSpPr>
        <p:spPr bwMode="auto">
          <a:xfrm>
            <a:off x="5202238" y="3789363"/>
            <a:ext cx="90487" cy="90487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50227" name="Oval 67"/>
          <p:cNvSpPr>
            <a:spLocks noChangeArrowheads="1"/>
          </p:cNvSpPr>
          <p:nvPr/>
        </p:nvSpPr>
        <p:spPr bwMode="auto">
          <a:xfrm>
            <a:off x="8081963" y="3213100"/>
            <a:ext cx="90487" cy="90488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50228" name="Oval 68"/>
          <p:cNvSpPr>
            <a:spLocks noChangeArrowheads="1"/>
          </p:cNvSpPr>
          <p:nvPr/>
        </p:nvSpPr>
        <p:spPr bwMode="auto">
          <a:xfrm>
            <a:off x="8081963" y="3482975"/>
            <a:ext cx="90487" cy="90488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  <p:sp>
        <p:nvSpPr>
          <p:cNvPr id="50229" name="Oval 69"/>
          <p:cNvSpPr>
            <a:spLocks noChangeArrowheads="1"/>
          </p:cNvSpPr>
          <p:nvPr/>
        </p:nvSpPr>
        <p:spPr bwMode="auto">
          <a:xfrm>
            <a:off x="8081963" y="3789363"/>
            <a:ext cx="90487" cy="90487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Hash Join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974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 smtClean="0"/>
              <a:t>Costo:</a:t>
            </a:r>
          </a:p>
          <a:p>
            <a:pPr eaLnBrk="1" hangingPunct="1">
              <a:buFontTx/>
              <a:buNone/>
            </a:pPr>
            <a:r>
              <a:rPr lang="en-US" sz="2800" smtClean="0"/>
              <a:t>Si </a:t>
            </a:r>
            <a:r>
              <a:rPr lang="en-US" sz="2800" b="1" smtClean="0"/>
              <a:t>cada</a:t>
            </a:r>
            <a:r>
              <a:rPr lang="en-US" sz="2800" smtClean="0"/>
              <a:t> cubeta cabe en memoria el costo es: </a:t>
            </a:r>
          </a:p>
          <a:p>
            <a:pPr algn="ctr" eaLnBrk="1" hangingPunct="1">
              <a:buFontTx/>
              <a:buNone/>
            </a:pPr>
            <a:r>
              <a:rPr lang="en-US" sz="2800" smtClean="0"/>
              <a:t>3(F</a:t>
            </a:r>
            <a:r>
              <a:rPr lang="en-US" sz="2800" baseline="-25000" smtClean="0"/>
              <a:t>r</a:t>
            </a:r>
            <a:r>
              <a:rPr lang="en-US" sz="2800" smtClean="0"/>
              <a:t> + F</a:t>
            </a:r>
            <a:r>
              <a:rPr lang="en-US" sz="2800" baseline="-25000" smtClean="0"/>
              <a:t>s</a:t>
            </a:r>
            <a:r>
              <a:rPr lang="en-US" sz="2800" smtClean="0"/>
              <a:t>) </a:t>
            </a:r>
          </a:p>
          <a:p>
            <a:pPr eaLnBrk="1" hangingPunct="1">
              <a:buFontTx/>
              <a:buNone/>
            </a:pPr>
            <a:r>
              <a:rPr lang="en-US" sz="2800" smtClean="0"/>
              <a:t>Ya que:</a:t>
            </a:r>
          </a:p>
          <a:p>
            <a:pPr eaLnBrk="1" hangingPunct="1">
              <a:buFontTx/>
              <a:buChar char="-"/>
            </a:pPr>
            <a:r>
              <a:rPr lang="en-US" sz="2800" smtClean="0">
                <a:solidFill>
                  <a:schemeClr val="accent2"/>
                </a:solidFill>
              </a:rPr>
              <a:t>r</a:t>
            </a:r>
            <a:r>
              <a:rPr lang="en-US" sz="2800" smtClean="0"/>
              <a:t> y </a:t>
            </a:r>
            <a:r>
              <a:rPr lang="en-US" sz="2800" smtClean="0">
                <a:solidFill>
                  <a:schemeClr val="accent2"/>
                </a:solidFill>
              </a:rPr>
              <a:t>s</a:t>
            </a:r>
            <a:r>
              <a:rPr lang="en-US" sz="2800" smtClean="0"/>
              <a:t> se deben leer para generar las cubetas:    F</a:t>
            </a:r>
            <a:r>
              <a:rPr lang="en-US" sz="2800" baseline="-25000" smtClean="0"/>
              <a:t>r</a:t>
            </a:r>
            <a:r>
              <a:rPr lang="en-US" sz="2800" smtClean="0"/>
              <a:t> + F</a:t>
            </a:r>
            <a:r>
              <a:rPr lang="en-US" sz="2800" baseline="-25000" smtClean="0"/>
              <a:t>s</a:t>
            </a:r>
          </a:p>
          <a:p>
            <a:pPr eaLnBrk="1" hangingPunct="1">
              <a:buFontTx/>
              <a:buChar char="-"/>
            </a:pPr>
            <a:r>
              <a:rPr lang="en-US" sz="2800" smtClean="0"/>
              <a:t>Las cubetas resultantes se deben escribir:</a:t>
            </a:r>
          </a:p>
          <a:p>
            <a:pPr eaLnBrk="1" hangingPunct="1">
              <a:buFontTx/>
              <a:buNone/>
            </a:pPr>
            <a:r>
              <a:rPr lang="en-US" sz="2800" smtClean="0"/>
              <a:t>	F</a:t>
            </a:r>
            <a:r>
              <a:rPr lang="en-US" sz="2800" baseline="-25000" smtClean="0"/>
              <a:t>r</a:t>
            </a:r>
            <a:r>
              <a:rPr lang="en-US" sz="2800" smtClean="0"/>
              <a:t> + F</a:t>
            </a:r>
            <a:r>
              <a:rPr lang="en-US" sz="2800" baseline="-25000" smtClean="0"/>
              <a:t>s</a:t>
            </a:r>
          </a:p>
          <a:p>
            <a:pPr eaLnBrk="1" hangingPunct="1">
              <a:buFontTx/>
              <a:buChar char="-"/>
            </a:pPr>
            <a:r>
              <a:rPr lang="en-US" sz="2800" smtClean="0"/>
              <a:t>Cada cubeta se debe leer para hacer el </a:t>
            </a:r>
            <a:r>
              <a:rPr lang="en-US" sz="2800" i="1" smtClean="0"/>
              <a:t>join</a:t>
            </a:r>
            <a:r>
              <a:rPr lang="en-US" sz="2800" smtClean="0"/>
              <a:t>:    F</a:t>
            </a:r>
            <a:r>
              <a:rPr lang="en-US" sz="2800" baseline="-25000" smtClean="0"/>
              <a:t>r</a:t>
            </a:r>
            <a:r>
              <a:rPr lang="en-US" sz="2800" smtClean="0"/>
              <a:t> + F</a:t>
            </a:r>
            <a:r>
              <a:rPr lang="en-US" sz="2800" baseline="-25000" smtClean="0"/>
              <a:t>s</a:t>
            </a:r>
            <a:endParaRPr lang="en-US" sz="2800" smtClean="0"/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3708400" y="2565400"/>
            <a:ext cx="1655763" cy="719138"/>
          </a:xfrm>
          <a:prstGeom prst="rect">
            <a:avLst/>
          </a:prstGeom>
          <a:solidFill>
            <a:schemeClr val="accent2">
              <a:alpha val="4509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_trad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Hash Join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Para el ejemplo: F</a:t>
            </a:r>
            <a:r>
              <a:rPr lang="en-US" baseline="-25000" smtClean="0"/>
              <a:t>r</a:t>
            </a:r>
            <a:r>
              <a:rPr lang="en-US" smtClean="0"/>
              <a:t> = 1000, F</a:t>
            </a:r>
            <a:r>
              <a:rPr lang="en-US" baseline="-25000" smtClean="0"/>
              <a:t>s</a:t>
            </a:r>
            <a:r>
              <a:rPr lang="en-US" smtClean="0"/>
              <a:t> = 100 </a:t>
            </a:r>
          </a:p>
          <a:p>
            <a:pPr eaLnBrk="1" hangingPunct="1">
              <a:buFontTx/>
              <a:buNone/>
            </a:pPr>
            <a:r>
              <a:rPr lang="en-US" smtClean="0"/>
              <a:t>Costo: 3 (1000 + 100) = 3300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r>
              <a:rPr lang="en-US" smtClean="0"/>
              <a:t>Y aunque el costo es mayor que el del </a:t>
            </a:r>
            <a:r>
              <a:rPr lang="en-US" i="1" smtClean="0"/>
              <a:t>Block </a:t>
            </a:r>
          </a:p>
          <a:p>
            <a:pPr eaLnBrk="1" hangingPunct="1">
              <a:buFontTx/>
              <a:buNone/>
            </a:pPr>
            <a:r>
              <a:rPr lang="en-US" i="1" smtClean="0"/>
              <a:t>Nested</a:t>
            </a:r>
            <a:r>
              <a:rPr lang="en-US" smtClean="0"/>
              <a:t>, también tiene un comportamiento </a:t>
            </a:r>
          </a:p>
          <a:p>
            <a:pPr eaLnBrk="1" hangingPunct="1">
              <a:buFontTx/>
              <a:buNone/>
            </a:pPr>
            <a:r>
              <a:rPr lang="en-US" smtClean="0"/>
              <a:t>asintótico mejor que este…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Hash Join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Desventajas</a:t>
            </a:r>
            <a:r>
              <a:rPr lang="en-US" dirty="0" smtClean="0"/>
              <a:t>:</a:t>
            </a:r>
          </a:p>
          <a:p>
            <a:pPr eaLnBrk="1" hangingPunct="1">
              <a:buFontTx/>
              <a:buChar char="-"/>
            </a:pPr>
            <a:r>
              <a:rPr lang="en-US" dirty="0" smtClean="0"/>
              <a:t>Si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cubeta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</a:t>
            </a:r>
            <a:r>
              <a:rPr lang="en-US" dirty="0" err="1" smtClean="0"/>
              <a:t>muy</a:t>
            </a:r>
            <a:r>
              <a:rPr lang="en-US" dirty="0" smtClean="0"/>
              <a:t> </a:t>
            </a:r>
            <a:r>
              <a:rPr lang="en-US" dirty="0" err="1" smtClean="0"/>
              <a:t>grande</a:t>
            </a:r>
            <a:r>
              <a:rPr lang="en-US" dirty="0" smtClean="0"/>
              <a:t> y no </a:t>
            </a:r>
            <a:r>
              <a:rPr lang="en-US" dirty="0" err="1" smtClean="0"/>
              <a:t>cabe</a:t>
            </a:r>
            <a:r>
              <a:rPr lang="en-US" dirty="0" smtClean="0"/>
              <a:t> en </a:t>
            </a:r>
            <a:r>
              <a:rPr lang="en-US" dirty="0" err="1" smtClean="0"/>
              <a:t>memoria</a:t>
            </a:r>
            <a:r>
              <a:rPr lang="en-US" b="1" dirty="0" smtClean="0"/>
              <a:t>, </a:t>
            </a:r>
            <a:r>
              <a:rPr lang="en-US" b="1" dirty="0" err="1" smtClean="0"/>
              <a:t>implicaría</a:t>
            </a:r>
            <a:r>
              <a:rPr lang="en-US" b="1" dirty="0" smtClean="0"/>
              <a:t> </a:t>
            </a:r>
            <a:r>
              <a:rPr lang="en-US" b="1" dirty="0" err="1" smtClean="0"/>
              <a:t>accesos</a:t>
            </a:r>
            <a:r>
              <a:rPr lang="en-US" b="1" dirty="0" smtClean="0"/>
              <a:t> </a:t>
            </a:r>
            <a:r>
              <a:rPr lang="en-US" b="1" dirty="0" err="1" smtClean="0"/>
              <a:t>adicionales</a:t>
            </a:r>
            <a:endParaRPr lang="en-US" b="1" dirty="0" smtClean="0"/>
          </a:p>
          <a:p>
            <a:pPr eaLnBrk="1" hangingPunct="1">
              <a:buFontTx/>
              <a:buChar char="-"/>
            </a:pPr>
            <a:r>
              <a:rPr lang="en-US" dirty="0" smtClean="0"/>
              <a:t>Si se </a:t>
            </a:r>
            <a:r>
              <a:rPr lang="en-US" dirty="0" err="1" smtClean="0"/>
              <a:t>elige</a:t>
            </a:r>
            <a:r>
              <a:rPr lang="en-US" dirty="0" smtClean="0"/>
              <a:t> (o el </a:t>
            </a:r>
            <a:r>
              <a:rPr lang="en-US" dirty="0" err="1" smtClean="0"/>
              <a:t>sistema</a:t>
            </a:r>
            <a:r>
              <a:rPr lang="en-US" dirty="0" smtClean="0"/>
              <a:t> la </a:t>
            </a:r>
            <a:r>
              <a:rPr lang="en-US" dirty="0" err="1" smtClean="0"/>
              <a:t>provee</a:t>
            </a:r>
            <a:r>
              <a:rPr lang="en-US" dirty="0" smtClean="0"/>
              <a:t>)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función</a:t>
            </a:r>
            <a:r>
              <a:rPr lang="en-US" dirty="0" smtClean="0"/>
              <a:t> de </a:t>
            </a:r>
            <a:r>
              <a:rPr lang="en-US" i="1" dirty="0" smtClean="0"/>
              <a:t>hashing</a:t>
            </a:r>
            <a:r>
              <a:rPr lang="en-US" dirty="0" smtClean="0"/>
              <a:t> </a:t>
            </a:r>
            <a:r>
              <a:rPr lang="en-US" dirty="0" err="1" smtClean="0"/>
              <a:t>inadecuada</a:t>
            </a:r>
            <a:endParaRPr lang="en-US" dirty="0" smtClean="0"/>
          </a:p>
          <a:p>
            <a:pPr eaLnBrk="1" hangingPunct="1">
              <a:buFontTx/>
              <a:buChar char="-"/>
            </a:pPr>
            <a:r>
              <a:rPr lang="en-US" dirty="0" err="1" smtClean="0">
                <a:solidFill>
                  <a:srgbClr val="00B050"/>
                </a:solidFill>
              </a:rPr>
              <a:t>Nótese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que</a:t>
            </a:r>
            <a:r>
              <a:rPr lang="en-US" dirty="0" smtClean="0">
                <a:solidFill>
                  <a:srgbClr val="00B050"/>
                </a:solidFill>
              </a:rPr>
              <a:t> solo </a:t>
            </a:r>
            <a:r>
              <a:rPr lang="en-US" dirty="0" err="1" smtClean="0">
                <a:solidFill>
                  <a:srgbClr val="00B050"/>
                </a:solidFill>
              </a:rPr>
              <a:t>sirve</a:t>
            </a:r>
            <a:r>
              <a:rPr lang="en-US" dirty="0" smtClean="0">
                <a:solidFill>
                  <a:srgbClr val="00B050"/>
                </a:solidFill>
              </a:rPr>
              <a:t> para </a:t>
            </a:r>
            <a:r>
              <a:rPr lang="en-US" i="1" dirty="0" smtClean="0">
                <a:solidFill>
                  <a:srgbClr val="00B050"/>
                </a:solidFill>
              </a:rPr>
              <a:t>joins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basados</a:t>
            </a:r>
            <a:r>
              <a:rPr lang="en-US" dirty="0" smtClean="0">
                <a:solidFill>
                  <a:srgbClr val="00B050"/>
                </a:solidFill>
              </a:rPr>
              <a:t> en </a:t>
            </a:r>
            <a:r>
              <a:rPr lang="en-US" dirty="0" err="1" smtClean="0">
                <a:solidFill>
                  <a:srgbClr val="00B050"/>
                </a:solidFill>
              </a:rPr>
              <a:t>condición</a:t>
            </a:r>
            <a:r>
              <a:rPr lang="en-US" dirty="0" smtClean="0">
                <a:solidFill>
                  <a:srgbClr val="00B050"/>
                </a:solidFill>
              </a:rPr>
              <a:t> de </a:t>
            </a:r>
            <a:r>
              <a:rPr lang="en-US" dirty="0" err="1" smtClean="0">
                <a:solidFill>
                  <a:srgbClr val="00B050"/>
                </a:solidFill>
              </a:rPr>
              <a:t>igualdad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</Template>
  <TotalTime>2211</TotalTime>
  <Words>2063</Words>
  <Application>Microsoft Office PowerPoint</Application>
  <PresentationFormat>Presentación en pantalla (4:3)</PresentationFormat>
  <Paragraphs>359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8" baseType="lpstr">
      <vt:lpstr>Arial</vt:lpstr>
      <vt:lpstr>Symbol</vt:lpstr>
      <vt:lpstr>Wingdings</vt:lpstr>
      <vt:lpstr>Default Design</vt:lpstr>
      <vt:lpstr>Métodos para ejecutar la operación de reunión (join)</vt:lpstr>
      <vt:lpstr>La operación join</vt:lpstr>
      <vt:lpstr>La operación join</vt:lpstr>
      <vt:lpstr>La operación join</vt:lpstr>
      <vt:lpstr>Nested Loops</vt:lpstr>
      <vt:lpstr>Nested Loops</vt:lpstr>
      <vt:lpstr>Nested Loops</vt:lpstr>
      <vt:lpstr>Nested Loops</vt:lpstr>
      <vt:lpstr>Nested Loops</vt:lpstr>
      <vt:lpstr>Nested Loops</vt:lpstr>
      <vt:lpstr>Algoritmo</vt:lpstr>
      <vt:lpstr>Nested Loops</vt:lpstr>
      <vt:lpstr>Índice clustered</vt:lpstr>
      <vt:lpstr>Índice unclustered</vt:lpstr>
      <vt:lpstr>Nested Loops</vt:lpstr>
      <vt:lpstr>Nested Loops</vt:lpstr>
      <vt:lpstr>Nested Loops</vt:lpstr>
      <vt:lpstr>Nested Loops</vt:lpstr>
      <vt:lpstr>Nested Loops</vt:lpstr>
      <vt:lpstr>Nested Loops</vt:lpstr>
      <vt:lpstr>Nested Loops</vt:lpstr>
      <vt:lpstr>Nested Loops</vt:lpstr>
      <vt:lpstr>Sort Merge Join</vt:lpstr>
      <vt:lpstr>Sort Merge Join</vt:lpstr>
      <vt:lpstr>Sort Merge Join</vt:lpstr>
      <vt:lpstr>Sort Merge Join</vt:lpstr>
      <vt:lpstr>Sort Merge Join</vt:lpstr>
      <vt:lpstr>Sort Merge Join</vt:lpstr>
      <vt:lpstr>Sort Merge Join</vt:lpstr>
      <vt:lpstr>Sort Merge Join</vt:lpstr>
      <vt:lpstr>Sort Merge Join</vt:lpstr>
      <vt:lpstr>Sort Merge Join</vt:lpstr>
      <vt:lpstr>Sort Merge Join</vt:lpstr>
      <vt:lpstr>Sort Merge Join</vt:lpstr>
      <vt:lpstr>Sort Merge Join</vt:lpstr>
      <vt:lpstr>Sort Merge Join</vt:lpstr>
      <vt:lpstr>Sort Merge Join</vt:lpstr>
      <vt:lpstr>Sort Merge Join</vt:lpstr>
      <vt:lpstr>Sort Merge Join</vt:lpstr>
      <vt:lpstr>Hash Join</vt:lpstr>
      <vt:lpstr>Hash Join</vt:lpstr>
      <vt:lpstr>Hash Join</vt:lpstr>
      <vt:lpstr>Hash Join</vt:lpstr>
      <vt:lpstr>Hash Join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Optimización</dc:title>
  <dc:creator>Usuario Autorizado</dc:creator>
  <cp:lastModifiedBy>pete96</cp:lastModifiedBy>
  <cp:revision>148</cp:revision>
  <dcterms:created xsi:type="dcterms:W3CDTF">2007-04-04T15:11:29Z</dcterms:created>
  <dcterms:modified xsi:type="dcterms:W3CDTF">2017-05-26T16:34:19Z</dcterms:modified>
</cp:coreProperties>
</file>