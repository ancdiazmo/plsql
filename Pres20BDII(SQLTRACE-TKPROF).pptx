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00" r:id="rId2"/>
    <p:sldId id="301" r:id="rId3"/>
    <p:sldId id="302" r:id="rId4"/>
    <p:sldId id="303" r:id="rId5"/>
    <p:sldId id="304" r:id="rId6"/>
    <p:sldId id="305" r:id="rId7"/>
    <p:sldId id="338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33" r:id="rId18"/>
    <p:sldId id="316" r:id="rId19"/>
    <p:sldId id="317" r:id="rId20"/>
    <p:sldId id="320" r:id="rId21"/>
    <p:sldId id="321" r:id="rId22"/>
    <p:sldId id="322" r:id="rId23"/>
    <p:sldId id="335" r:id="rId24"/>
    <p:sldId id="336" r:id="rId25"/>
    <p:sldId id="323" r:id="rId26"/>
    <p:sldId id="325" r:id="rId27"/>
    <p:sldId id="328" r:id="rId28"/>
    <p:sldId id="337" r:id="rId29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  <a:srgbClr val="FFFFC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 autoAdjust="0"/>
    <p:restoredTop sz="94541" autoAdjust="0"/>
  </p:normalViewPr>
  <p:slideViewPr>
    <p:cSldViewPr>
      <p:cViewPr varScale="1">
        <p:scale>
          <a:sx n="70" d="100"/>
          <a:sy n="7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0CDCF61-AE93-430C-B32B-E6A59304B496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32845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62AAAAB-6230-4AC8-A292-9F338EC1F26F}" type="slidenum">
              <a:rPr lang="es-ES"/>
              <a:pPr eaLnBrk="1" hangingPunct="1"/>
              <a:t>1</a:t>
            </a:fld>
            <a:endParaRPr lang="es-E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443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247BB73-825D-4546-86F4-3F4F7A09E7EA}" type="slidenum">
              <a:rPr lang="es-ES"/>
              <a:pPr eaLnBrk="1" hangingPunct="1"/>
              <a:t>2</a:t>
            </a:fld>
            <a:endParaRPr lang="es-E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079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D8E88F8-F6AA-4FFC-9204-D51FF61454C0}" type="slidenum">
              <a:rPr lang="es-ES"/>
              <a:pPr eaLnBrk="1" hangingPunct="1"/>
              <a:t>3</a:t>
            </a:fld>
            <a:endParaRPr lang="es-E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629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B347CD-7C4E-42D9-B18A-7B84869B4DDE}" type="slidenum">
              <a:rPr lang="es-ES"/>
              <a:pPr eaLnBrk="1" hangingPunct="1"/>
              <a:t>4</a:t>
            </a:fld>
            <a:endParaRPr lang="es-E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966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098ADB1-B33B-4040-BC9C-CDA91D5ADA97}" type="slidenum">
              <a:rPr lang="es-ES"/>
              <a:pPr eaLnBrk="1" hangingPunct="1"/>
              <a:t>5</a:t>
            </a:fld>
            <a:endParaRPr lang="es-E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87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BFCE565-D6A6-49CE-9659-661445583336}" type="slidenum">
              <a:rPr lang="es-ES"/>
              <a:pPr eaLnBrk="1" hangingPunct="1"/>
              <a:t>6</a:t>
            </a:fld>
            <a:endParaRPr lang="es-E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213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9E4FA0A-EE35-4B2A-A2EA-9BFB3CCDF53D}" type="slidenum">
              <a:rPr lang="es-ES"/>
              <a:pPr eaLnBrk="1" hangingPunct="1"/>
              <a:t>8</a:t>
            </a:fld>
            <a:endParaRPr lang="es-E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135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D4CA0A-F205-4AC6-B50D-205B842EC316}" type="slidenum">
              <a:rPr lang="es-ES"/>
              <a:pPr eaLnBrk="1" hangingPunct="1"/>
              <a:t>9</a:t>
            </a:fld>
            <a:endParaRPr lang="es-E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538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24B023-BDC4-4910-A41C-AEAE284A07EA}" type="slidenum">
              <a:rPr lang="es-ES"/>
              <a:pPr eaLnBrk="1" hangingPunct="1"/>
              <a:t>10</a:t>
            </a:fld>
            <a:endParaRPr lang="es-E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550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F20FE89-AECB-4F8C-8E3A-7E0ACD86344F}" type="slidenum">
              <a:rPr lang="es-ES"/>
              <a:pPr eaLnBrk="1" hangingPunct="1"/>
              <a:t>11</a:t>
            </a:fld>
            <a:endParaRPr lang="es-E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460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4BB53EF-4897-4151-B4F4-1673EF5DD1D3}" type="slidenum">
              <a:rPr lang="es-ES"/>
              <a:pPr eaLnBrk="1" hangingPunct="1"/>
              <a:t>12</a:t>
            </a:fld>
            <a:endParaRPr lang="es-E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3660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34AD0F1-17AA-4D1A-BCD7-0875E7B5C1E0}" type="slidenum">
              <a:rPr lang="es-ES"/>
              <a:pPr eaLnBrk="1" hangingPunct="1"/>
              <a:t>13</a:t>
            </a:fld>
            <a:endParaRPr lang="es-E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206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79C44B4-08A7-47DC-B558-9776106B0D3D}" type="slidenum">
              <a:rPr lang="es-ES"/>
              <a:pPr eaLnBrk="1" hangingPunct="1"/>
              <a:t>14</a:t>
            </a:fld>
            <a:endParaRPr lang="es-E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792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0A8C45-837C-45B8-91CA-51C120F8CDA3}" type="slidenum">
              <a:rPr lang="es-ES"/>
              <a:pPr eaLnBrk="1" hangingPunct="1"/>
              <a:t>16</a:t>
            </a:fld>
            <a:endParaRPr lang="es-E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3729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78CE2A7-2C0F-44B9-86C5-384D3ECED0E1}" type="slidenum">
              <a:rPr lang="es-ES"/>
              <a:pPr eaLnBrk="1" hangingPunct="1"/>
              <a:t>18</a:t>
            </a:fld>
            <a:endParaRPr lang="es-E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582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3F02F3-A149-446A-88E7-3A9BAD658B31}" type="slidenum">
              <a:rPr lang="es-ES"/>
              <a:pPr eaLnBrk="1" hangingPunct="1"/>
              <a:t>19</a:t>
            </a:fld>
            <a:endParaRPr lang="es-E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565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4BB54FA-0C35-4955-B578-2F4FA8E65756}" type="slidenum">
              <a:rPr lang="es-ES"/>
              <a:pPr eaLnBrk="1" hangingPunct="1"/>
              <a:t>20</a:t>
            </a:fld>
            <a:endParaRPr lang="es-E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0933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093466-B107-4497-A59B-D0CA14DCCF45}" type="slidenum">
              <a:rPr lang="es-ES"/>
              <a:pPr eaLnBrk="1" hangingPunct="1"/>
              <a:t>21</a:t>
            </a:fld>
            <a:endParaRPr lang="es-E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847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B0EF39C-F183-4B04-A400-6E71015FFDBB}" type="slidenum">
              <a:rPr lang="es-ES"/>
              <a:pPr eaLnBrk="1" hangingPunct="1"/>
              <a:t>22</a:t>
            </a:fld>
            <a:endParaRPr lang="es-E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203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47EE07E-A387-4549-B21F-CF36E6F39187}" type="slidenum">
              <a:rPr lang="es-ES"/>
              <a:pPr eaLnBrk="1" hangingPunct="1"/>
              <a:t>25</a:t>
            </a:fld>
            <a:endParaRPr lang="es-E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3789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E2A278-1DC4-4D99-BE4C-859A1572558A}" type="slidenum">
              <a:rPr lang="es-ES"/>
              <a:pPr eaLnBrk="1" hangingPunct="1"/>
              <a:t>26</a:t>
            </a:fld>
            <a:endParaRPr lang="es-E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256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D535122-7EA2-4839-83ED-4F88A5381DDA}" type="slidenum">
              <a:rPr lang="es-ES"/>
              <a:pPr eaLnBrk="1" hangingPunct="1"/>
              <a:t>27</a:t>
            </a:fld>
            <a:endParaRPr lang="es-E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588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DED8BE-8920-472E-B75F-4C5EE069DF9A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5548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45D18D-5BCE-43C1-BFCD-EB0E332CE2C0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2656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EBBC2E-9475-48D6-AD6F-F2F76F924D4E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90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3E33DF-FCC2-4C55-B983-8524311C0CB9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4380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89C3B2-A129-4E6C-B90A-7BED13B6DCA0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0538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C3D87D-1B2A-463F-ABC9-BAF590CB9C30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236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E27E39-0E0A-4792-95E1-A01041B1FDE8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0274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0A113E-A75D-45BC-BE6D-42435E598C9E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9346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4AC0F4-D900-48A0-A1E4-964D9FED2916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4717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C9974-794C-4498-91C6-81ED70A4A626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515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C0BE86-A27C-4443-B42E-21428212D290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1590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9BCAAD8-4DC7-4E75-B255-A238ACBA77D5}" type="slidenum">
              <a:rPr lang="es-ES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ba-oracle.com/oracle_tips_sql_plus_arraysize.htm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971550" y="333375"/>
            <a:ext cx="716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sz="32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SQL </a:t>
            </a:r>
            <a:r>
              <a:rPr lang="es-ES_tradnl" sz="3200" b="1" dirty="0" smtClean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Trace </a:t>
            </a:r>
            <a:r>
              <a:rPr lang="es-ES_tradnl" sz="32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y TKPROF</a:t>
            </a:r>
            <a:endParaRPr lang="es-ES" sz="3200" b="1" dirty="0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684213" y="1671638"/>
            <a:ext cx="79914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es-ES" sz="2400" dirty="0">
                <a:latin typeface="Times New Roman" panose="02020603050405020304" pitchFamily="18" charset="0"/>
              </a:rPr>
              <a:t> Aunque el EXPLAIN PLAN es una herramienta útil, </a:t>
            </a:r>
            <a:r>
              <a:rPr lang="es-ES" sz="2400" dirty="0" smtClean="0">
                <a:latin typeface="Times New Roman" panose="02020603050405020304" pitchFamily="18" charset="0"/>
              </a:rPr>
              <a:t>es limitado.</a:t>
            </a:r>
            <a:endParaRPr lang="es-ES" sz="2400" dirty="0">
              <a:latin typeface="Times New Roman" panose="02020603050405020304" pitchFamily="18" charset="0"/>
            </a:endParaRP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719138" y="2636838"/>
            <a:ext cx="792003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 ejemplo</a:t>
            </a:r>
            <a:r>
              <a:rPr lang="es-E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no da o da poca información 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sobre los </a:t>
            </a:r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recursos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empleados por 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consulta (tiempo de CPU, bloques procesados (disco y memoria), entre otros) </a:t>
            </a:r>
          </a:p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ello se puede acudir a otras dos herramientas que </a:t>
            </a:r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actúan en conjunto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E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lang="es-E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Trace 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s-E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TKPROF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Transient Kernel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herramienta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formato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archivo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generado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el SQL Trace</a:t>
            </a:r>
            <a:r>
              <a:rPr lang="es-E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/>
          <p:cNvSpPr txBox="1">
            <a:spLocks noChangeArrowheads="1"/>
          </p:cNvSpPr>
          <p:nvPr/>
        </p:nvSpPr>
        <p:spPr bwMode="auto">
          <a:xfrm>
            <a:off x="684213" y="692696"/>
            <a:ext cx="15145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SQL </a:t>
            </a:r>
            <a:r>
              <a:rPr lang="es-ES" sz="2400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Trace</a:t>
            </a:r>
            <a:endParaRPr lang="es-ES" sz="2400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" name="Text Box 4"/>
          <p:cNvSpPr txBox="1">
            <a:spLocks noChangeArrowheads="1"/>
          </p:cNvSpPr>
          <p:nvPr/>
        </p:nvSpPr>
        <p:spPr bwMode="auto">
          <a:xfrm>
            <a:off x="638175" y="1536030"/>
            <a:ext cx="792003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latin typeface="Times New Roman" panose="02020603050405020304" pitchFamily="18" charset="0"/>
              </a:rPr>
              <a:t>SQL </a:t>
            </a:r>
            <a:r>
              <a:rPr lang="es-ES" sz="2400" dirty="0" smtClean="0">
                <a:latin typeface="Times New Roman" panose="02020603050405020304" pitchFamily="18" charset="0"/>
              </a:rPr>
              <a:t>Trace </a:t>
            </a:r>
            <a:r>
              <a:rPr lang="es-ES" sz="2400" dirty="0">
                <a:latin typeface="Times New Roman" panose="02020603050405020304" pitchFamily="18" charset="0"/>
              </a:rPr>
              <a:t>permite rastrear (</a:t>
            </a:r>
            <a:r>
              <a:rPr lang="es-ES" sz="2400" i="1" dirty="0">
                <a:latin typeface="Times New Roman" panose="02020603050405020304" pitchFamily="18" charset="0"/>
              </a:rPr>
              <a:t>trace</a:t>
            </a:r>
            <a:r>
              <a:rPr lang="es-ES" sz="2400" dirty="0">
                <a:latin typeface="Times New Roman" panose="02020603050405020304" pitchFamily="18" charset="0"/>
              </a:rPr>
              <a:t>) las sentencias SQL ejecutadas durante una </a:t>
            </a:r>
            <a:r>
              <a:rPr lang="es-ES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sesión</a:t>
            </a:r>
            <a:r>
              <a:rPr lang="es-ES" sz="2400" dirty="0">
                <a:latin typeface="Times New Roman" panose="02020603050405020304" pitchFamily="18" charset="0"/>
              </a:rPr>
              <a:t>, almacenándolas en un archivo específico</a:t>
            </a:r>
            <a:r>
              <a:rPr lang="es-ES" sz="2400" i="1" dirty="0">
                <a:solidFill>
                  <a:srgbClr val="A50021"/>
                </a:solidFill>
                <a:latin typeface="Times New Roman" panose="02020603050405020304" pitchFamily="18" charset="0"/>
              </a:rPr>
              <a:t>*</a:t>
            </a:r>
            <a:r>
              <a:rPr lang="es-E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.</a:t>
            </a:r>
            <a:endParaRPr lang="es-ES" sz="2400" dirty="0">
              <a:latin typeface="Times New Roman" panose="02020603050405020304" pitchFamily="18" charset="0"/>
            </a:endParaRP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666154" y="3016842"/>
            <a:ext cx="777716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s-ES" sz="2400" dirty="0" smtClean="0">
                <a:latin typeface="Times New Roman" pitchFamily="18" charset="0"/>
              </a:rPr>
              <a:t>En este archivo se guardan varios datos de interés para los analistas de las sentencias, tales como: </a:t>
            </a:r>
          </a:p>
          <a:p>
            <a:pPr marL="342900" indent="-342900" algn="just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s-ES" sz="2400" dirty="0" smtClean="0">
                <a:latin typeface="Times New Roman" pitchFamily="18" charset="0"/>
              </a:rPr>
              <a:t>Tiempos </a:t>
            </a:r>
            <a:r>
              <a:rPr lang="es-ES" sz="2400" dirty="0" smtClean="0">
                <a:latin typeface="Times New Roman" pitchFamily="18" charset="0"/>
              </a:rPr>
              <a:t>de </a:t>
            </a:r>
            <a:r>
              <a:rPr lang="es-ES" sz="2400" dirty="0" smtClean="0">
                <a:latin typeface="Times New Roman" pitchFamily="18" charset="0"/>
              </a:rPr>
              <a:t>CPU. </a:t>
            </a:r>
            <a:endParaRPr lang="es-ES" sz="2400" dirty="0" smtClean="0">
              <a:latin typeface="Times New Roman" pitchFamily="18" charset="0"/>
            </a:endParaRPr>
          </a:p>
          <a:p>
            <a:pPr marL="342900" indent="-342900" algn="just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s-ES" sz="2400" dirty="0">
                <a:latin typeface="Times New Roman" pitchFamily="18" charset="0"/>
              </a:rPr>
              <a:t>N</a:t>
            </a:r>
            <a:r>
              <a:rPr lang="es-ES" sz="2400" dirty="0" smtClean="0">
                <a:latin typeface="Times New Roman" pitchFamily="18" charset="0"/>
              </a:rPr>
              <a:t>úmero </a:t>
            </a:r>
            <a:r>
              <a:rPr lang="es-ES" sz="2400" dirty="0" smtClean="0">
                <a:latin typeface="Times New Roman" pitchFamily="18" charset="0"/>
              </a:rPr>
              <a:t>de bloques procesados (I/O), </a:t>
            </a:r>
          </a:p>
          <a:p>
            <a:pPr marL="342900" indent="-342900" algn="just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s-ES" sz="2400" dirty="0">
                <a:latin typeface="Times New Roman" pitchFamily="18" charset="0"/>
              </a:rPr>
              <a:t>E</a:t>
            </a:r>
            <a:r>
              <a:rPr lang="es-ES" sz="2400" dirty="0" smtClean="0">
                <a:latin typeface="Times New Roman" pitchFamily="18" charset="0"/>
              </a:rPr>
              <a:t>stadísticas </a:t>
            </a:r>
            <a:r>
              <a:rPr lang="es-ES" sz="2400" dirty="0" smtClean="0">
                <a:latin typeface="Times New Roman" pitchFamily="18" charset="0"/>
              </a:rPr>
              <a:t>sobre </a:t>
            </a:r>
            <a:r>
              <a:rPr lang="es-ES" sz="2400" i="1" dirty="0" err="1" smtClean="0">
                <a:latin typeface="Times New Roman" pitchFamily="18" charset="0"/>
              </a:rPr>
              <a:t>parsing</a:t>
            </a:r>
            <a:r>
              <a:rPr lang="es-ES" sz="2400" dirty="0" smtClean="0">
                <a:latin typeface="Times New Roman" pitchFamily="18" charset="0"/>
              </a:rPr>
              <a:t> (análisis sintáctico), </a:t>
            </a:r>
          </a:p>
          <a:p>
            <a:pPr marL="342900" indent="-342900" algn="just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s-ES" sz="2400" dirty="0">
                <a:latin typeface="Times New Roman" pitchFamily="18" charset="0"/>
              </a:rPr>
              <a:t>N</a:t>
            </a:r>
            <a:r>
              <a:rPr lang="es-ES" sz="2400" dirty="0" smtClean="0">
                <a:latin typeface="Times New Roman" pitchFamily="18" charset="0"/>
              </a:rPr>
              <a:t>úmero </a:t>
            </a:r>
            <a:r>
              <a:rPr lang="es-ES" sz="2400" dirty="0" smtClean="0">
                <a:latin typeface="Times New Roman" pitchFamily="18" charset="0"/>
              </a:rPr>
              <a:t>de registros procesados, entre otros.</a:t>
            </a:r>
          </a:p>
        </p:txBody>
      </p:sp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430213" y="6344493"/>
            <a:ext cx="7704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000" i="1" dirty="0">
                <a:solidFill>
                  <a:srgbClr val="A50021"/>
                </a:solidFill>
                <a:latin typeface="Times New Roman" panose="02020603050405020304" pitchFamily="18" charset="0"/>
              </a:rPr>
              <a:t>*</a:t>
            </a:r>
            <a:r>
              <a:rPr lang="es-ES" sz="2000" dirty="0">
                <a:latin typeface="Times New Roman" panose="02020603050405020304" pitchFamily="18" charset="0"/>
              </a:rPr>
              <a:t> </a:t>
            </a:r>
            <a:r>
              <a:rPr lang="es-ES" sz="2000" dirty="0" smtClean="0">
                <a:latin typeface="Times New Roman" panose="02020603050405020304" pitchFamily="18" charset="0"/>
              </a:rPr>
              <a:t>Usualmente</a:t>
            </a:r>
            <a:r>
              <a:rPr lang="es-ES" sz="2000" dirty="0">
                <a:latin typeface="Times New Roman" panose="02020603050405020304" pitchFamily="18" charset="0"/>
              </a:rPr>
              <a:t>, estos archivos de rastreo tienen extensión </a:t>
            </a:r>
            <a:r>
              <a:rPr lang="es-ES" sz="2000" b="1" dirty="0" err="1">
                <a:solidFill>
                  <a:srgbClr val="003399"/>
                </a:solidFill>
                <a:latin typeface="Times New Roman" panose="02020603050405020304" pitchFamily="18" charset="0"/>
              </a:rPr>
              <a:t>trc</a:t>
            </a:r>
            <a:endParaRPr lang="es-ES" sz="2000" b="1" i="1" u="sng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/>
          <p:cNvSpPr txBox="1">
            <a:spLocks noChangeArrowheads="1"/>
          </p:cNvSpPr>
          <p:nvPr/>
        </p:nvSpPr>
        <p:spPr bwMode="auto">
          <a:xfrm>
            <a:off x="844497" y="981075"/>
            <a:ext cx="15145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SQL </a:t>
            </a:r>
            <a:r>
              <a:rPr lang="es-ES" sz="2400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Trace</a:t>
            </a:r>
            <a:endParaRPr lang="es-ES" sz="2400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762000" y="1524000"/>
            <a:ext cx="7920038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latin typeface="Times New Roman" panose="02020603050405020304" pitchFamily="18" charset="0"/>
              </a:rPr>
              <a:t>El archivo generado por el SQL </a:t>
            </a:r>
            <a:r>
              <a:rPr lang="es-ES" sz="2400" dirty="0" smtClean="0">
                <a:latin typeface="Times New Roman" panose="02020603050405020304" pitchFamily="18" charset="0"/>
              </a:rPr>
              <a:t>Trace </a:t>
            </a:r>
            <a:r>
              <a:rPr lang="es-ES" sz="2400" dirty="0">
                <a:latin typeface="Times New Roman" panose="02020603050405020304" pitchFamily="18" charset="0"/>
              </a:rPr>
              <a:t>es prácticamente imposible de interpretar directamente. Esto se puede comprobar abriendo el archivo con cualquier editor de texto. </a:t>
            </a:r>
            <a:r>
              <a:rPr lang="es-ES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Ejemplo: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2852936"/>
            <a:ext cx="6257925" cy="3867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/>
          <p:cNvSpPr txBox="1">
            <a:spLocks noChangeArrowheads="1"/>
          </p:cNvSpPr>
          <p:nvPr/>
        </p:nvSpPr>
        <p:spPr bwMode="auto">
          <a:xfrm>
            <a:off x="844497" y="981075"/>
            <a:ext cx="15145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SQL </a:t>
            </a:r>
            <a:r>
              <a:rPr lang="es-ES" sz="2400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Trace</a:t>
            </a:r>
            <a:endParaRPr lang="es-ES" sz="2400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827088" y="1700213"/>
            <a:ext cx="7777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s-ES_tradnl" sz="2400">
              <a:latin typeface="Times New Roman" panose="02020603050405020304" pitchFamily="18" charset="0"/>
            </a:endParaRPr>
          </a:p>
        </p:txBody>
      </p:sp>
      <p:sp>
        <p:nvSpPr>
          <p:cNvPr id="5124" name="Text Box 5"/>
          <p:cNvSpPr txBox="1">
            <a:spLocks noChangeArrowheads="1"/>
          </p:cNvSpPr>
          <p:nvPr/>
        </p:nvSpPr>
        <p:spPr bwMode="auto">
          <a:xfrm>
            <a:off x="827088" y="148431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s-ES_tradnl" sz="2400">
              <a:latin typeface="Times New Roman" panose="02020603050405020304" pitchFamily="18" charset="0"/>
            </a:endParaRPr>
          </a:p>
        </p:txBody>
      </p:sp>
      <p:sp>
        <p:nvSpPr>
          <p:cNvPr id="5125" name="Text Box 6"/>
          <p:cNvSpPr txBox="1">
            <a:spLocks noChangeArrowheads="1"/>
          </p:cNvSpPr>
          <p:nvPr/>
        </p:nvSpPr>
        <p:spPr bwMode="auto">
          <a:xfrm>
            <a:off x="900113" y="1989138"/>
            <a:ext cx="7416800" cy="267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>
                <a:latin typeface="Times New Roman" panose="02020603050405020304" pitchFamily="18" charset="0"/>
              </a:rPr>
              <a:t>Debido a lo anterior, se usa una herramienta que toma como entrada el archivo de rastreo y genera un archivo con información comprensible.</a:t>
            </a:r>
          </a:p>
          <a:p>
            <a:pPr algn="just" eaLnBrk="1" hangingPunct="1">
              <a:spcBef>
                <a:spcPct val="50000"/>
              </a:spcBef>
            </a:pPr>
            <a:endParaRPr lang="es-ES" sz="24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es-ES" sz="2400">
                <a:latin typeface="Times New Roman" panose="02020603050405020304" pitchFamily="18" charset="0"/>
              </a:rPr>
              <a:t>Esta herramienta (proporcionada también por Oracle) es el </a:t>
            </a:r>
            <a:r>
              <a:rPr lang="es-ES" sz="2400">
                <a:solidFill>
                  <a:srgbClr val="A50021"/>
                </a:solidFill>
                <a:latin typeface="Times New Roman" panose="02020603050405020304" pitchFamily="18" charset="0"/>
              </a:rPr>
              <a:t>TKPROF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3"/>
          <p:cNvSpPr txBox="1">
            <a:spLocks noChangeArrowheads="1"/>
          </p:cNvSpPr>
          <p:nvPr/>
        </p:nvSpPr>
        <p:spPr bwMode="auto">
          <a:xfrm>
            <a:off x="1136236" y="981075"/>
            <a:ext cx="61000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Pasos a seguir para usar SQL </a:t>
            </a:r>
            <a:r>
              <a:rPr lang="es-ES" sz="2400" dirty="0" smtClean="0">
                <a:solidFill>
                  <a:srgbClr val="A50021"/>
                </a:solidFill>
                <a:latin typeface="Times New Roman" panose="02020603050405020304" pitchFamily="18" charset="0"/>
              </a:rPr>
              <a:t>Trace </a:t>
            </a:r>
            <a:r>
              <a:rPr lang="es-ES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y TKPROF:</a:t>
            </a: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611188" y="1773238"/>
            <a:ext cx="7632700" cy="3786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938" indent="-793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1. Habilitar el SQL </a:t>
            </a:r>
            <a:r>
              <a:rPr lang="es-ES" sz="2400" dirty="0" smtClean="0">
                <a:solidFill>
                  <a:srgbClr val="003399"/>
                </a:solidFill>
                <a:latin typeface="Times New Roman" panose="02020603050405020304" pitchFamily="18" charset="0"/>
              </a:rPr>
              <a:t>Trace</a:t>
            </a:r>
            <a:endParaRPr lang="es-ES" sz="2400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2. Localizar el archivo de rastreo de interés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3. Usar el TKPROF 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4. Interpretar los resultados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5. Afinar la sentencia y repetir el proceso si es necesario</a:t>
            </a:r>
          </a:p>
          <a:p>
            <a:pPr algn="just" eaLnBrk="1" hangingPunct="1">
              <a:spcBef>
                <a:spcPct val="50000"/>
              </a:spcBef>
              <a:buFontTx/>
              <a:buAutoNum type="arabicPeriod"/>
            </a:pPr>
            <a:endParaRPr lang="es-ES" sz="2400" dirty="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latin typeface="Times New Roman" panose="02020603050405020304" pitchFamily="18" charset="0"/>
              </a:rPr>
              <a:t>A continuación se explica cada </a:t>
            </a:r>
            <a:r>
              <a:rPr lang="es-ES" sz="2400" dirty="0" smtClean="0">
                <a:latin typeface="Times New Roman" panose="02020603050405020304" pitchFamily="18" charset="0"/>
              </a:rPr>
              <a:t>paso</a:t>
            </a:r>
            <a:endParaRPr lang="es-E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"/>
          <p:cNvSpPr txBox="1">
            <a:spLocks noChangeArrowheads="1"/>
          </p:cNvSpPr>
          <p:nvPr/>
        </p:nvSpPr>
        <p:spPr bwMode="auto">
          <a:xfrm>
            <a:off x="719138" y="1138238"/>
            <a:ext cx="76644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1. Habilitar el SQL </a:t>
            </a:r>
            <a:r>
              <a:rPr lang="es-ES" sz="2400" dirty="0" smtClean="0">
                <a:solidFill>
                  <a:srgbClr val="003399"/>
                </a:solidFill>
                <a:latin typeface="Times New Roman" panose="02020603050405020304" pitchFamily="18" charset="0"/>
              </a:rPr>
              <a:t>Trace</a:t>
            </a:r>
            <a:endParaRPr lang="es-ES" sz="2400" u="sng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684213" y="1989138"/>
            <a:ext cx="75596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latin typeface="Times New Roman" panose="02020603050405020304" pitchFamily="18" charset="0"/>
              </a:rPr>
              <a:t>Para habilitar el rastreo de las sentencias, se ejecuta el siguiente comando desde SQL*PLUS (</a:t>
            </a:r>
            <a:r>
              <a:rPr lang="es-CO" sz="2400" dirty="0"/>
              <a:t>requiere: </a:t>
            </a:r>
            <a:r>
              <a:rPr lang="en-US" sz="2400" b="1" dirty="0">
                <a:solidFill>
                  <a:srgbClr val="003399"/>
                </a:solidFill>
                <a:latin typeface="Courier New" panose="02070309020205020404" pitchFamily="49" charset="0"/>
              </a:rPr>
              <a:t>GRANT ALTER SESSION TO </a:t>
            </a:r>
            <a:r>
              <a:rPr lang="en-US" sz="2400" b="1" dirty="0" smtClean="0">
                <a:solidFill>
                  <a:srgbClr val="003399"/>
                </a:solidFill>
                <a:latin typeface="Courier New" panose="02070309020205020404" pitchFamily="49" charset="0"/>
              </a:rPr>
              <a:t>username</a:t>
            </a:r>
            <a:r>
              <a:rPr lang="es-ES" sz="2400" dirty="0" smtClean="0">
                <a:latin typeface="Times New Roman" panose="02020603050405020304" pitchFamily="18" charset="0"/>
              </a:rPr>
              <a:t>)</a:t>
            </a:r>
            <a:r>
              <a:rPr lang="es-ES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s-ES" sz="2400" dirty="0" smtClean="0">
                <a:latin typeface="Times New Roman" panose="02020603050405020304" pitchFamily="18" charset="0"/>
              </a:rPr>
              <a:t>:</a:t>
            </a:r>
            <a:endParaRPr lang="es-ES" sz="2400" dirty="0">
              <a:latin typeface="Times New Roman" panose="02020603050405020304" pitchFamily="18" charset="0"/>
            </a:endParaRPr>
          </a:p>
        </p:txBody>
      </p:sp>
      <p:sp>
        <p:nvSpPr>
          <p:cNvPr id="7172" name="Text Box 5"/>
          <p:cNvSpPr txBox="1">
            <a:spLocks noChangeArrowheads="1"/>
          </p:cNvSpPr>
          <p:nvPr/>
        </p:nvSpPr>
        <p:spPr bwMode="auto">
          <a:xfrm>
            <a:off x="757238" y="3455988"/>
            <a:ext cx="663733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sz="2400" b="1" dirty="0">
                <a:solidFill>
                  <a:srgbClr val="003399"/>
                </a:solidFill>
                <a:latin typeface="Courier New" panose="02070309020205020404" pitchFamily="49" charset="0"/>
              </a:rPr>
              <a:t>ALTER SESSION SET </a:t>
            </a:r>
            <a:r>
              <a:rPr lang="es-ES" sz="2400" b="1" dirty="0" smtClean="0">
                <a:solidFill>
                  <a:srgbClr val="003399"/>
                </a:solidFill>
                <a:latin typeface="Courier New" panose="02070309020205020404" pitchFamily="49" charset="0"/>
              </a:rPr>
              <a:t>SQL_TRACE </a:t>
            </a:r>
            <a:r>
              <a:rPr lang="es-ES" sz="2400" b="1" dirty="0">
                <a:solidFill>
                  <a:srgbClr val="003399"/>
                </a:solidFill>
                <a:latin typeface="Courier New" panose="02070309020205020404" pitchFamily="49" charset="0"/>
              </a:rPr>
              <a:t>= TRUE;</a:t>
            </a:r>
          </a:p>
          <a:p>
            <a:pPr algn="just" eaLnBrk="1" hangingPunct="1"/>
            <a:r>
              <a:rPr lang="es-ES" sz="2400" b="1" dirty="0">
                <a:latin typeface="Courier New" panose="02070309020205020404" pitchFamily="49" charset="0"/>
              </a:rPr>
              <a:t>O</a:t>
            </a:r>
          </a:p>
          <a:p>
            <a:pPr algn="just" eaLnBrk="1" hangingPunct="1"/>
            <a:r>
              <a:rPr lang="es-ES" sz="2400" b="1" dirty="0">
                <a:solidFill>
                  <a:srgbClr val="003399"/>
                </a:solidFill>
                <a:latin typeface="Courier New" panose="02070309020205020404" pitchFamily="49" charset="0"/>
              </a:rPr>
              <a:t>ALTER SESSION SET </a:t>
            </a:r>
            <a:r>
              <a:rPr lang="es-ES" sz="2400" b="1" dirty="0" smtClean="0">
                <a:solidFill>
                  <a:srgbClr val="003399"/>
                </a:solidFill>
                <a:latin typeface="Courier New" panose="02070309020205020404" pitchFamily="49" charset="0"/>
              </a:rPr>
              <a:t>SQL_TRACE </a:t>
            </a:r>
            <a:r>
              <a:rPr lang="es-ES" sz="2400" b="1" dirty="0">
                <a:solidFill>
                  <a:srgbClr val="003399"/>
                </a:solidFill>
                <a:latin typeface="Courier New" panose="02070309020205020404" pitchFamily="49" charset="0"/>
              </a:rPr>
              <a:t>TRUE;</a:t>
            </a:r>
          </a:p>
        </p:txBody>
      </p:sp>
      <p:sp>
        <p:nvSpPr>
          <p:cNvPr id="7173" name="Text Box 6"/>
          <p:cNvSpPr txBox="1">
            <a:spLocks noChangeArrowheads="1"/>
          </p:cNvSpPr>
          <p:nvPr/>
        </p:nvSpPr>
        <p:spPr bwMode="auto">
          <a:xfrm>
            <a:off x="684213" y="5013325"/>
            <a:ext cx="7580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sz="2400">
                <a:latin typeface="Times New Roman" panose="02020603050405020304" pitchFamily="18" charset="0"/>
              </a:rPr>
              <a:t>Para activarlo desde PL/SQL se puede usar:</a:t>
            </a:r>
          </a:p>
        </p:txBody>
      </p:sp>
      <p:sp>
        <p:nvSpPr>
          <p:cNvPr id="7174" name="Text Box 7"/>
          <p:cNvSpPr txBox="1">
            <a:spLocks noChangeArrowheads="1"/>
          </p:cNvSpPr>
          <p:nvPr/>
        </p:nvSpPr>
        <p:spPr bwMode="auto">
          <a:xfrm>
            <a:off x="971550" y="5661025"/>
            <a:ext cx="6208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sz="2400" b="1" dirty="0">
                <a:solidFill>
                  <a:srgbClr val="003399"/>
                </a:solidFill>
                <a:latin typeface="Courier New" panose="02070309020205020404" pitchFamily="49" charset="0"/>
              </a:rPr>
              <a:t>DBMS_SESSION.SET_SQL_TRACE(TRUE);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395536" y="6309320"/>
            <a:ext cx="82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* </a:t>
            </a:r>
            <a:r>
              <a:rPr lang="es-ES" dirty="0" smtClean="0"/>
              <a:t>Conectarse con</a:t>
            </a:r>
            <a:r>
              <a:rPr lang="es-CO" b="1" dirty="0" smtClean="0">
                <a:solidFill>
                  <a:srgbClr val="003399"/>
                </a:solidFill>
                <a:latin typeface="Courier New" panose="02070309020205020404" pitchFamily="49" charset="0"/>
              </a:rPr>
              <a:t> </a:t>
            </a:r>
            <a:r>
              <a:rPr lang="es-CO" b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conn</a:t>
            </a:r>
            <a:r>
              <a:rPr lang="es-CO" b="1" dirty="0">
                <a:solidFill>
                  <a:srgbClr val="003399"/>
                </a:solidFill>
                <a:latin typeface="Courier New" panose="02070309020205020404" pitchFamily="49" charset="0"/>
              </a:rPr>
              <a:t> </a:t>
            </a:r>
            <a:r>
              <a:rPr lang="es-CO" b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sys</a:t>
            </a:r>
            <a:r>
              <a:rPr lang="es-CO" b="1" dirty="0">
                <a:solidFill>
                  <a:srgbClr val="003399"/>
                </a:solidFill>
                <a:latin typeface="Courier New" panose="02070309020205020404" pitchFamily="49" charset="0"/>
              </a:rPr>
              <a:t> AS </a:t>
            </a:r>
            <a:r>
              <a:rPr lang="es-CO" b="1" dirty="0" err="1" smtClean="0">
                <a:solidFill>
                  <a:srgbClr val="003399"/>
                </a:solidFill>
                <a:latin typeface="Courier New" panose="02070309020205020404" pitchFamily="49" charset="0"/>
              </a:rPr>
              <a:t>sysdba</a:t>
            </a:r>
            <a:r>
              <a:rPr lang="es-CO" b="1" dirty="0" smtClean="0">
                <a:solidFill>
                  <a:srgbClr val="003399"/>
                </a:solidFill>
                <a:latin typeface="Courier New" panose="02070309020205020404" pitchFamily="49" charset="0"/>
              </a:rPr>
              <a:t> </a:t>
            </a:r>
            <a:r>
              <a:rPr lang="es-CO" dirty="0"/>
              <a:t>y conceder el permiso al </a:t>
            </a:r>
            <a:r>
              <a:rPr lang="es-CO" dirty="0" smtClean="0"/>
              <a:t>usuario…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49080"/>
          </a:xfrm>
        </p:spPr>
        <p:txBody>
          <a:bodyPr/>
          <a:lstStyle/>
          <a:p>
            <a:r>
              <a:rPr lang="es-ES" sz="2800" dirty="0" smtClean="0"/>
              <a:t>Nota: para la recolección de algunas estadísticas que se generan, se requiere que este parámetro (si es que ya no lo está) esté en </a:t>
            </a:r>
            <a:r>
              <a:rPr lang="es-ES" sz="2800" b="1" kern="1200" dirty="0" smtClean="0">
                <a:solidFill>
                  <a:srgbClr val="003399"/>
                </a:solidFill>
                <a:latin typeface="Courier New" panose="02070309020205020404" pitchFamily="49" charset="0"/>
              </a:rPr>
              <a:t>TRUE</a:t>
            </a:r>
            <a:r>
              <a:rPr lang="es-ES" sz="2800" dirty="0" smtClean="0"/>
              <a:t>:</a:t>
            </a:r>
          </a:p>
          <a:p>
            <a:pPr marL="0" indent="0">
              <a:buNone/>
            </a:pPr>
            <a:endParaRPr lang="es-ES" sz="2800" b="1" kern="1200" dirty="0" smtClean="0">
              <a:solidFill>
                <a:srgbClr val="003399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s-ES" sz="2400" b="1" kern="1200" dirty="0">
                <a:solidFill>
                  <a:srgbClr val="003399"/>
                </a:solidFill>
                <a:latin typeface="Courier New" panose="02070309020205020404" pitchFamily="49" charset="0"/>
              </a:rPr>
              <a:t>ALTER SESSION SET TIMED_STATISTICS=TRUE;</a:t>
            </a:r>
          </a:p>
          <a:p>
            <a:endParaRPr lang="es-ES" sz="2800" dirty="0" smtClean="0"/>
          </a:p>
          <a:p>
            <a:r>
              <a:rPr lang="es-ES" sz="2800" dirty="0" smtClean="0"/>
              <a:t>Esto </a:t>
            </a:r>
            <a:r>
              <a:rPr lang="es-ES" sz="2800" dirty="0"/>
              <a:t>se debe hacer </a:t>
            </a:r>
            <a:r>
              <a:rPr lang="es-ES" sz="2800" dirty="0">
                <a:solidFill>
                  <a:srgbClr val="C00000"/>
                </a:solidFill>
              </a:rPr>
              <a:t>antes</a:t>
            </a:r>
            <a:r>
              <a:rPr lang="es-ES" sz="2800" dirty="0"/>
              <a:t> </a:t>
            </a:r>
            <a:r>
              <a:rPr lang="es-ES" sz="2800" dirty="0" smtClean="0"/>
              <a:t>de </a:t>
            </a:r>
            <a:r>
              <a:rPr lang="es-ES" sz="2800" dirty="0"/>
              <a:t>habilitar el </a:t>
            </a:r>
            <a:r>
              <a:rPr lang="es-ES" sz="2800" dirty="0" smtClean="0"/>
              <a:t>SQL Trace. 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79512" y="6180889"/>
            <a:ext cx="8784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Para verlo: </a:t>
            </a:r>
            <a:r>
              <a:rPr lang="en-US" dirty="0"/>
              <a:t>SELECT value FROM </a:t>
            </a:r>
            <a:r>
              <a:rPr lang="en-US" dirty="0" err="1"/>
              <a:t>v$parameter</a:t>
            </a:r>
            <a:r>
              <a:rPr lang="en-US" dirty="0"/>
              <a:t> WHERE name = '</a:t>
            </a:r>
            <a:r>
              <a:rPr lang="en-US" dirty="0" err="1"/>
              <a:t>timed_statistics</a:t>
            </a:r>
            <a:r>
              <a:rPr lang="en-US" dirty="0"/>
              <a:t>'; </a:t>
            </a:r>
            <a:r>
              <a:rPr lang="en-US" dirty="0" err="1" smtClean="0"/>
              <a:t>pero</a:t>
            </a:r>
            <a:r>
              <a:rPr lang="en-US" dirty="0" smtClean="0"/>
              <a:t> </a:t>
            </a:r>
            <a:r>
              <a:rPr lang="en-US" dirty="0"/>
              <a:t>se </a:t>
            </a:r>
            <a:r>
              <a:rPr lang="en-US" dirty="0" err="1"/>
              <a:t>requiere</a:t>
            </a:r>
            <a:r>
              <a:rPr lang="en-US" dirty="0"/>
              <a:t> </a:t>
            </a:r>
            <a:r>
              <a:rPr lang="en-US" dirty="0" err="1"/>
              <a:t>permiso</a:t>
            </a:r>
            <a:r>
              <a:rPr lang="en-US" dirty="0"/>
              <a:t> para </a:t>
            </a:r>
            <a:r>
              <a:rPr lang="en-US" dirty="0" err="1"/>
              <a:t>consultar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vista</a:t>
            </a:r>
            <a:r>
              <a:rPr lang="en-US" dirty="0" smtClean="0"/>
              <a:t>…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32957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3"/>
          <p:cNvSpPr txBox="1">
            <a:spLocks noChangeArrowheads="1"/>
          </p:cNvSpPr>
          <p:nvPr/>
        </p:nvSpPr>
        <p:spPr bwMode="auto">
          <a:xfrm>
            <a:off x="827088" y="1138238"/>
            <a:ext cx="54927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>
                <a:solidFill>
                  <a:srgbClr val="003399"/>
                </a:solidFill>
                <a:latin typeface="Times New Roman" panose="02020603050405020304" pitchFamily="18" charset="0"/>
              </a:rPr>
              <a:t>2. Localizar el archivo de rastreo de interés</a:t>
            </a:r>
          </a:p>
        </p:txBody>
      </p:sp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827088" y="19891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es-ES_tradnl" sz="2400">
              <a:latin typeface="Times New Roman" panose="02020603050405020304" pitchFamily="18" charset="0"/>
            </a:endParaRPr>
          </a:p>
        </p:txBody>
      </p:sp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827088" y="1989138"/>
            <a:ext cx="7848600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sz="2000" dirty="0">
                <a:latin typeface="Times New Roman" panose="02020603050405020304" pitchFamily="18" charset="0"/>
              </a:rPr>
              <a:t>El siguiente paso es buscar el archivo generado por el SQL </a:t>
            </a:r>
            <a:r>
              <a:rPr lang="es-ES" sz="2000" dirty="0" smtClean="0">
                <a:latin typeface="Times New Roman" panose="02020603050405020304" pitchFamily="18" charset="0"/>
              </a:rPr>
              <a:t>Trace.</a:t>
            </a:r>
            <a:endParaRPr lang="es-ES" sz="2000" dirty="0">
              <a:latin typeface="Times New Roman" panose="02020603050405020304" pitchFamily="18" charset="0"/>
            </a:endParaRPr>
          </a:p>
          <a:p>
            <a:pPr algn="just" eaLnBrk="1" hangingPunct="1"/>
            <a:endParaRPr lang="es-ES" sz="2000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es-ES" sz="2000" dirty="0">
                <a:latin typeface="Times New Roman" panose="02020603050405020304" pitchFamily="18" charset="0"/>
              </a:rPr>
              <a:t>Estos archivos de rastreo (.</a:t>
            </a:r>
            <a:r>
              <a:rPr lang="es-ES" sz="2000" dirty="0" err="1">
                <a:latin typeface="Times New Roman" panose="02020603050405020304" pitchFamily="18" charset="0"/>
              </a:rPr>
              <a:t>trc</a:t>
            </a:r>
            <a:r>
              <a:rPr lang="es-ES" sz="2000" dirty="0">
                <a:latin typeface="Times New Roman" panose="02020603050405020304" pitchFamily="18" charset="0"/>
              </a:rPr>
              <a:t>) se guardan </a:t>
            </a:r>
            <a:r>
              <a:rPr lang="es-ES" sz="2000" dirty="0" smtClean="0">
                <a:latin typeface="Times New Roman" panose="02020603050405020304" pitchFamily="18" charset="0"/>
              </a:rPr>
              <a:t>usualmente </a:t>
            </a:r>
            <a:r>
              <a:rPr lang="es-ES" sz="2000" dirty="0">
                <a:latin typeface="Times New Roman" panose="02020603050405020304" pitchFamily="18" charset="0"/>
              </a:rPr>
              <a:t>en la </a:t>
            </a:r>
            <a:r>
              <a:rPr lang="es-E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ruta</a:t>
            </a:r>
            <a:r>
              <a:rPr lang="es-E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s-ES" sz="2000" dirty="0">
                <a:latin typeface="Times New Roman" panose="02020603050405020304" pitchFamily="18" charset="0"/>
              </a:rPr>
              <a:t>que tiene el parámetro de configuración:</a:t>
            </a:r>
          </a:p>
        </p:txBody>
      </p:sp>
      <p:sp>
        <p:nvSpPr>
          <p:cNvPr id="8197" name="Text Box 6"/>
          <p:cNvSpPr txBox="1">
            <a:spLocks noChangeArrowheads="1"/>
          </p:cNvSpPr>
          <p:nvPr/>
        </p:nvSpPr>
        <p:spPr bwMode="auto">
          <a:xfrm>
            <a:off x="3132138" y="3716338"/>
            <a:ext cx="2317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sz="2000" b="1">
                <a:solidFill>
                  <a:srgbClr val="003399"/>
                </a:solidFill>
                <a:latin typeface="Courier New" panose="02070309020205020404" pitchFamily="49" charset="0"/>
              </a:rPr>
              <a:t>user_dump_dest</a:t>
            </a:r>
          </a:p>
        </p:txBody>
      </p:sp>
      <p:sp>
        <p:nvSpPr>
          <p:cNvPr id="8198" name="Text Box 7"/>
          <p:cNvSpPr txBox="1">
            <a:spLocks noChangeArrowheads="1"/>
          </p:cNvSpPr>
          <p:nvPr/>
        </p:nvSpPr>
        <p:spPr bwMode="auto">
          <a:xfrm>
            <a:off x="1187450" y="4292600"/>
            <a:ext cx="74882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sz="2000" dirty="0">
                <a:latin typeface="Times New Roman" panose="02020603050405020304" pitchFamily="18" charset="0"/>
              </a:rPr>
              <a:t>El nombre de los archivos generados tiene la siguiente </a:t>
            </a:r>
            <a:r>
              <a:rPr lang="es-ES" sz="2000" dirty="0" smtClean="0">
                <a:latin typeface="Times New Roman" panose="02020603050405020304" pitchFamily="18" charset="0"/>
              </a:rPr>
              <a:t>nomenclatura:</a:t>
            </a:r>
            <a:endParaRPr lang="es-ES" sz="2000" dirty="0">
              <a:latin typeface="Times New Roman" panose="02020603050405020304" pitchFamily="18" charset="0"/>
            </a:endParaRPr>
          </a:p>
        </p:txBody>
      </p:sp>
      <p:sp>
        <p:nvSpPr>
          <p:cNvPr id="8199" name="Text Box 8"/>
          <p:cNvSpPr txBox="1">
            <a:spLocks noChangeArrowheads="1"/>
          </p:cNvSpPr>
          <p:nvPr/>
        </p:nvSpPr>
        <p:spPr bwMode="auto">
          <a:xfrm>
            <a:off x="3851275" y="4797425"/>
            <a:ext cx="1641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000">
                <a:solidFill>
                  <a:srgbClr val="003399"/>
                </a:solidFill>
                <a:latin typeface="Times New Roman" panose="02020603050405020304" pitchFamily="18" charset="0"/>
              </a:rPr>
              <a:t>header_pid.trc</a:t>
            </a:r>
          </a:p>
        </p:txBody>
      </p:sp>
      <p:sp>
        <p:nvSpPr>
          <p:cNvPr id="8200" name="Text Box 9"/>
          <p:cNvSpPr txBox="1">
            <a:spLocks noChangeArrowheads="1"/>
          </p:cNvSpPr>
          <p:nvPr/>
        </p:nvSpPr>
        <p:spPr bwMode="auto">
          <a:xfrm>
            <a:off x="900113" y="5373688"/>
            <a:ext cx="763270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000">
                <a:latin typeface="Times New Roman" panose="02020603050405020304" pitchFamily="18" charset="0"/>
              </a:rPr>
              <a:t>Donde </a:t>
            </a:r>
            <a:r>
              <a:rPr lang="es-ES" sz="2000">
                <a:solidFill>
                  <a:srgbClr val="003399"/>
                </a:solidFill>
                <a:latin typeface="Times New Roman" panose="02020603050405020304" pitchFamily="18" charset="0"/>
              </a:rPr>
              <a:t>header</a:t>
            </a:r>
            <a:r>
              <a:rPr lang="es-ES" sz="200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s-ES" sz="2000">
                <a:latin typeface="Times New Roman" panose="02020603050405020304" pitchFamily="18" charset="0"/>
              </a:rPr>
              <a:t>es usualmente “ORA”, “XE_ORA”, “Oracle_SID_ORA”, o “SID_ORA” y el </a:t>
            </a:r>
            <a:r>
              <a:rPr lang="es-ES" sz="2000">
                <a:solidFill>
                  <a:srgbClr val="003399"/>
                </a:solidFill>
                <a:latin typeface="Times New Roman" panose="02020603050405020304" pitchFamily="18" charset="0"/>
              </a:rPr>
              <a:t>pid</a:t>
            </a:r>
            <a:r>
              <a:rPr lang="es-ES" sz="2000">
                <a:latin typeface="Times New Roman" panose="02020603050405020304" pitchFamily="18" charset="0"/>
              </a:rPr>
              <a:t> es el identificador que Oracle asigna al proceso.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"/>
          <p:cNvSpPr txBox="1">
            <a:spLocks noChangeArrowheads="1"/>
          </p:cNvSpPr>
          <p:nvPr/>
        </p:nvSpPr>
        <p:spPr bwMode="auto">
          <a:xfrm>
            <a:off x="792163" y="1468636"/>
            <a:ext cx="78486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 dirty="0">
                <a:latin typeface="Times New Roman" panose="02020603050405020304" pitchFamily="18" charset="0"/>
              </a:rPr>
              <a:t>Para hallar la ruta (</a:t>
            </a:r>
            <a:r>
              <a:rPr lang="es-ES" sz="2800" dirty="0" err="1" smtClean="0">
                <a:solidFill>
                  <a:srgbClr val="C00000"/>
                </a:solidFill>
                <a:latin typeface="Times New Roman" panose="02020603050405020304" pitchFamily="18" charset="0"/>
              </a:rPr>
              <a:t>ruta_d</a:t>
            </a:r>
            <a:r>
              <a:rPr lang="es-ES" sz="2800" dirty="0" smtClean="0">
                <a:latin typeface="Times New Roman" panose="02020603050405020304" pitchFamily="18" charset="0"/>
              </a:rPr>
              <a:t>) </a:t>
            </a:r>
            <a:r>
              <a:rPr lang="es-ES" sz="2800" dirty="0">
                <a:latin typeface="Times New Roman" panose="02020603050405020304" pitchFamily="18" charset="0"/>
              </a:rPr>
              <a:t>donde se encuentran los archivos de rastreo, se puede ejecutar la siguiente consulta:</a:t>
            </a:r>
          </a:p>
        </p:txBody>
      </p:sp>
      <p:sp>
        <p:nvSpPr>
          <p:cNvPr id="9219" name="Text Box 5"/>
          <p:cNvSpPr txBox="1">
            <a:spLocks noChangeArrowheads="1"/>
          </p:cNvSpPr>
          <p:nvPr/>
        </p:nvSpPr>
        <p:spPr bwMode="auto">
          <a:xfrm>
            <a:off x="1403350" y="3279949"/>
            <a:ext cx="65659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sz="2800" b="1" dirty="0">
                <a:solidFill>
                  <a:srgbClr val="003399"/>
                </a:solidFill>
                <a:latin typeface="Courier New" panose="02070309020205020404" pitchFamily="49" charset="0"/>
              </a:rPr>
              <a:t>SELECT </a:t>
            </a:r>
            <a:r>
              <a:rPr lang="es-ES" sz="2800" b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value</a:t>
            </a:r>
            <a:r>
              <a:rPr lang="es-ES" sz="2800" b="1" dirty="0">
                <a:solidFill>
                  <a:srgbClr val="003399"/>
                </a:solidFill>
                <a:latin typeface="Courier New" panose="02070309020205020404" pitchFamily="49" charset="0"/>
              </a:rPr>
              <a:t> AS </a:t>
            </a:r>
            <a:r>
              <a:rPr lang="es-ES" sz="2800" dirty="0" err="1" smtClean="0">
                <a:solidFill>
                  <a:srgbClr val="C00000"/>
                </a:solidFill>
                <a:latin typeface="Times New Roman" panose="02020603050405020304" pitchFamily="18" charset="0"/>
              </a:rPr>
              <a:t>ruta_d</a:t>
            </a:r>
            <a:endParaRPr lang="es-ES" sz="28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es-ES" sz="2800" b="1" dirty="0">
                <a:solidFill>
                  <a:srgbClr val="003399"/>
                </a:solidFill>
                <a:latin typeface="Courier New" panose="02070309020205020404" pitchFamily="49" charset="0"/>
              </a:rPr>
              <a:t>FROM </a:t>
            </a:r>
            <a:r>
              <a:rPr lang="es-ES" sz="2800" b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v$parameter</a:t>
            </a:r>
            <a:r>
              <a:rPr lang="es-ES" sz="2800" b="1" dirty="0">
                <a:solidFill>
                  <a:srgbClr val="003399"/>
                </a:solidFill>
                <a:latin typeface="Courier New" panose="02070309020205020404" pitchFamily="49" charset="0"/>
              </a:rPr>
              <a:t> </a:t>
            </a:r>
          </a:p>
          <a:p>
            <a:pPr algn="just" eaLnBrk="1" hangingPunct="1"/>
            <a:r>
              <a:rPr lang="es-ES" sz="2800" b="1" dirty="0">
                <a:solidFill>
                  <a:srgbClr val="003399"/>
                </a:solidFill>
                <a:latin typeface="Courier New" panose="02070309020205020404" pitchFamily="49" charset="0"/>
              </a:rPr>
              <a:t>WHERE </a:t>
            </a:r>
            <a:r>
              <a:rPr lang="es-ES" sz="2800" b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name</a:t>
            </a:r>
            <a:r>
              <a:rPr lang="es-ES" sz="2800" b="1" dirty="0">
                <a:solidFill>
                  <a:srgbClr val="003399"/>
                </a:solidFill>
                <a:latin typeface="Courier New" panose="02070309020205020404" pitchFamily="49" charset="0"/>
              </a:rPr>
              <a:t> = '</a:t>
            </a:r>
            <a:r>
              <a:rPr lang="es-ES" sz="2800" b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user_dump_dest</a:t>
            </a:r>
            <a:r>
              <a:rPr lang="es-ES" sz="2800" b="1" dirty="0">
                <a:solidFill>
                  <a:srgbClr val="003399"/>
                </a:solidFill>
                <a:latin typeface="Courier New" panose="02070309020205020404" pitchFamily="49" charset="0"/>
              </a:rPr>
              <a:t>';</a:t>
            </a:r>
          </a:p>
        </p:txBody>
      </p:sp>
      <p:sp>
        <p:nvSpPr>
          <p:cNvPr id="9220" name="1 CuadroTexto"/>
          <p:cNvSpPr txBox="1">
            <a:spLocks noChangeArrowheads="1"/>
          </p:cNvSpPr>
          <p:nvPr/>
        </p:nvSpPr>
        <p:spPr bwMode="auto">
          <a:xfrm>
            <a:off x="792163" y="5681663"/>
            <a:ext cx="73501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CO" dirty="0"/>
              <a:t>Nota: Se requiere permiso para consultar esta vista o acudir al DBA:</a:t>
            </a:r>
          </a:p>
          <a:p>
            <a:pPr eaLnBrk="1" hangingPunct="1"/>
            <a:r>
              <a:rPr lang="es-CO" b="1" dirty="0" err="1" smtClean="0">
                <a:solidFill>
                  <a:srgbClr val="003399"/>
                </a:solidFill>
                <a:latin typeface="Courier New" panose="02070309020205020404" pitchFamily="49" charset="0"/>
              </a:rPr>
              <a:t>conn</a:t>
            </a:r>
            <a:r>
              <a:rPr lang="es-CO" b="1" dirty="0" smtClean="0">
                <a:solidFill>
                  <a:srgbClr val="003399"/>
                </a:solidFill>
                <a:latin typeface="Courier New" panose="02070309020205020404" pitchFamily="49" charset="0"/>
              </a:rPr>
              <a:t> </a:t>
            </a:r>
            <a:r>
              <a:rPr lang="es-CO" b="1" dirty="0" err="1" smtClean="0">
                <a:solidFill>
                  <a:srgbClr val="003399"/>
                </a:solidFill>
                <a:latin typeface="Courier New" panose="02070309020205020404" pitchFamily="49" charset="0"/>
              </a:rPr>
              <a:t>sys</a:t>
            </a:r>
            <a:r>
              <a:rPr lang="es-CO" b="1" dirty="0" smtClean="0">
                <a:solidFill>
                  <a:srgbClr val="003399"/>
                </a:solidFill>
                <a:latin typeface="Courier New" panose="02070309020205020404" pitchFamily="49" charset="0"/>
              </a:rPr>
              <a:t> </a:t>
            </a:r>
            <a:r>
              <a:rPr lang="es-CO" b="1" dirty="0">
                <a:solidFill>
                  <a:srgbClr val="003399"/>
                </a:solidFill>
                <a:latin typeface="Courier New" panose="02070309020205020404" pitchFamily="49" charset="0"/>
              </a:rPr>
              <a:t>AS </a:t>
            </a:r>
            <a:r>
              <a:rPr lang="es-CO" b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sysdba</a:t>
            </a:r>
            <a:r>
              <a:rPr lang="es-CO" dirty="0"/>
              <a:t>, ingresar </a:t>
            </a:r>
            <a:r>
              <a:rPr lang="es-CO" dirty="0" smtClean="0"/>
              <a:t>la contraseña y </a:t>
            </a:r>
            <a:r>
              <a:rPr lang="es-CO" dirty="0"/>
              <a:t>hacer la consulta.</a:t>
            </a:r>
            <a:endParaRPr lang="es-ES_trad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4"/>
          <p:cNvSpPr txBox="1">
            <a:spLocks noChangeArrowheads="1"/>
          </p:cNvSpPr>
          <p:nvPr/>
        </p:nvSpPr>
        <p:spPr bwMode="auto">
          <a:xfrm>
            <a:off x="827088" y="18446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s-ES_tradnl" sz="2400">
              <a:latin typeface="Times New Roman" panose="02020603050405020304" pitchFamily="18" charset="0"/>
            </a:endParaRPr>
          </a:p>
        </p:txBody>
      </p:sp>
      <p:sp>
        <p:nvSpPr>
          <p:cNvPr id="10243" name="Text Box 5"/>
          <p:cNvSpPr txBox="1">
            <a:spLocks noChangeArrowheads="1"/>
          </p:cNvSpPr>
          <p:nvPr/>
        </p:nvSpPr>
        <p:spPr bwMode="auto">
          <a:xfrm>
            <a:off x="792805" y="1158461"/>
            <a:ext cx="75596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000" dirty="0">
                <a:latin typeface="Times New Roman" panose="02020603050405020304" pitchFamily="18" charset="0"/>
              </a:rPr>
              <a:t>Para encontrar un archivo de rastreo específico, es necesario conocer cual fue el </a:t>
            </a:r>
            <a:r>
              <a:rPr lang="es-ES" sz="2000" dirty="0" err="1" smtClean="0">
                <a:solidFill>
                  <a:srgbClr val="003399"/>
                </a:solidFill>
                <a:latin typeface="Times New Roman" panose="02020603050405020304" pitchFamily="18" charset="0"/>
              </a:rPr>
              <a:t>pid</a:t>
            </a:r>
            <a:r>
              <a:rPr lang="es-ES" sz="2000" dirty="0" smtClean="0">
                <a:latin typeface="Times New Roman" panose="02020603050405020304" pitchFamily="18" charset="0"/>
              </a:rPr>
              <a:t> (</a:t>
            </a:r>
            <a:r>
              <a:rPr lang="es-ES" sz="2000" i="1" dirty="0" err="1">
                <a:latin typeface="Times New Roman" panose="02020603050405020304" pitchFamily="18" charset="0"/>
              </a:rPr>
              <a:t>process</a:t>
            </a:r>
            <a:r>
              <a:rPr lang="es-ES" sz="2000" i="1" dirty="0">
                <a:latin typeface="Times New Roman" panose="02020603050405020304" pitchFamily="18" charset="0"/>
              </a:rPr>
              <a:t> id</a:t>
            </a:r>
            <a:r>
              <a:rPr lang="es-ES" sz="2000" dirty="0" smtClean="0">
                <a:latin typeface="Times New Roman" panose="02020603050405020304" pitchFamily="18" charset="0"/>
              </a:rPr>
              <a:t>) que </a:t>
            </a:r>
            <a:r>
              <a:rPr lang="es-ES" sz="2000" dirty="0">
                <a:latin typeface="Times New Roman" panose="02020603050405020304" pitchFamily="18" charset="0"/>
              </a:rPr>
              <a:t>Oracle asignó. Esto se puede averiguar mediante la siguiente </a:t>
            </a:r>
            <a:r>
              <a:rPr lang="es-ES" sz="2000" dirty="0" smtClean="0">
                <a:latin typeface="Times New Roman" panose="02020603050405020304" pitchFamily="18" charset="0"/>
              </a:rPr>
              <a:t>consulta</a:t>
            </a:r>
            <a:r>
              <a:rPr lang="es-ES" sz="2000" dirty="0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0244" name="Text Box 6"/>
          <p:cNvSpPr txBox="1">
            <a:spLocks noChangeArrowheads="1"/>
          </p:cNvSpPr>
          <p:nvPr/>
        </p:nvSpPr>
        <p:spPr bwMode="auto">
          <a:xfrm>
            <a:off x="762000" y="2971800"/>
            <a:ext cx="7878763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000" b="1" dirty="0">
                <a:solidFill>
                  <a:srgbClr val="003399"/>
                </a:solidFill>
                <a:latin typeface="Courier New" panose="02070309020205020404" pitchFamily="49" charset="0"/>
              </a:rPr>
              <a:t>SELECT </a:t>
            </a:r>
            <a:r>
              <a:rPr lang="es-ES" sz="2000" b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spid</a:t>
            </a:r>
            <a:r>
              <a:rPr lang="es-ES" sz="2000" b="1" dirty="0">
                <a:solidFill>
                  <a:srgbClr val="003399"/>
                </a:solidFill>
                <a:latin typeface="Courier New" panose="02070309020205020404" pitchFamily="49" charset="0"/>
              </a:rPr>
              <a:t> FROM sys.v_$</a:t>
            </a:r>
            <a:r>
              <a:rPr lang="es-ES" sz="2000" b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process</a:t>
            </a:r>
            <a:endParaRPr lang="es-ES" sz="2000" b="1" dirty="0">
              <a:solidFill>
                <a:srgbClr val="003399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s-ES" sz="2000" b="1" dirty="0">
                <a:solidFill>
                  <a:srgbClr val="003399"/>
                </a:solidFill>
                <a:latin typeface="Courier New" panose="02070309020205020404" pitchFamily="49" charset="0"/>
              </a:rPr>
              <a:t>WHERE </a:t>
            </a:r>
            <a:r>
              <a:rPr lang="es-ES" sz="2000" b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addr</a:t>
            </a:r>
            <a:r>
              <a:rPr lang="es-ES" sz="2000" b="1" dirty="0">
                <a:solidFill>
                  <a:srgbClr val="003399"/>
                </a:solidFill>
                <a:latin typeface="Courier New" panose="02070309020205020404" pitchFamily="49" charset="0"/>
              </a:rPr>
              <a:t> = </a:t>
            </a:r>
            <a:r>
              <a:rPr lang="es-ES" sz="2000" b="1" dirty="0" smtClean="0">
                <a:solidFill>
                  <a:srgbClr val="003399"/>
                </a:solidFill>
                <a:latin typeface="Courier New" panose="02070309020205020404" pitchFamily="49" charset="0"/>
              </a:rPr>
              <a:t>(SELECT </a:t>
            </a:r>
            <a:r>
              <a:rPr lang="es-ES" sz="2000" b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paddr</a:t>
            </a:r>
            <a:r>
              <a:rPr lang="es-ES" sz="2000" b="1" dirty="0">
                <a:solidFill>
                  <a:srgbClr val="003399"/>
                </a:solidFill>
                <a:latin typeface="Courier New" panose="02070309020205020404" pitchFamily="49" charset="0"/>
              </a:rPr>
              <a:t> FROM sys.v_$</a:t>
            </a:r>
            <a:r>
              <a:rPr lang="es-ES" sz="2000" b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session</a:t>
            </a:r>
            <a:endParaRPr lang="es-ES" sz="2000" b="1" dirty="0">
              <a:solidFill>
                <a:srgbClr val="003399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s-ES" sz="2000" b="1" dirty="0">
                <a:solidFill>
                  <a:srgbClr val="003399"/>
                </a:solidFill>
                <a:latin typeface="Courier New" panose="02070309020205020404" pitchFamily="49" charset="0"/>
              </a:rPr>
              <a:t>              </a:t>
            </a:r>
            <a:r>
              <a:rPr lang="es-ES" sz="2000" b="1" dirty="0" smtClean="0">
                <a:solidFill>
                  <a:srgbClr val="003399"/>
                </a:solidFill>
                <a:latin typeface="Courier New" panose="02070309020205020404" pitchFamily="49" charset="0"/>
              </a:rPr>
              <a:t>WHERE </a:t>
            </a:r>
            <a:r>
              <a:rPr lang="es-ES" sz="2000" b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audsid</a:t>
            </a:r>
            <a:r>
              <a:rPr lang="es-ES" sz="2000" b="1" dirty="0">
                <a:solidFill>
                  <a:srgbClr val="003399"/>
                </a:solidFill>
                <a:latin typeface="Courier New" panose="02070309020205020404" pitchFamily="49" charset="0"/>
              </a:rPr>
              <a:t> = USERENV('</a:t>
            </a:r>
            <a:r>
              <a:rPr lang="es-ES" sz="2000" b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sessionid</a:t>
            </a:r>
            <a:r>
              <a:rPr lang="es-ES" sz="2000" b="1" dirty="0">
                <a:solidFill>
                  <a:srgbClr val="003399"/>
                </a:solidFill>
                <a:latin typeface="Courier New" panose="02070309020205020404" pitchFamily="49" charset="0"/>
              </a:rPr>
              <a:t>')</a:t>
            </a:r>
          </a:p>
          <a:p>
            <a:pPr eaLnBrk="1" hangingPunct="1"/>
            <a:r>
              <a:rPr lang="es-ES" sz="2000" b="1" dirty="0">
                <a:solidFill>
                  <a:srgbClr val="003399"/>
                </a:solidFill>
                <a:latin typeface="Courier New" panose="02070309020205020404" pitchFamily="49" charset="0"/>
              </a:rPr>
              <a:t>             );</a:t>
            </a:r>
          </a:p>
        </p:txBody>
      </p:sp>
      <p:sp>
        <p:nvSpPr>
          <p:cNvPr id="10245" name="Text Box 7"/>
          <p:cNvSpPr txBox="1">
            <a:spLocks noChangeArrowheads="1"/>
          </p:cNvSpPr>
          <p:nvPr/>
        </p:nvSpPr>
        <p:spPr bwMode="auto">
          <a:xfrm>
            <a:off x="990600" y="4267200"/>
            <a:ext cx="72739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000">
                <a:latin typeface="Times New Roman" panose="02020603050405020304" pitchFamily="18" charset="0"/>
              </a:rPr>
              <a:t>Si se quiere personalizar el directorio donde se guardarán los archivos de rastreo, se puede hacer lo siguiente:</a:t>
            </a:r>
          </a:p>
        </p:txBody>
      </p:sp>
      <p:sp>
        <p:nvSpPr>
          <p:cNvPr id="10246" name="Text Box 8"/>
          <p:cNvSpPr txBox="1">
            <a:spLocks noChangeArrowheads="1"/>
          </p:cNvSpPr>
          <p:nvPr/>
        </p:nvSpPr>
        <p:spPr bwMode="auto">
          <a:xfrm>
            <a:off x="381000" y="5105400"/>
            <a:ext cx="8566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000" b="1">
                <a:solidFill>
                  <a:srgbClr val="003399"/>
                </a:solidFill>
                <a:latin typeface="Courier New" panose="02070309020205020404" pitchFamily="49" charset="0"/>
              </a:rPr>
              <a:t>ALTER SYSTEM SET user_dump_dest = 'ruta_de_directorio';</a:t>
            </a:r>
          </a:p>
        </p:txBody>
      </p:sp>
      <p:sp>
        <p:nvSpPr>
          <p:cNvPr id="10247" name="Text Box 9"/>
          <p:cNvSpPr txBox="1">
            <a:spLocks noChangeArrowheads="1"/>
          </p:cNvSpPr>
          <p:nvPr/>
        </p:nvSpPr>
        <p:spPr bwMode="auto">
          <a:xfrm>
            <a:off x="611188" y="5589588"/>
            <a:ext cx="7777162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b="1" dirty="0">
                <a:latin typeface="Times New Roman" panose="02020603050405020304" pitchFamily="18" charset="0"/>
              </a:rPr>
              <a:t>Nota</a:t>
            </a:r>
            <a:r>
              <a:rPr lang="es-ES" sz="2400" dirty="0">
                <a:latin typeface="Times New Roman" panose="02020603050405020304" pitchFamily="18" charset="0"/>
              </a:rPr>
              <a:t>: </a:t>
            </a:r>
            <a:r>
              <a:rPr lang="es-ES" sz="2400" dirty="0" smtClean="0">
                <a:latin typeface="Times New Roman" panose="02020603050405020304" pitchFamily="18" charset="0"/>
              </a:rPr>
              <a:t>El </a:t>
            </a:r>
            <a:r>
              <a:rPr lang="es-ES" sz="2400" dirty="0">
                <a:latin typeface="Times New Roman" panose="02020603050405020304" pitchFamily="18" charset="0"/>
              </a:rPr>
              <a:t>cambio se debe hacer </a:t>
            </a:r>
            <a:r>
              <a:rPr lang="es-ES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antes</a:t>
            </a:r>
            <a:r>
              <a:rPr lang="es-ES" sz="2400" dirty="0">
                <a:latin typeface="Times New Roman" panose="02020603050405020304" pitchFamily="18" charset="0"/>
              </a:rPr>
              <a:t> de habilitar el rastreo de sentencias.</a:t>
            </a:r>
          </a:p>
        </p:txBody>
      </p:sp>
      <p:sp>
        <p:nvSpPr>
          <p:cNvPr id="10248" name="1 CuadroTexto"/>
          <p:cNvSpPr txBox="1">
            <a:spLocks noChangeArrowheads="1"/>
          </p:cNvSpPr>
          <p:nvPr/>
        </p:nvSpPr>
        <p:spPr bwMode="auto">
          <a:xfrm>
            <a:off x="3857367" y="2188944"/>
            <a:ext cx="5286633" cy="646331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CO" dirty="0"/>
              <a:t>Requiere </a:t>
            </a:r>
            <a:r>
              <a:rPr lang="es-CO" dirty="0" smtClean="0"/>
              <a:t>permisos: </a:t>
            </a:r>
            <a:r>
              <a:rPr lang="es-CO" b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conn</a:t>
            </a:r>
            <a:r>
              <a:rPr lang="es-CO" b="1" dirty="0">
                <a:solidFill>
                  <a:srgbClr val="003399"/>
                </a:solidFill>
                <a:latin typeface="Courier New" panose="02070309020205020404" pitchFamily="49" charset="0"/>
              </a:rPr>
              <a:t> </a:t>
            </a:r>
            <a:r>
              <a:rPr lang="es-CO" b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sys</a:t>
            </a:r>
            <a:r>
              <a:rPr lang="es-CO" b="1" dirty="0">
                <a:solidFill>
                  <a:srgbClr val="003399"/>
                </a:solidFill>
                <a:latin typeface="Courier New" panose="02070309020205020404" pitchFamily="49" charset="0"/>
              </a:rPr>
              <a:t> AS </a:t>
            </a:r>
            <a:r>
              <a:rPr lang="es-CO" b="1" dirty="0" err="1" smtClean="0">
                <a:solidFill>
                  <a:srgbClr val="003399"/>
                </a:solidFill>
                <a:latin typeface="Courier New" panose="02070309020205020404" pitchFamily="49" charset="0"/>
              </a:rPr>
              <a:t>sysdba</a:t>
            </a:r>
            <a:r>
              <a:rPr lang="es-CO" b="1" dirty="0" smtClean="0">
                <a:solidFill>
                  <a:srgbClr val="003399"/>
                </a:solidFill>
                <a:latin typeface="Courier New" panose="02070309020205020404" pitchFamily="49" charset="0"/>
              </a:rPr>
              <a:t> </a:t>
            </a:r>
            <a:r>
              <a:rPr lang="es-CO" dirty="0"/>
              <a:t>y dar </a:t>
            </a:r>
            <a:r>
              <a:rPr lang="es-CO" b="1" dirty="0" smtClean="0">
                <a:solidFill>
                  <a:srgbClr val="003399"/>
                </a:solidFill>
                <a:latin typeface="Courier New" panose="02070309020205020404" pitchFamily="49" charset="0"/>
              </a:rPr>
              <a:t>GRANT SELECT </a:t>
            </a:r>
            <a:r>
              <a:rPr lang="es-CO" dirty="0"/>
              <a:t>al usuario sobre estas vistas</a:t>
            </a:r>
            <a:endParaRPr lang="es-ES_tradnl" dirty="0"/>
          </a:p>
        </p:txBody>
      </p:sp>
      <p:cxnSp>
        <p:nvCxnSpPr>
          <p:cNvPr id="4" name="3 Conector recto de flecha"/>
          <p:cNvCxnSpPr/>
          <p:nvPr/>
        </p:nvCxnSpPr>
        <p:spPr>
          <a:xfrm flipV="1">
            <a:off x="6329363" y="3165475"/>
            <a:ext cx="484187" cy="1809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 de flecha"/>
          <p:cNvCxnSpPr/>
          <p:nvPr/>
        </p:nvCxnSpPr>
        <p:spPr>
          <a:xfrm flipV="1">
            <a:off x="5678488" y="2971800"/>
            <a:ext cx="477688" cy="1317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"/>
          <p:cNvSpPr txBox="1">
            <a:spLocks noChangeArrowheads="1"/>
          </p:cNvSpPr>
          <p:nvPr/>
        </p:nvSpPr>
        <p:spPr bwMode="auto">
          <a:xfrm>
            <a:off x="992188" y="1138238"/>
            <a:ext cx="26257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>
                <a:solidFill>
                  <a:srgbClr val="003399"/>
                </a:solidFill>
                <a:latin typeface="Times New Roman" panose="02020603050405020304" pitchFamily="18" charset="0"/>
              </a:rPr>
              <a:t>3. Usar el TKPROF</a:t>
            </a: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1042988" y="1844675"/>
            <a:ext cx="748982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latin typeface="Times New Roman" panose="02020603050405020304" pitchFamily="18" charset="0"/>
              </a:rPr>
              <a:t>Una vez se encuentra el archivo de rastreo requerido, se usa el TKPROF </a:t>
            </a:r>
            <a:r>
              <a:rPr lang="es-ES" sz="2400" dirty="0" smtClean="0">
                <a:latin typeface="Times New Roman" panose="02020603050405020304" pitchFamily="18" charset="0"/>
              </a:rPr>
              <a:t>para </a:t>
            </a:r>
            <a:r>
              <a:rPr lang="es-ES" sz="2400" dirty="0">
                <a:latin typeface="Times New Roman" panose="02020603050405020304" pitchFamily="18" charset="0"/>
              </a:rPr>
              <a:t>transformarlo en una forma interpretable. La sintaxis </a:t>
            </a:r>
            <a:r>
              <a:rPr lang="es-ES" sz="2400" dirty="0" smtClean="0">
                <a:solidFill>
                  <a:srgbClr val="00B050"/>
                </a:solidFill>
                <a:latin typeface="Times New Roman" panose="02020603050405020304" pitchFamily="18" charset="0"/>
              </a:rPr>
              <a:t>esencial </a:t>
            </a:r>
            <a:r>
              <a:rPr lang="es-ES" sz="2400" dirty="0" smtClean="0">
                <a:latin typeface="Times New Roman" panose="02020603050405020304" pitchFamily="18" charset="0"/>
              </a:rPr>
              <a:t>es</a:t>
            </a:r>
            <a:r>
              <a:rPr lang="es-ES" sz="2400" dirty="0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1187450" y="3284538"/>
            <a:ext cx="71659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A5002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b="1">
                <a:solidFill>
                  <a:srgbClr val="FF3300"/>
                </a:solidFill>
                <a:latin typeface="Courier New" panose="02070309020205020404" pitchFamily="49" charset="0"/>
              </a:rPr>
              <a:t>tkprof</a:t>
            </a:r>
            <a:r>
              <a:rPr lang="es-ES" b="1">
                <a:latin typeface="Courier New" panose="02070309020205020404" pitchFamily="49" charset="0"/>
              </a:rPr>
              <a:t> </a:t>
            </a:r>
            <a:r>
              <a:rPr lang="es-ES" b="1" i="1">
                <a:solidFill>
                  <a:srgbClr val="003399"/>
                </a:solidFill>
                <a:latin typeface="Courier New" panose="02070309020205020404" pitchFamily="49" charset="0"/>
              </a:rPr>
              <a:t>trace_file</a:t>
            </a:r>
            <a:r>
              <a:rPr lang="es-ES" b="1">
                <a:solidFill>
                  <a:srgbClr val="003399"/>
                </a:solidFill>
                <a:latin typeface="Courier New" panose="02070309020205020404" pitchFamily="49" charset="0"/>
              </a:rPr>
              <a:t> </a:t>
            </a:r>
            <a:r>
              <a:rPr lang="es-ES" b="1" i="1">
                <a:solidFill>
                  <a:srgbClr val="003399"/>
                </a:solidFill>
                <a:latin typeface="Courier New" panose="02070309020205020404" pitchFamily="49" charset="0"/>
              </a:rPr>
              <a:t>output_file</a:t>
            </a:r>
            <a:r>
              <a:rPr lang="es-ES" b="1"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s-ES" b="1">
                <a:latin typeface="Courier New" panose="02070309020205020404" pitchFamily="49" charset="0"/>
              </a:rPr>
              <a:t>[</a:t>
            </a:r>
            <a:r>
              <a:rPr lang="es-ES" b="1">
                <a:solidFill>
                  <a:srgbClr val="FF3300"/>
                </a:solidFill>
                <a:latin typeface="Courier New" panose="02070309020205020404" pitchFamily="49" charset="0"/>
              </a:rPr>
              <a:t>explain=</a:t>
            </a:r>
            <a:r>
              <a:rPr lang="es-ES" b="1" i="1">
                <a:solidFill>
                  <a:srgbClr val="003399"/>
                </a:solidFill>
                <a:latin typeface="Courier New" panose="02070309020205020404" pitchFamily="49" charset="0"/>
              </a:rPr>
              <a:t>username</a:t>
            </a:r>
            <a:r>
              <a:rPr lang="es-ES" b="1">
                <a:solidFill>
                  <a:srgbClr val="FF3300"/>
                </a:solidFill>
                <a:latin typeface="Courier New" panose="02070309020205020404" pitchFamily="49" charset="0"/>
              </a:rPr>
              <a:t>/</a:t>
            </a:r>
            <a:r>
              <a:rPr lang="es-ES" b="1" i="1">
                <a:solidFill>
                  <a:srgbClr val="003399"/>
                </a:solidFill>
                <a:latin typeface="Courier New" panose="02070309020205020404" pitchFamily="49" charset="0"/>
              </a:rPr>
              <a:t>password]</a:t>
            </a:r>
            <a:r>
              <a:rPr lang="es-ES" b="1">
                <a:latin typeface="Courier New" panose="02070309020205020404" pitchFamily="49" charset="0"/>
              </a:rPr>
              <a:t> </a:t>
            </a:r>
            <a:r>
              <a:rPr lang="es-ES" b="1">
                <a:solidFill>
                  <a:srgbClr val="FF3300"/>
                </a:solidFill>
                <a:latin typeface="Courier New" panose="02070309020205020404" pitchFamily="49" charset="0"/>
              </a:rPr>
              <a:t>sort(</a:t>
            </a:r>
            <a:r>
              <a:rPr lang="es-ES" b="1" i="1">
                <a:solidFill>
                  <a:srgbClr val="003399"/>
                </a:solidFill>
                <a:latin typeface="Courier New" panose="02070309020205020404" pitchFamily="49" charset="0"/>
              </a:rPr>
              <a:t>sort options</a:t>
            </a:r>
            <a:r>
              <a:rPr lang="es-ES" b="1" i="1">
                <a:solidFill>
                  <a:srgbClr val="FF3300"/>
                </a:solidFill>
                <a:latin typeface="Courier New" panose="02070309020205020404" pitchFamily="49" charset="0"/>
              </a:rPr>
              <a:t>)]</a:t>
            </a:r>
          </a:p>
        </p:txBody>
      </p:sp>
      <p:sp>
        <p:nvSpPr>
          <p:cNvPr id="11269" name="Text Box 6"/>
          <p:cNvSpPr txBox="1">
            <a:spLocks noChangeArrowheads="1"/>
          </p:cNvSpPr>
          <p:nvPr/>
        </p:nvSpPr>
        <p:spPr bwMode="auto">
          <a:xfrm>
            <a:off x="1042988" y="4221163"/>
            <a:ext cx="748982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latin typeface="Times New Roman" panose="02020603050405020304" pitchFamily="18" charset="0"/>
              </a:rPr>
              <a:t>TKPROF, se ejecuta por fuera del entorno de SQL*PLUS, es decir, en una línea de comandos del sistema operativo: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ES" sz="2400" dirty="0"/>
              <a:t>C:\</a:t>
            </a:r>
            <a:r>
              <a:rPr lang="es-ES" sz="2400" dirty="0" smtClean="0">
                <a:solidFill>
                  <a:srgbClr val="FF0000"/>
                </a:solidFill>
              </a:rPr>
              <a:t>ruta_d</a:t>
            </a:r>
            <a:r>
              <a:rPr lang="es-ES" sz="2400" dirty="0" smtClean="0"/>
              <a:t>&gt;</a:t>
            </a:r>
            <a:r>
              <a:rPr lang="es-ES" sz="2400" dirty="0" smtClean="0">
                <a:solidFill>
                  <a:srgbClr val="00B0F0"/>
                </a:solidFill>
              </a:rPr>
              <a:t> </a:t>
            </a:r>
            <a:r>
              <a:rPr lang="es-ES" sz="2400" dirty="0" err="1"/>
              <a:t>tkprof</a:t>
            </a:r>
            <a:r>
              <a:rPr lang="es-ES" sz="2400" dirty="0"/>
              <a:t> </a:t>
            </a:r>
            <a:r>
              <a:rPr lang="es-ES" sz="2400" dirty="0" err="1"/>
              <a:t>archivo.trc</a:t>
            </a:r>
            <a:r>
              <a:rPr lang="es-ES" sz="2400" dirty="0"/>
              <a:t> </a:t>
            </a:r>
            <a:r>
              <a:rPr lang="es-ES" sz="2400" dirty="0" smtClean="0"/>
              <a:t> C:\temp\archivosalida.txt</a:t>
            </a:r>
            <a:endParaRPr lang="es-ES" sz="2400" dirty="0"/>
          </a:p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latin typeface="Times New Roman" panose="02020603050405020304" pitchFamily="18" charset="0"/>
              </a:rPr>
              <a:t>A continuación se </a:t>
            </a:r>
            <a:r>
              <a:rPr lang="es-ES" sz="2400" dirty="0" smtClean="0">
                <a:latin typeface="Times New Roman" panose="02020603050405020304" pitchFamily="18" charset="0"/>
              </a:rPr>
              <a:t>explican los </a:t>
            </a:r>
            <a:r>
              <a:rPr lang="es-ES" sz="2400" dirty="0">
                <a:latin typeface="Times New Roman" panose="02020603050405020304" pitchFamily="18" charset="0"/>
              </a:rPr>
              <a:t>parámetros </a:t>
            </a:r>
            <a:r>
              <a:rPr lang="es-ES" sz="2400" dirty="0" smtClean="0">
                <a:latin typeface="Times New Roman" panose="02020603050405020304" pitchFamily="18" charset="0"/>
              </a:rPr>
              <a:t>del TKPROF.</a:t>
            </a:r>
            <a:endParaRPr lang="es-ES" sz="2400" dirty="0">
              <a:latin typeface="Times New Roman" panose="02020603050405020304" pitchFamily="18" charset="0"/>
            </a:endParaRPr>
          </a:p>
        </p:txBody>
      </p:sp>
      <p:sp>
        <p:nvSpPr>
          <p:cNvPr id="11270" name="1 CuadroTexto"/>
          <p:cNvSpPr txBox="1">
            <a:spLocks noChangeArrowheads="1"/>
          </p:cNvSpPr>
          <p:nvPr/>
        </p:nvSpPr>
        <p:spPr bwMode="auto">
          <a:xfrm>
            <a:off x="5580063" y="2782888"/>
            <a:ext cx="2773362" cy="646331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CO" dirty="0" smtClean="0"/>
              <a:t>Se debe tener </a:t>
            </a:r>
            <a:r>
              <a:rPr lang="es-CO" dirty="0"/>
              <a:t>permiso en el directorio de salida</a:t>
            </a:r>
            <a:endParaRPr lang="es-ES_tradnl" dirty="0"/>
          </a:p>
        </p:txBody>
      </p:sp>
      <p:cxnSp>
        <p:nvCxnSpPr>
          <p:cNvPr id="7" name="6 Conector recto de flecha"/>
          <p:cNvCxnSpPr/>
          <p:nvPr/>
        </p:nvCxnSpPr>
        <p:spPr>
          <a:xfrm flipV="1">
            <a:off x="4767263" y="3044825"/>
            <a:ext cx="812800" cy="2619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3"/>
          <p:cNvSpPr txBox="1">
            <a:spLocks noChangeArrowheads="1"/>
          </p:cNvSpPr>
          <p:nvPr/>
        </p:nvSpPr>
        <p:spPr bwMode="auto">
          <a:xfrm>
            <a:off x="2771800" y="908720"/>
            <a:ext cx="32728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dirty="0" smtClean="0">
                <a:solidFill>
                  <a:srgbClr val="A50021"/>
                </a:solidFill>
                <a:latin typeface="Times New Roman" panose="02020603050405020304" pitchFamily="18" charset="0"/>
              </a:rPr>
              <a:t>Parámetros del TKPROF</a:t>
            </a:r>
            <a:endParaRPr lang="es-ES" sz="2400" dirty="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1042988" y="2060575"/>
            <a:ext cx="741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s-ES_tradnl" sz="2400">
              <a:latin typeface="Times New Roman" panose="02020603050405020304" pitchFamily="18" charset="0"/>
            </a:endParaRPr>
          </a:p>
        </p:txBody>
      </p:sp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1042988" y="2133600"/>
            <a:ext cx="7705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endParaRPr lang="es-ES_tradnl" sz="2400">
              <a:latin typeface="Times New Roman" panose="02020603050405020304" pitchFamily="18" charset="0"/>
            </a:endParaRPr>
          </a:p>
        </p:txBody>
      </p:sp>
      <p:sp>
        <p:nvSpPr>
          <p:cNvPr id="12293" name="Text Box 6"/>
          <p:cNvSpPr txBox="1">
            <a:spLocks noChangeArrowheads="1"/>
          </p:cNvSpPr>
          <p:nvPr/>
        </p:nvSpPr>
        <p:spPr bwMode="auto">
          <a:xfrm>
            <a:off x="1042988" y="1916113"/>
            <a:ext cx="6913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endParaRPr lang="es-ES_tradnl" sz="2000" b="1">
              <a:latin typeface="Courier New" panose="02070309020205020404" pitchFamily="49" charset="0"/>
            </a:endParaRPr>
          </a:p>
        </p:txBody>
      </p:sp>
      <p:graphicFrame>
        <p:nvGraphicFramePr>
          <p:cNvPr id="86023" name="Group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58823353"/>
              </p:ext>
            </p:extLst>
          </p:nvPr>
        </p:nvGraphicFramePr>
        <p:xfrm>
          <a:off x="468313" y="1897063"/>
          <a:ext cx="8205787" cy="3930651"/>
        </p:xfrm>
        <a:graphic>
          <a:graphicData uri="http://schemas.openxmlformats.org/drawingml/2006/table">
            <a:tbl>
              <a:tblPr/>
              <a:tblGrid>
                <a:gridCol w="3438771"/>
                <a:gridCol w="4767016"/>
              </a:tblGrid>
              <a:tr h="7916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trace_file</a:t>
                      </a:r>
                      <a:endParaRPr kumimoji="0" lang="es-E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</a:endParaRPr>
                    </a:p>
                  </a:txBody>
                  <a:tcPr marL="91431" marR="91431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Nombre del archivo generado por SQL Trace</a:t>
                      </a:r>
                    </a:p>
                  </a:txBody>
                  <a:tcPr marL="91431" marR="91431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04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output_file</a:t>
                      </a:r>
                      <a:endParaRPr kumimoji="0" lang="es-E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</a:endParaRPr>
                    </a:p>
                  </a:txBody>
                  <a:tcPr marL="91431" marR="91431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Nombre del archivo generado por TKPROF</a:t>
                      </a:r>
                    </a:p>
                  </a:txBody>
                  <a:tcPr marL="91431" marR="91431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058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explain=username/password</a:t>
                      </a:r>
                    </a:p>
                  </a:txBody>
                  <a:tcPr marL="91431" marR="91431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Arial" charset="0"/>
                        </a:rPr>
                        <a:t>Opcional</a:t>
                      </a:r>
                      <a:r>
                        <a:rPr kumimoji="0" lang="es-E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Especifica la conexión que será usada para generar los planes de ejecución.</a:t>
                      </a:r>
                    </a:p>
                  </a:txBody>
                  <a:tcPr marL="91431" marR="91431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27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sort</a:t>
                      </a:r>
                      <a:r>
                        <a:rPr kumimoji="0" lang="es-E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=(</a:t>
                      </a:r>
                      <a:r>
                        <a:rPr kumimoji="0" lang="es-E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sort</a:t>
                      </a:r>
                      <a:r>
                        <a:rPr kumimoji="0" lang="es-E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keys</a:t>
                      </a:r>
                      <a:r>
                        <a:rPr kumimoji="0" lang="es-E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91431" marR="91431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Arial" charset="0"/>
                        </a:rPr>
                        <a:t>Opcional</a:t>
                      </a:r>
                      <a:r>
                        <a:rPr kumimoji="0" lang="es-E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Genera las sentencias SQL ordenadas según las </a:t>
                      </a:r>
                      <a:r>
                        <a:rPr kumimoji="0" lang="es-E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claves elegidas </a:t>
                      </a:r>
                      <a:r>
                        <a:rPr kumimoji="0" lang="es-E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s-E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sort</a:t>
                      </a:r>
                      <a:r>
                        <a:rPr kumimoji="0" lang="es-E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keys</a:t>
                      </a:r>
                      <a:r>
                        <a:rPr kumimoji="0" lang="es-E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), ver a continuación.</a:t>
                      </a:r>
                    </a:p>
                  </a:txBody>
                  <a:tcPr marL="91431" marR="91431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042988" y="1773238"/>
            <a:ext cx="7200900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s-ES" sz="2400" dirty="0" smtClean="0">
                <a:solidFill>
                  <a:srgbClr val="00B050"/>
                </a:solidFill>
                <a:latin typeface="Times New Roman" pitchFamily="18" charset="0"/>
              </a:rPr>
              <a:t>Claves</a:t>
            </a:r>
            <a:r>
              <a:rPr lang="es-ES" sz="2400" dirty="0" smtClean="0">
                <a:latin typeface="Times New Roman" pitchFamily="18" charset="0"/>
              </a:rPr>
              <a:t> (</a:t>
            </a:r>
            <a:r>
              <a:rPr lang="es-ES" sz="2400" i="1" dirty="0" err="1" smtClean="0">
                <a:solidFill>
                  <a:srgbClr val="00B050"/>
                </a:solidFill>
                <a:latin typeface="Times New Roman" pitchFamily="18" charset="0"/>
              </a:rPr>
              <a:t>keys</a:t>
            </a:r>
            <a:r>
              <a:rPr lang="es-ES" sz="2400" dirty="0" smtClean="0">
                <a:latin typeface="Times New Roman" pitchFamily="18" charset="0"/>
              </a:rPr>
              <a:t>) del ordenamiento del TKPROF: Cada clave de ordenamiento, se compone de dos partes: </a:t>
            </a:r>
          </a:p>
          <a:p>
            <a:pPr marL="342900" indent="-342900" algn="just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s-ES" sz="2400" dirty="0" smtClean="0">
                <a:latin typeface="Times New Roman" pitchFamily="18" charset="0"/>
              </a:rPr>
              <a:t>L</a:t>
            </a:r>
            <a:r>
              <a:rPr lang="es-ES" sz="2400" dirty="0" smtClean="0">
                <a:latin typeface="Times New Roman" pitchFamily="18" charset="0"/>
              </a:rPr>
              <a:t>a </a:t>
            </a:r>
            <a:r>
              <a:rPr lang="es-ES" sz="2400" dirty="0" smtClean="0">
                <a:latin typeface="Times New Roman" pitchFamily="18" charset="0"/>
              </a:rPr>
              <a:t>primera indica la fase (tipo de llamada </a:t>
            </a:r>
            <a:r>
              <a:rPr lang="es-ES" sz="2400" i="1" dirty="0" err="1" smtClean="0">
                <a:latin typeface="Times New Roman" pitchFamily="18" charset="0"/>
              </a:rPr>
              <a:t>call</a:t>
            </a:r>
            <a:r>
              <a:rPr lang="es-ES" sz="2400" dirty="0" smtClean="0">
                <a:latin typeface="Times New Roman" pitchFamily="18" charset="0"/>
              </a:rPr>
              <a:t>).</a:t>
            </a:r>
            <a:endParaRPr lang="es-ES" sz="2400" dirty="0" smtClean="0">
              <a:latin typeface="Times New Roman" pitchFamily="18" charset="0"/>
            </a:endParaRPr>
          </a:p>
          <a:p>
            <a:pPr marL="342900" indent="-342900" algn="just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s-ES" sz="2400" dirty="0" smtClean="0">
                <a:latin typeface="Times New Roman" pitchFamily="18" charset="0"/>
              </a:rPr>
              <a:t>L</a:t>
            </a:r>
            <a:r>
              <a:rPr lang="es-ES" sz="2400" dirty="0" smtClean="0">
                <a:latin typeface="Times New Roman" pitchFamily="18" charset="0"/>
              </a:rPr>
              <a:t>a </a:t>
            </a:r>
            <a:r>
              <a:rPr lang="es-ES" sz="2400" dirty="0" smtClean="0">
                <a:latin typeface="Times New Roman" pitchFamily="18" charset="0"/>
              </a:rPr>
              <a:t>segunda parte indica el valor por el cual debe </a:t>
            </a:r>
            <a:r>
              <a:rPr lang="es-ES" sz="2400" dirty="0" smtClean="0">
                <a:latin typeface="Times New Roman" pitchFamily="18" charset="0"/>
              </a:rPr>
              <a:t>ordenar</a:t>
            </a:r>
            <a:r>
              <a:rPr lang="es-ES" sz="2400" dirty="0" smtClean="0">
                <a:latin typeface="Times New Roman" pitchFamily="18" charset="0"/>
              </a:rPr>
              <a:t>.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990600" y="4343400"/>
            <a:ext cx="72009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>
                <a:latin typeface="Times New Roman" panose="02020603050405020304" pitchFamily="18" charset="0"/>
              </a:rPr>
              <a:t>A continuación se presenta una tabla con las opciones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57291"/>
              </p:ext>
            </p:extLst>
          </p:nvPr>
        </p:nvGraphicFramePr>
        <p:xfrm>
          <a:off x="323850" y="1268413"/>
          <a:ext cx="3384550" cy="370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292"/>
                <a:gridCol w="2572258"/>
              </a:tblGrid>
              <a:tr h="52035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Primera parte (</a:t>
                      </a:r>
                      <a:r>
                        <a:rPr kumimoji="0" lang="es-CO" sz="1800" b="1" i="1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call</a:t>
                      </a:r>
                      <a:r>
                        <a:rPr kumimoji="0" lang="es-CO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): prefijo</a:t>
                      </a:r>
                      <a:endParaRPr kumimoji="0" lang="es-ES_tradnl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91435" marR="91435" marT="45715" marB="45715"/>
                </a:tc>
                <a:tc hMerge="1">
                  <a:txBody>
                    <a:bodyPr/>
                    <a:lstStyle/>
                    <a:p>
                      <a:endParaRPr lang="es-ES_tradnl" dirty="0"/>
                    </a:p>
                  </a:txBody>
                  <a:tcPr/>
                </a:tc>
              </a:tr>
              <a:tr h="10639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</a:rPr>
                        <a:t>prs</a:t>
                      </a:r>
                      <a:endParaRPr kumimoji="0" lang="es-E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15" marB="4571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Ordena sobre valores correspondientes a la fase de </a:t>
                      </a:r>
                      <a:r>
                        <a:rPr kumimoji="0" lang="es-ES" sz="18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parsing</a:t>
                      </a: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L="91452" marR="91452" marT="45715" marB="45715" horzOverflow="overflow"/>
                </a:tc>
              </a:tr>
              <a:tr h="10802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</a:rPr>
                        <a:t>exe</a:t>
                      </a:r>
                      <a:endParaRPr kumimoji="0" lang="es-E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15" marB="4571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Ordena sobre valores correspondientes a la fase de ejecución.</a:t>
                      </a:r>
                    </a:p>
                  </a:txBody>
                  <a:tcPr marL="91452" marR="91452" marT="45715" marB="45715" horzOverflow="overflow"/>
                </a:tc>
              </a:tr>
              <a:tr h="10407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</a:rPr>
                        <a:t>fch</a:t>
                      </a:r>
                      <a:endParaRPr kumimoji="0" lang="es-E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15" marB="4571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Ordena sobre correspondientes a la fase de </a:t>
                      </a:r>
                      <a:r>
                        <a:rPr kumimoji="0" lang="es-ES" sz="18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fetch</a:t>
                      </a: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L="91452" marR="91452" marT="45715" marB="45715" horzOverflow="overflow"/>
                </a:tc>
              </a:tr>
            </a:tbl>
          </a:graphicData>
        </a:graphic>
      </p:graphicFrame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58811"/>
              </p:ext>
            </p:extLst>
          </p:nvPr>
        </p:nvGraphicFramePr>
        <p:xfrm>
          <a:off x="3995738" y="1268413"/>
          <a:ext cx="4897437" cy="5329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275"/>
                <a:gridCol w="3961162"/>
              </a:tblGrid>
              <a:tr h="5035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Segunda parte: sufijo</a:t>
                      </a:r>
                      <a:endParaRPr kumimoji="0" lang="es-ES_tradnl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91457" marR="91457" marT="45726" marB="45726"/>
                </a:tc>
                <a:tc hMerge="1">
                  <a:txBody>
                    <a:bodyPr/>
                    <a:lstStyle/>
                    <a:p>
                      <a:endParaRPr lang="es-ES_tradnl" dirty="0"/>
                    </a:p>
                  </a:txBody>
                  <a:tcPr/>
                </a:tc>
              </a:tr>
              <a:tr h="5105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</a:rPr>
                        <a:t>cnt</a:t>
                      </a:r>
                      <a:endParaRPr kumimoji="0" lang="es-E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</a:endParaRPr>
                    </a:p>
                  </a:txBody>
                  <a:tcPr marL="91474" marR="91474"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Número de llamadas.</a:t>
                      </a:r>
                    </a:p>
                  </a:txBody>
                  <a:tcPr marL="91474" marR="91474" marT="45726" marB="45726" horzOverflow="overflow"/>
                </a:tc>
              </a:tr>
              <a:tr h="5105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</a:rPr>
                        <a:t>cpu</a:t>
                      </a:r>
                      <a:endParaRPr kumimoji="0" lang="es-E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</a:endParaRPr>
                    </a:p>
                  </a:txBody>
                  <a:tcPr marL="91474" marR="91474"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Consumo </a:t>
                      </a:r>
                      <a:r>
                        <a:rPr kumimoji="0" lang="es-ES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de</a:t>
                      </a: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CPU.</a:t>
                      </a:r>
                    </a:p>
                  </a:txBody>
                  <a:tcPr marL="91474" marR="91474" marT="45726" marB="45726" horzOverflow="overflow"/>
                </a:tc>
              </a:tr>
              <a:tr h="5105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</a:rPr>
                        <a:t>ela</a:t>
                      </a:r>
                      <a:endParaRPr kumimoji="0" lang="es-E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</a:endParaRPr>
                    </a:p>
                  </a:txBody>
                  <a:tcPr marL="91474" marR="91474"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Tiempo transcurrido (</a:t>
                      </a:r>
                      <a:r>
                        <a:rPr kumimoji="0" lang="es-ES" sz="18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elapsed</a:t>
                      </a:r>
                      <a:r>
                        <a:rPr kumimoji="0" lang="es-E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time</a:t>
                      </a: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).</a:t>
                      </a:r>
                    </a:p>
                  </a:txBody>
                  <a:tcPr marL="91474" marR="91474" marT="45726" marB="45726" horzOverflow="overflow"/>
                </a:tc>
              </a:tr>
              <a:tr h="5105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</a:rPr>
                        <a:t>dsk</a:t>
                      </a:r>
                      <a:endParaRPr kumimoji="0" lang="es-E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</a:endParaRPr>
                    </a:p>
                  </a:txBody>
                  <a:tcPr marL="91474" marR="91474"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Lecturas de disco.</a:t>
                      </a:r>
                    </a:p>
                  </a:txBody>
                  <a:tcPr marL="91474" marR="91474" marT="45726" marB="45726" horzOverflow="overflow"/>
                </a:tc>
              </a:tr>
              <a:tr h="5105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</a:rPr>
                        <a:t>qry</a:t>
                      </a:r>
                      <a:endParaRPr kumimoji="0" lang="es-E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</a:endParaRPr>
                    </a:p>
                  </a:txBody>
                  <a:tcPr marL="91474" marR="91474"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Lecturas consistentes.</a:t>
                      </a:r>
                    </a:p>
                  </a:txBody>
                  <a:tcPr marL="91474" marR="91474" marT="45726" marB="45726" horzOverflow="overflow"/>
                </a:tc>
              </a:tr>
              <a:tr h="5105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</a:rPr>
                        <a:t>cu</a:t>
                      </a:r>
                      <a:endParaRPr kumimoji="0" lang="es-E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</a:endParaRPr>
                    </a:p>
                  </a:txBody>
                  <a:tcPr marL="91474" marR="91474"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Lecturas actuales (</a:t>
                      </a:r>
                      <a:r>
                        <a:rPr kumimoji="0" lang="es-ES" sz="18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current</a:t>
                      </a: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).</a:t>
                      </a:r>
                    </a:p>
                  </a:txBody>
                  <a:tcPr marL="91474" marR="91474" marT="45726" marB="45726" horzOverflow="overflow"/>
                </a:tc>
              </a:tr>
              <a:tr h="8812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</a:rPr>
                        <a:t>mis</a:t>
                      </a:r>
                    </a:p>
                  </a:txBody>
                  <a:tcPr marL="91474" marR="91474"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Library cache </a:t>
                      </a:r>
                      <a:r>
                        <a:rPr kumimoji="0" lang="es-ES" sz="18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misses</a:t>
                      </a:r>
                      <a:r>
                        <a:rPr kumimoji="0" lang="es-E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(aplica solo para </a:t>
                      </a:r>
                      <a:r>
                        <a:rPr kumimoji="0" lang="es-E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prs</a:t>
                      </a: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).</a:t>
                      </a:r>
                    </a:p>
                  </a:txBody>
                  <a:tcPr marL="91474" marR="91474" marT="45726" marB="45726" horzOverflow="overflow"/>
                </a:tc>
              </a:tr>
              <a:tr h="8812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</a:rPr>
                        <a:t>row</a:t>
                      </a:r>
                      <a:endParaRPr kumimoji="0" lang="es-E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</a:endParaRPr>
                    </a:p>
                  </a:txBody>
                  <a:tcPr marL="91474" marR="91474"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Filas procesadas (aplica solo para </a:t>
                      </a:r>
                      <a:r>
                        <a:rPr kumimoji="0" lang="es-E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exe</a:t>
                      </a: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y </a:t>
                      </a:r>
                      <a:r>
                        <a:rPr kumimoji="0" lang="es-E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fch</a:t>
                      </a:r>
                      <a:r>
                        <a:rPr kumimoji="0" lang="es-E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).</a:t>
                      </a:r>
                    </a:p>
                  </a:txBody>
                  <a:tcPr marL="91474" marR="91474" marT="45726" marB="45726"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29600" cy="4525962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s-MX" sz="2800" b="1" dirty="0" smtClean="0"/>
              <a:t>Ejemplo:</a:t>
            </a:r>
          </a:p>
          <a:p>
            <a:pPr eaLnBrk="1" hangingPunct="1">
              <a:buFontTx/>
              <a:buNone/>
              <a:defRPr/>
            </a:pPr>
            <a:endParaRPr lang="es-ES" sz="2800" b="1" dirty="0" smtClean="0"/>
          </a:p>
          <a:p>
            <a:pPr eaLnBrk="1" hangingPunct="1">
              <a:defRPr/>
            </a:pPr>
            <a:r>
              <a:rPr lang="es-ES" sz="2800" b="1" dirty="0" err="1" smtClean="0"/>
              <a:t>Exedsk</a:t>
            </a:r>
            <a:r>
              <a:rPr lang="es-ES" sz="2800" dirty="0" smtClean="0"/>
              <a:t>: Indica que las sentencias serán ordenadas en el archivo de salida según las lecturas de disco para la fase de ejecución.</a:t>
            </a:r>
          </a:p>
          <a:p>
            <a:pPr marL="0" indent="0" eaLnBrk="1" hangingPunct="1">
              <a:buFontTx/>
              <a:buNone/>
              <a:defRPr/>
            </a:pPr>
            <a:endParaRPr lang="es-ES" sz="2800" dirty="0" smtClean="0"/>
          </a:p>
          <a:p>
            <a:pPr marL="0" indent="0" eaLnBrk="1" hangingPunct="1">
              <a:buFontTx/>
              <a:buNone/>
              <a:defRPr/>
            </a:pPr>
            <a:r>
              <a:rPr lang="es-ES" sz="2800" dirty="0" smtClean="0">
                <a:solidFill>
                  <a:srgbClr val="00B0F0"/>
                </a:solidFill>
              </a:rPr>
              <a:t>C:\ruta_d&gt; </a:t>
            </a:r>
            <a:r>
              <a:rPr lang="es-ES" sz="2800" dirty="0" err="1" smtClean="0"/>
              <a:t>tkprof</a:t>
            </a:r>
            <a:r>
              <a:rPr lang="es-ES" sz="2800" dirty="0" smtClean="0"/>
              <a:t> </a:t>
            </a:r>
            <a:r>
              <a:rPr lang="es-ES" sz="2800" dirty="0" err="1" smtClean="0"/>
              <a:t>archivo.trc</a:t>
            </a:r>
            <a:r>
              <a:rPr lang="es-ES" sz="2800" dirty="0" smtClean="0"/>
              <a:t>  C:\temp\archivo.txt </a:t>
            </a:r>
            <a:r>
              <a:rPr lang="es-ES" sz="2800" dirty="0" err="1" smtClean="0"/>
              <a:t>sort</a:t>
            </a:r>
            <a:r>
              <a:rPr lang="es-ES" sz="2800" dirty="0" smtClean="0"/>
              <a:t> = (</a:t>
            </a:r>
            <a:r>
              <a:rPr lang="es-ES" sz="2800" dirty="0" err="1" smtClean="0"/>
              <a:t>exedsk</a:t>
            </a:r>
            <a:r>
              <a:rPr lang="es-ES" sz="2800" dirty="0" smtClean="0"/>
              <a:t>); 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323528" y="5805264"/>
            <a:ext cx="8208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Nota</a:t>
            </a:r>
            <a:r>
              <a:rPr lang="es-ES" dirty="0" smtClean="0"/>
              <a:t>: Si se colocan varias claves, las sentencias se ordenan por la </a:t>
            </a:r>
            <a:r>
              <a:rPr lang="es-ES" b="1" dirty="0" smtClean="0"/>
              <a:t>suma</a:t>
            </a:r>
            <a:r>
              <a:rPr lang="es-ES" dirty="0" smtClean="0"/>
              <a:t> de las claves especificadas. Por ejemplo: </a:t>
            </a:r>
            <a:r>
              <a:rPr lang="es-ES" dirty="0" err="1" smtClean="0"/>
              <a:t>sort</a:t>
            </a:r>
            <a:r>
              <a:rPr lang="es-ES" dirty="0" smtClean="0"/>
              <a:t> = (</a:t>
            </a:r>
            <a:r>
              <a:rPr lang="es-ES" dirty="0" err="1" smtClean="0"/>
              <a:t>prsdsk</a:t>
            </a:r>
            <a:r>
              <a:rPr lang="es-ES" dirty="0" smtClean="0"/>
              <a:t>, </a:t>
            </a:r>
            <a:r>
              <a:rPr lang="es-ES" dirty="0" err="1" smtClean="0"/>
              <a:t>exedsk</a:t>
            </a:r>
            <a:r>
              <a:rPr lang="es-ES" dirty="0" smtClean="0"/>
              <a:t>, </a:t>
            </a:r>
            <a:r>
              <a:rPr lang="es-ES" dirty="0" err="1" smtClean="0"/>
              <a:t>fchdisk</a:t>
            </a:r>
            <a:r>
              <a:rPr lang="es-ES" dirty="0" smtClean="0"/>
              <a:t>). 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3"/>
          <p:cNvSpPr txBox="1">
            <a:spLocks noChangeArrowheads="1"/>
          </p:cNvSpPr>
          <p:nvPr/>
        </p:nvSpPr>
        <p:spPr bwMode="auto">
          <a:xfrm>
            <a:off x="735013" y="1168400"/>
            <a:ext cx="36258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>
                <a:solidFill>
                  <a:srgbClr val="003399"/>
                </a:solidFill>
                <a:latin typeface="Times New Roman" panose="02020603050405020304" pitchFamily="18" charset="0"/>
              </a:rPr>
              <a:t>4. Interpretar los resultados.</a:t>
            </a:r>
          </a:p>
        </p:txBody>
      </p:sp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609600" y="1905000"/>
            <a:ext cx="807720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Estadísticas tabuladas</a:t>
            </a:r>
            <a:r>
              <a:rPr lang="es-ES_tradnl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:</a:t>
            </a:r>
            <a:r>
              <a:rPr lang="es-ES_tradnl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s-ES" sz="2400" dirty="0">
                <a:latin typeface="Times New Roman" panose="02020603050405020304" pitchFamily="18" charset="0"/>
              </a:rPr>
              <a:t>TKPROF lista las estadísticas en filas y columnas para una sentencia SQL. Las filas corresponden a las tres fases (</a:t>
            </a:r>
            <a:r>
              <a:rPr lang="es-ES" sz="2400" i="1" dirty="0" err="1">
                <a:latin typeface="Times New Roman" panose="02020603050405020304" pitchFamily="18" charset="0"/>
              </a:rPr>
              <a:t>calls</a:t>
            </a:r>
            <a:r>
              <a:rPr lang="es-ES" sz="2400" dirty="0">
                <a:latin typeface="Times New Roman" panose="02020603050405020304" pitchFamily="18" charset="0"/>
              </a:rPr>
              <a:t>) del procesamiento de una sentencia SQL: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PARSE</a:t>
            </a:r>
            <a:r>
              <a:rPr lang="es-ES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(a)</a:t>
            </a:r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:</a:t>
            </a:r>
            <a:r>
              <a:rPr lang="es-ES_tradnl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s-ES" sz="2400" dirty="0">
                <a:latin typeface="Times New Roman" panose="02020603050405020304" pitchFamily="18" charset="0"/>
              </a:rPr>
              <a:t>S</a:t>
            </a:r>
            <a:r>
              <a:rPr lang="es-ES" sz="2400" dirty="0" smtClean="0">
                <a:latin typeface="Times New Roman" panose="02020603050405020304" pitchFamily="18" charset="0"/>
              </a:rPr>
              <a:t>e </a:t>
            </a:r>
            <a:r>
              <a:rPr lang="es-ES" sz="2400" dirty="0">
                <a:latin typeface="Times New Roman" panose="02020603050405020304" pitchFamily="18" charset="0"/>
              </a:rPr>
              <a:t>traduce la sentencia SQL en un plan de ejecución, se verifica la existencia de objetos, permisos, etc. 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EXECUTE</a:t>
            </a:r>
            <a:r>
              <a:rPr lang="es-ES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(b)</a:t>
            </a:r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:</a:t>
            </a:r>
            <a:r>
              <a:rPr lang="es-ES_tradnl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s-ES" sz="2400" dirty="0">
                <a:latin typeface="Times New Roman" panose="02020603050405020304" pitchFamily="18" charset="0"/>
              </a:rPr>
              <a:t>S</a:t>
            </a:r>
            <a:r>
              <a:rPr lang="es-ES" sz="2400" dirty="0" smtClean="0">
                <a:latin typeface="Times New Roman" panose="02020603050405020304" pitchFamily="18" charset="0"/>
              </a:rPr>
              <a:t>e </a:t>
            </a:r>
            <a:r>
              <a:rPr lang="es-ES" sz="2400" dirty="0">
                <a:latin typeface="Times New Roman" panose="02020603050405020304" pitchFamily="18" charset="0"/>
              </a:rPr>
              <a:t>ejecuta la sentencia. </a:t>
            </a:r>
            <a:r>
              <a:rPr lang="es-ES" sz="2400" dirty="0" smtClean="0">
                <a:latin typeface="Times New Roman" panose="02020603050405020304" pitchFamily="18" charset="0"/>
              </a:rPr>
              <a:t>En especial para </a:t>
            </a:r>
            <a:r>
              <a:rPr lang="es-ES" sz="2400" dirty="0">
                <a:latin typeface="Times New Roman" panose="02020603050405020304" pitchFamily="18" charset="0"/>
              </a:rPr>
              <a:t>sentencias INSERT, UPDATE, y DELETE, en esta fase se modifican los </a:t>
            </a:r>
            <a:r>
              <a:rPr lang="es-ES" sz="2400" dirty="0" smtClean="0">
                <a:latin typeface="Times New Roman" panose="02020603050405020304" pitchFamily="18" charset="0"/>
              </a:rPr>
              <a:t>datos.</a:t>
            </a:r>
            <a:endParaRPr lang="es-ES" sz="2400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FETCH</a:t>
            </a:r>
            <a:r>
              <a:rPr lang="es-ES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(c)</a:t>
            </a:r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:</a:t>
            </a:r>
            <a:r>
              <a:rPr lang="es-ES_tradnl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s-ES" sz="2400" dirty="0">
                <a:latin typeface="Times New Roman" panose="02020603050405020304" pitchFamily="18" charset="0"/>
              </a:rPr>
              <a:t>S</a:t>
            </a:r>
            <a:r>
              <a:rPr lang="es-ES" sz="2400" dirty="0" smtClean="0">
                <a:latin typeface="Times New Roman" panose="02020603050405020304" pitchFamily="18" charset="0"/>
              </a:rPr>
              <a:t>e </a:t>
            </a:r>
            <a:r>
              <a:rPr lang="es-ES" sz="2400" dirty="0">
                <a:latin typeface="Times New Roman" panose="02020603050405020304" pitchFamily="18" charset="0"/>
              </a:rPr>
              <a:t>retornan las filas de la consulta. Estos “</a:t>
            </a:r>
            <a:r>
              <a:rPr lang="es-ES" sz="2400" i="1" dirty="0" err="1">
                <a:latin typeface="Times New Roman" panose="02020603050405020304" pitchFamily="18" charset="0"/>
              </a:rPr>
              <a:t>fetches</a:t>
            </a:r>
            <a:r>
              <a:rPr lang="es-ES" sz="2400" dirty="0">
                <a:latin typeface="Times New Roman" panose="02020603050405020304" pitchFamily="18" charset="0"/>
              </a:rPr>
              <a:t>” solo se hacen para sentencias SELECT.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4"/>
          <p:cNvSpPr txBox="1">
            <a:spLocks noChangeArrowheads="1"/>
          </p:cNvSpPr>
          <p:nvPr/>
        </p:nvSpPr>
        <p:spPr bwMode="auto">
          <a:xfrm>
            <a:off x="265113" y="2389188"/>
            <a:ext cx="8464550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_tradnl" sz="1700" b="1">
                <a:solidFill>
                  <a:schemeClr val="bg2"/>
                </a:solidFill>
                <a:latin typeface="Courier New" panose="02070309020205020404" pitchFamily="49" charset="0"/>
              </a:rPr>
              <a:t> </a:t>
            </a:r>
            <a:r>
              <a:rPr lang="es-ES_tradnl" sz="1700" b="1">
                <a:latin typeface="Courier New" panose="02070309020205020404" pitchFamily="49" charset="0"/>
              </a:rPr>
              <a:t>call      count   cpu   elapsed  disk  query  current   rows</a:t>
            </a:r>
          </a:p>
          <a:p>
            <a:pPr algn="just" eaLnBrk="1" hangingPunct="1"/>
            <a:r>
              <a:rPr lang="es-ES_tradnl" sz="1700" b="1">
                <a:latin typeface="Courier New" panose="02070309020205020404" pitchFamily="49" charset="0"/>
              </a:rPr>
              <a:t>---------  ------- ------ ------- ------ ------ -------- ------</a:t>
            </a:r>
          </a:p>
          <a:p>
            <a:pPr algn="just" eaLnBrk="1" hangingPunct="1"/>
            <a:r>
              <a:rPr lang="es-ES_tradnl" sz="1700" b="1">
                <a:latin typeface="Courier New" panose="02070309020205020404" pitchFamily="49" charset="0"/>
              </a:rPr>
              <a:t>Parse</a:t>
            </a:r>
            <a:r>
              <a:rPr lang="es-ES_tradnl" sz="1700" b="1">
                <a:solidFill>
                  <a:srgbClr val="A50021"/>
                </a:solidFill>
                <a:latin typeface="Courier New" panose="02070309020205020404" pitchFamily="49" charset="0"/>
              </a:rPr>
              <a:t>(a)     (d)</a:t>
            </a:r>
            <a:r>
              <a:rPr lang="es-ES_tradnl" sz="1700" b="1">
                <a:solidFill>
                  <a:schemeClr val="bg2"/>
                </a:solidFill>
                <a:latin typeface="Courier New" panose="02070309020205020404" pitchFamily="49" charset="0"/>
              </a:rPr>
              <a:t>     </a:t>
            </a:r>
            <a:r>
              <a:rPr lang="es-ES_tradnl" sz="1700" b="1">
                <a:latin typeface="Courier New" panose="02070309020205020404" pitchFamily="49" charset="0"/>
              </a:rPr>
              <a:t>--      --     --     --      --      0</a:t>
            </a:r>
          </a:p>
          <a:p>
            <a:pPr algn="just" eaLnBrk="1" hangingPunct="1"/>
            <a:r>
              <a:rPr lang="es-ES_tradnl" sz="1700" b="1">
                <a:latin typeface="Courier New" panose="02070309020205020404" pitchFamily="49" charset="0"/>
              </a:rPr>
              <a:t>Execute</a:t>
            </a:r>
            <a:r>
              <a:rPr lang="es-ES_tradnl" sz="1700" b="1">
                <a:solidFill>
                  <a:srgbClr val="A50021"/>
                </a:solidFill>
                <a:latin typeface="Courier New" panose="02070309020205020404" pitchFamily="49" charset="0"/>
              </a:rPr>
              <a:t>(b)   (e)</a:t>
            </a:r>
            <a:r>
              <a:rPr lang="es-ES_tradnl" sz="1700" b="1">
                <a:solidFill>
                  <a:schemeClr val="bg2"/>
                </a:solidFill>
                <a:latin typeface="Courier New" panose="02070309020205020404" pitchFamily="49" charset="0"/>
              </a:rPr>
              <a:t>     </a:t>
            </a:r>
            <a:r>
              <a:rPr lang="es-ES_tradnl" sz="1700" b="1">
                <a:latin typeface="Courier New" panose="02070309020205020404" pitchFamily="49" charset="0"/>
              </a:rPr>
              <a:t>--      --     --     --      --      </a:t>
            </a:r>
            <a:r>
              <a:rPr lang="es-ES_tradnl" sz="1700" b="1">
                <a:solidFill>
                  <a:srgbClr val="A50021"/>
                </a:solidFill>
                <a:latin typeface="Courier New" panose="02070309020205020404" pitchFamily="49" charset="0"/>
              </a:rPr>
              <a:t>(n)</a:t>
            </a:r>
          </a:p>
          <a:p>
            <a:pPr algn="just" eaLnBrk="1" hangingPunct="1"/>
            <a:r>
              <a:rPr lang="es-ES_tradnl" sz="1700" b="1">
                <a:latin typeface="Courier New" panose="02070309020205020404" pitchFamily="49" charset="0"/>
              </a:rPr>
              <a:t>Fetch</a:t>
            </a:r>
            <a:r>
              <a:rPr lang="es-ES_tradnl" sz="1700" b="1">
                <a:solidFill>
                  <a:srgbClr val="A50021"/>
                </a:solidFill>
                <a:latin typeface="Courier New" panose="02070309020205020404" pitchFamily="49" charset="0"/>
              </a:rPr>
              <a:t>(c)     (j)</a:t>
            </a:r>
            <a:r>
              <a:rPr lang="es-ES_tradnl" sz="1700" b="1">
                <a:solidFill>
                  <a:schemeClr val="bg2"/>
                </a:solidFill>
                <a:latin typeface="Courier New" panose="02070309020205020404" pitchFamily="49" charset="0"/>
              </a:rPr>
              <a:t>     </a:t>
            </a:r>
            <a:r>
              <a:rPr lang="es-ES_tradnl" sz="1700" b="1">
                <a:latin typeface="Courier New" panose="02070309020205020404" pitchFamily="49" charset="0"/>
              </a:rPr>
              <a:t>--      --     --     --      --      </a:t>
            </a:r>
            <a:r>
              <a:rPr lang="es-ES_tradnl" sz="1700" b="1">
                <a:solidFill>
                  <a:srgbClr val="A50021"/>
                </a:solidFill>
                <a:latin typeface="Courier New" panose="02070309020205020404" pitchFamily="49" charset="0"/>
              </a:rPr>
              <a:t>(i)</a:t>
            </a:r>
          </a:p>
          <a:p>
            <a:pPr algn="just" eaLnBrk="1" hangingPunct="1"/>
            <a:r>
              <a:rPr lang="es-ES_tradnl" sz="1700" b="1">
                <a:latin typeface="Courier New" panose="02070309020205020404" pitchFamily="49" charset="0"/>
              </a:rPr>
              <a:t>---------  ------- ------ ------- ------ ------ -------- ------</a:t>
            </a:r>
          </a:p>
          <a:p>
            <a:pPr algn="just" eaLnBrk="1" hangingPunct="1"/>
            <a:r>
              <a:rPr lang="es-ES_tradnl" sz="1700" b="1">
                <a:latin typeface="Courier New" panose="02070309020205020404" pitchFamily="49" charset="0"/>
              </a:rPr>
              <a:t>Total        ---     </a:t>
            </a:r>
            <a:r>
              <a:rPr lang="es-ES_tradnl" sz="1700" b="1">
                <a:solidFill>
                  <a:srgbClr val="A50021"/>
                </a:solidFill>
                <a:latin typeface="Courier New" panose="02070309020205020404" pitchFamily="49" charset="0"/>
              </a:rPr>
              <a:t>(l)</a:t>
            </a:r>
            <a:r>
              <a:rPr lang="es-ES_tradnl" sz="1700" b="1">
                <a:latin typeface="Courier New" panose="02070309020205020404" pitchFamily="49" charset="0"/>
              </a:rPr>
              <a:t>     </a:t>
            </a:r>
            <a:r>
              <a:rPr lang="es-ES_tradnl" sz="1700" b="1">
                <a:solidFill>
                  <a:srgbClr val="A50021"/>
                </a:solidFill>
                <a:latin typeface="Courier New" panose="02070309020205020404" pitchFamily="49" charset="0"/>
              </a:rPr>
              <a:t>(m)</a:t>
            </a:r>
            <a:r>
              <a:rPr lang="es-ES_tradnl" sz="1700" b="1">
                <a:latin typeface="Courier New" panose="02070309020205020404" pitchFamily="49" charset="0"/>
              </a:rPr>
              <a:t>    </a:t>
            </a:r>
            <a:r>
              <a:rPr lang="es-ES_tradnl" sz="1700" b="1">
                <a:solidFill>
                  <a:srgbClr val="A50021"/>
                </a:solidFill>
                <a:latin typeface="Courier New" panose="02070309020205020404" pitchFamily="49" charset="0"/>
              </a:rPr>
              <a:t>(k)    (f)     (g)     (h)</a:t>
            </a:r>
          </a:p>
        </p:txBody>
      </p:sp>
      <p:sp>
        <p:nvSpPr>
          <p:cNvPr id="3" name="2 Rectángulo"/>
          <p:cNvSpPr/>
          <p:nvPr/>
        </p:nvSpPr>
        <p:spPr>
          <a:xfrm>
            <a:off x="2843213" y="3498850"/>
            <a:ext cx="5761037" cy="288925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_tradnl"/>
          </a:p>
        </p:txBody>
      </p:sp>
      <p:sp>
        <p:nvSpPr>
          <p:cNvPr id="17412" name="3 CuadroTexto"/>
          <p:cNvSpPr txBox="1">
            <a:spLocks noChangeArrowheads="1"/>
          </p:cNvSpPr>
          <p:nvPr/>
        </p:nvSpPr>
        <p:spPr bwMode="auto">
          <a:xfrm>
            <a:off x="6257925" y="4776788"/>
            <a:ext cx="28908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CO">
                <a:solidFill>
                  <a:srgbClr val="00B0F0"/>
                </a:solidFill>
              </a:rPr>
              <a:t>Para sentencias SELECTs</a:t>
            </a:r>
            <a:endParaRPr lang="es-ES_tradnl">
              <a:solidFill>
                <a:srgbClr val="00B0F0"/>
              </a:solidFill>
            </a:endParaRPr>
          </a:p>
        </p:txBody>
      </p:sp>
      <p:cxnSp>
        <p:nvCxnSpPr>
          <p:cNvPr id="6" name="5 Conector recto de flecha"/>
          <p:cNvCxnSpPr/>
          <p:nvPr/>
        </p:nvCxnSpPr>
        <p:spPr>
          <a:xfrm>
            <a:off x="8604250" y="3768725"/>
            <a:ext cx="288925" cy="1008063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Rectángulo"/>
          <p:cNvSpPr/>
          <p:nvPr/>
        </p:nvSpPr>
        <p:spPr>
          <a:xfrm>
            <a:off x="2843213" y="3192463"/>
            <a:ext cx="5761037" cy="288925"/>
          </a:xfrm>
          <a:prstGeom prst="rect">
            <a:avLst/>
          </a:prstGeom>
          <a:noFill/>
          <a:ln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_tradnl"/>
          </a:p>
        </p:txBody>
      </p:sp>
      <p:cxnSp>
        <p:nvCxnSpPr>
          <p:cNvPr id="10" name="9 Conector recto de flecha"/>
          <p:cNvCxnSpPr/>
          <p:nvPr/>
        </p:nvCxnSpPr>
        <p:spPr>
          <a:xfrm flipV="1">
            <a:off x="8616950" y="2257425"/>
            <a:ext cx="276225" cy="957263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6" name="11 CuadroTexto"/>
          <p:cNvSpPr txBox="1">
            <a:spLocks noChangeArrowheads="1"/>
          </p:cNvSpPr>
          <p:nvPr/>
        </p:nvSpPr>
        <p:spPr bwMode="auto">
          <a:xfrm>
            <a:off x="6010275" y="1484313"/>
            <a:ext cx="31337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CO" dirty="0">
                <a:solidFill>
                  <a:srgbClr val="FF00FF"/>
                </a:solidFill>
              </a:rPr>
              <a:t>En especial para sentencias </a:t>
            </a:r>
          </a:p>
          <a:p>
            <a:pPr eaLnBrk="1" hangingPunct="1"/>
            <a:r>
              <a:rPr lang="es-ES" dirty="0">
                <a:solidFill>
                  <a:srgbClr val="FF00FF"/>
                </a:solidFill>
                <a:latin typeface="Times New Roman" panose="02020603050405020304" pitchFamily="18" charset="0"/>
              </a:rPr>
              <a:t>INSERT, </a:t>
            </a:r>
            <a:r>
              <a:rPr lang="es-ES" dirty="0" smtClean="0">
                <a:solidFill>
                  <a:srgbClr val="FF00FF"/>
                </a:solidFill>
                <a:latin typeface="Times New Roman" panose="02020603050405020304" pitchFamily="18" charset="0"/>
              </a:rPr>
              <a:t>UPDATE </a:t>
            </a:r>
            <a:r>
              <a:rPr lang="es-ES" dirty="0">
                <a:solidFill>
                  <a:srgbClr val="FF00FF"/>
                </a:solidFill>
                <a:latin typeface="Times New Roman" panose="02020603050405020304" pitchFamily="18" charset="0"/>
              </a:rPr>
              <a:t>y DELETE</a:t>
            </a:r>
            <a:endParaRPr lang="es-ES_tradnl" dirty="0">
              <a:solidFill>
                <a:srgbClr val="FF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609600" y="1584325"/>
            <a:ext cx="78486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_tradnl" sz="2400" dirty="0" smtClean="0">
                <a:solidFill>
                  <a:srgbClr val="003399"/>
                </a:solidFill>
                <a:latin typeface="Times New Roman" panose="02020603050405020304" pitchFamily="18" charset="0"/>
              </a:rPr>
              <a:t>COUNT</a:t>
            </a:r>
            <a:r>
              <a:rPr lang="es-ES" sz="2400" dirty="0" smtClean="0">
                <a:solidFill>
                  <a:srgbClr val="A50021"/>
                </a:solidFill>
                <a:latin typeface="Times New Roman" panose="02020603050405020304" pitchFamily="18" charset="0"/>
              </a:rPr>
              <a:t>((</a:t>
            </a:r>
            <a:r>
              <a:rPr lang="es-ES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d), (e), (j</a:t>
            </a:r>
            <a:r>
              <a:rPr lang="es-ES" sz="2400" dirty="0" smtClean="0">
                <a:solidFill>
                  <a:srgbClr val="A50021"/>
                </a:solidFill>
                <a:latin typeface="Times New Roman" panose="02020603050405020304" pitchFamily="18" charset="0"/>
              </a:rPr>
              <a:t>)</a:t>
            </a:r>
            <a:r>
              <a:rPr lang="es-ES_tradnl" sz="2400" dirty="0" smtClean="0">
                <a:solidFill>
                  <a:srgbClr val="A50021"/>
                </a:solidFill>
                <a:latin typeface="Times New Roman" panose="02020603050405020304" pitchFamily="18" charset="0"/>
              </a:rPr>
              <a:t>)</a:t>
            </a:r>
            <a:r>
              <a:rPr lang="es-ES_tradnl" sz="2400" dirty="0" smtClean="0">
                <a:solidFill>
                  <a:srgbClr val="003399"/>
                </a:solidFill>
                <a:latin typeface="Times New Roman" panose="02020603050405020304" pitchFamily="18" charset="0"/>
              </a:rPr>
              <a:t>:</a:t>
            </a:r>
            <a:r>
              <a:rPr lang="es-ES_tradnl" sz="2400" dirty="0" smtClean="0">
                <a:latin typeface="Times New Roman" panose="02020603050405020304" pitchFamily="18" charset="0"/>
              </a:rPr>
              <a:t> </a:t>
            </a:r>
            <a:r>
              <a:rPr lang="es-ES_tradnl" sz="2400" dirty="0">
                <a:latin typeface="Times New Roman" panose="02020603050405020304" pitchFamily="18" charset="0"/>
              </a:rPr>
              <a:t>El número de veces que cada tipo de </a:t>
            </a:r>
            <a:r>
              <a:rPr lang="es-ES_tradnl" sz="2400" i="1" dirty="0" err="1">
                <a:latin typeface="Times New Roman" panose="02020603050405020304" pitchFamily="18" charset="0"/>
              </a:rPr>
              <a:t>call</a:t>
            </a:r>
            <a:r>
              <a:rPr lang="es-ES_tradnl" sz="2400" dirty="0">
                <a:latin typeface="Times New Roman" panose="02020603050405020304" pitchFamily="18" charset="0"/>
              </a:rPr>
              <a:t> </a:t>
            </a:r>
            <a:r>
              <a:rPr lang="es-ES_tradnl" sz="2400" dirty="0" smtClean="0">
                <a:latin typeface="Times New Roman" panose="02020603050405020304" pitchFamily="18" charset="0"/>
              </a:rPr>
              <a:t>fue </a:t>
            </a:r>
            <a:r>
              <a:rPr lang="es-ES_tradnl" sz="2400" dirty="0">
                <a:latin typeface="Times New Roman" panose="02020603050405020304" pitchFamily="18" charset="0"/>
              </a:rPr>
              <a:t>hecho. </a:t>
            </a:r>
          </a:p>
          <a:p>
            <a:pPr algn="just" eaLnBrk="1" hangingPunct="1"/>
            <a:endParaRPr lang="es-ES_tradnl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CPU</a:t>
            </a:r>
            <a:r>
              <a:rPr lang="es-ES_tradnl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(l)</a:t>
            </a:r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:</a:t>
            </a:r>
            <a:r>
              <a:rPr lang="es-ES_tradnl" sz="2400" dirty="0">
                <a:latin typeface="Times New Roman" panose="02020603050405020304" pitchFamily="18" charset="0"/>
              </a:rPr>
              <a:t> Tiempo de CPU (segundos) </a:t>
            </a:r>
            <a:r>
              <a:rPr lang="es-ES_tradnl" sz="2400" dirty="0" smtClean="0">
                <a:latin typeface="Times New Roman" panose="02020603050405020304" pitchFamily="18" charset="0"/>
              </a:rPr>
              <a:t>requerido. </a:t>
            </a:r>
            <a:endParaRPr lang="es-ES_tradnl" sz="2400" dirty="0">
              <a:latin typeface="Times New Roman" panose="02020603050405020304" pitchFamily="18" charset="0"/>
            </a:endParaRPr>
          </a:p>
          <a:p>
            <a:pPr algn="just" eaLnBrk="1" hangingPunct="1"/>
            <a:endParaRPr lang="es-ES_tradnl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ELAPSED</a:t>
            </a:r>
            <a:r>
              <a:rPr lang="es-ES_tradnl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(m)</a:t>
            </a:r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:</a:t>
            </a:r>
            <a:r>
              <a:rPr lang="es-ES_tradnl" sz="2400" dirty="0">
                <a:latin typeface="Times New Roman" panose="02020603050405020304" pitchFamily="18" charset="0"/>
              </a:rPr>
              <a:t> Tiempo transcurrido («</a:t>
            </a:r>
            <a:r>
              <a:rPr lang="es-ES_tradnl" sz="2400" i="1" dirty="0" err="1">
                <a:latin typeface="Times New Roman" panose="02020603050405020304" pitchFamily="18" charset="0"/>
              </a:rPr>
              <a:t>wall</a:t>
            </a:r>
            <a:r>
              <a:rPr lang="es-ES_tradnl" sz="2400" i="1" dirty="0">
                <a:latin typeface="Times New Roman" panose="02020603050405020304" pitchFamily="18" charset="0"/>
              </a:rPr>
              <a:t> </a:t>
            </a:r>
            <a:r>
              <a:rPr lang="es-ES_tradnl" sz="2400" i="1" dirty="0" err="1">
                <a:latin typeface="Times New Roman" panose="02020603050405020304" pitchFamily="18" charset="0"/>
              </a:rPr>
              <a:t>clock</a:t>
            </a:r>
            <a:r>
              <a:rPr lang="es-ES_tradnl" sz="2400" i="1" dirty="0">
                <a:latin typeface="Times New Roman" panose="02020603050405020304" pitchFamily="18" charset="0"/>
              </a:rPr>
              <a:t>», </a:t>
            </a:r>
            <a:r>
              <a:rPr lang="es-ES_tradnl" sz="2400" dirty="0">
                <a:latin typeface="Times New Roman" panose="02020603050405020304" pitchFamily="18" charset="0"/>
              </a:rPr>
              <a:t>en segundos).</a:t>
            </a:r>
          </a:p>
          <a:p>
            <a:pPr algn="just" eaLnBrk="1" hangingPunct="1"/>
            <a:endParaRPr lang="es-ES_tradnl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DISK</a:t>
            </a:r>
            <a:r>
              <a:rPr lang="es-ES_tradnl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(k)</a:t>
            </a:r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:</a:t>
            </a:r>
            <a:r>
              <a:rPr lang="es-ES_tradnl" sz="2400" dirty="0">
                <a:latin typeface="Times New Roman" panose="02020603050405020304" pitchFamily="18" charset="0"/>
              </a:rPr>
              <a:t> Número total de bloques de datos leídos físicamente de los archivos de datos en el disco (</a:t>
            </a:r>
            <a:r>
              <a:rPr lang="es-ES_tradnl" sz="2400" i="1" dirty="0" err="1">
                <a:latin typeface="Times New Roman" panose="02020603050405020304" pitchFamily="18" charset="0"/>
              </a:rPr>
              <a:t>physical</a:t>
            </a:r>
            <a:r>
              <a:rPr lang="es-ES_tradnl" sz="2400" i="1" dirty="0">
                <a:latin typeface="Times New Roman" panose="02020603050405020304" pitchFamily="18" charset="0"/>
              </a:rPr>
              <a:t> I/Os</a:t>
            </a:r>
            <a:r>
              <a:rPr lang="es-ES_tradnl" sz="2400" dirty="0">
                <a:latin typeface="Times New Roman" panose="02020603050405020304" pitchFamily="18" charset="0"/>
              </a:rPr>
              <a:t>). </a:t>
            </a:r>
          </a:p>
          <a:p>
            <a:pPr algn="just" eaLnBrk="1" hangingPunct="1"/>
            <a:endParaRPr lang="es-ES_tradnl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561882" y="980728"/>
            <a:ext cx="8001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QUERY</a:t>
            </a:r>
            <a:r>
              <a:rPr lang="es-ES_tradnl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(f)</a:t>
            </a:r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:</a:t>
            </a:r>
            <a:r>
              <a:rPr lang="es-ES_tradnl" sz="2400" dirty="0">
                <a:latin typeface="Times New Roman" panose="02020603050405020304" pitchFamily="18" charset="0"/>
              </a:rPr>
              <a:t> Número total de </a:t>
            </a:r>
            <a:r>
              <a:rPr lang="es-ES_tradnl" sz="2400" i="1" dirty="0">
                <a:latin typeface="Times New Roman" panose="02020603050405020304" pitchFamily="18" charset="0"/>
              </a:rPr>
              <a:t>buffers</a:t>
            </a:r>
            <a:r>
              <a:rPr lang="es-ES_tradnl" sz="2400" dirty="0">
                <a:latin typeface="Times New Roman" panose="02020603050405020304" pitchFamily="18" charset="0"/>
              </a:rPr>
              <a:t> leídos para las sentencias SELECT. Se les denomina </a:t>
            </a:r>
            <a:r>
              <a:rPr lang="es-ES_tradnl" sz="2400" i="1" dirty="0">
                <a:latin typeface="Times New Roman" panose="02020603050405020304" pitchFamily="18" charset="0"/>
              </a:rPr>
              <a:t>buffers</a:t>
            </a:r>
            <a:r>
              <a:rPr lang="es-ES_tradnl" sz="2400" dirty="0">
                <a:latin typeface="Times New Roman" panose="02020603050405020304" pitchFamily="18" charset="0"/>
              </a:rPr>
              <a:t> leídos en modo consistente (</a:t>
            </a:r>
            <a:r>
              <a:rPr lang="es-ES_tradnl" sz="2400" i="1" dirty="0" err="1">
                <a:latin typeface="Times New Roman" panose="02020603050405020304" pitchFamily="18" charset="0"/>
              </a:rPr>
              <a:t>consistent</a:t>
            </a:r>
            <a:r>
              <a:rPr lang="es-ES_tradnl" sz="2400" i="1" dirty="0">
                <a:latin typeface="Times New Roman" panose="02020603050405020304" pitchFamily="18" charset="0"/>
              </a:rPr>
              <a:t> </a:t>
            </a:r>
            <a:r>
              <a:rPr lang="es-ES_tradnl" sz="2400" i="1" dirty="0" err="1">
                <a:latin typeface="Times New Roman" panose="02020603050405020304" pitchFamily="18" charset="0"/>
              </a:rPr>
              <a:t>mode</a:t>
            </a:r>
            <a:r>
              <a:rPr lang="es-ES_tradnl" sz="2400" dirty="0">
                <a:latin typeface="Times New Roman" panose="02020603050405020304" pitchFamily="18" charset="0"/>
              </a:rPr>
              <a:t>).</a:t>
            </a:r>
            <a:endParaRPr lang="es-ES_tradnl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endParaRPr lang="es-ES_tradnl" sz="2400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CURRENT</a:t>
            </a:r>
            <a:r>
              <a:rPr lang="es-ES_tradnl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(g)</a:t>
            </a:r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:</a:t>
            </a:r>
            <a:r>
              <a:rPr lang="es-ES_tradnl" sz="2400" dirty="0">
                <a:latin typeface="Times New Roman" panose="02020603050405020304" pitchFamily="18" charset="0"/>
              </a:rPr>
              <a:t> Número total de </a:t>
            </a:r>
            <a:r>
              <a:rPr lang="es-ES_tradnl" sz="2400" i="1" dirty="0">
                <a:latin typeface="Times New Roman" panose="02020603050405020304" pitchFamily="18" charset="0"/>
              </a:rPr>
              <a:t>buffers</a:t>
            </a:r>
            <a:r>
              <a:rPr lang="es-ES_tradnl" sz="2400" dirty="0">
                <a:latin typeface="Times New Roman" panose="02020603050405020304" pitchFamily="18" charset="0"/>
              </a:rPr>
              <a:t> leídos para las sentencias que implican modificaciones (UPDATE, DELETE e INSERT). Se les denomina </a:t>
            </a:r>
            <a:r>
              <a:rPr lang="es-ES_tradnl" sz="2400" i="1" dirty="0">
                <a:latin typeface="Times New Roman" panose="02020603050405020304" pitchFamily="18" charset="0"/>
              </a:rPr>
              <a:t>buffers</a:t>
            </a:r>
            <a:r>
              <a:rPr lang="es-ES_tradnl" sz="2400" dirty="0">
                <a:latin typeface="Times New Roman" panose="02020603050405020304" pitchFamily="18" charset="0"/>
              </a:rPr>
              <a:t> leídos en modo </a:t>
            </a:r>
            <a:r>
              <a:rPr lang="es-ES_tradnl" sz="2400" i="1" dirty="0">
                <a:latin typeface="Times New Roman" panose="02020603050405020304" pitchFamily="18" charset="0"/>
              </a:rPr>
              <a:t>current</a:t>
            </a:r>
            <a:r>
              <a:rPr lang="es-ES_tradnl" sz="2400" dirty="0" smtClean="0">
                <a:latin typeface="Times New Roman" panose="02020603050405020304" pitchFamily="18" charset="0"/>
              </a:rPr>
              <a:t>.</a:t>
            </a:r>
            <a:r>
              <a:rPr lang="es-ES_tradnl" sz="2400" dirty="0" smtClean="0">
                <a:solidFill>
                  <a:srgbClr val="00B050"/>
                </a:solidFill>
                <a:latin typeface="Times New Roman" panose="02020603050405020304" pitchFamily="18" charset="0"/>
              </a:rPr>
              <a:t>*</a:t>
            </a:r>
            <a:endParaRPr lang="es-ES_tradnl" sz="2400" dirty="0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endParaRPr lang="es-CO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endParaRPr lang="es-ES_tradnl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endParaRPr lang="es-ES_tradnl" sz="2400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es-ES_tradnl" sz="2400" dirty="0" err="1">
                <a:solidFill>
                  <a:srgbClr val="003399"/>
                </a:solidFill>
                <a:latin typeface="Times New Roman" panose="02020603050405020304" pitchFamily="18" charset="0"/>
              </a:rPr>
              <a:t>Rows</a:t>
            </a:r>
            <a:r>
              <a:rPr lang="es-ES_tradnl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(h)</a:t>
            </a:r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:</a:t>
            </a:r>
            <a:r>
              <a:rPr lang="es-ES_tradnl" sz="2400" dirty="0">
                <a:latin typeface="Times New Roman" panose="02020603050405020304" pitchFamily="18" charset="0"/>
              </a:rPr>
              <a:t> Número total de filas procesadas. Para las sentencias </a:t>
            </a:r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SELECT</a:t>
            </a:r>
            <a:r>
              <a:rPr lang="es-ES_tradnl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s-ES_tradnl" sz="2400" dirty="0">
                <a:latin typeface="Times New Roman" panose="02020603050405020304" pitchFamily="18" charset="0"/>
              </a:rPr>
              <a:t>aplica para la fase de </a:t>
            </a:r>
            <a:r>
              <a:rPr lang="es-ES_tradnl" sz="2400" i="1" dirty="0" err="1">
                <a:latin typeface="Times New Roman" panose="02020603050405020304" pitchFamily="18" charset="0"/>
              </a:rPr>
              <a:t>fetch</a:t>
            </a:r>
            <a:r>
              <a:rPr lang="es-ES_tradnl" sz="2400" dirty="0">
                <a:latin typeface="Times New Roman" panose="02020603050405020304" pitchFamily="18" charset="0"/>
              </a:rPr>
              <a:t>. Para las sentencias </a:t>
            </a:r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UPDATE, DELETE, </a:t>
            </a:r>
            <a:r>
              <a:rPr lang="es-ES_tradnl" sz="2400" dirty="0">
                <a:latin typeface="Times New Roman" panose="02020603050405020304" pitchFamily="18" charset="0"/>
              </a:rPr>
              <a:t>e</a:t>
            </a:r>
            <a:r>
              <a:rPr lang="es-ES_tradnl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 INSERT</a:t>
            </a:r>
            <a:r>
              <a:rPr lang="es-ES_tradnl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s-ES_tradnl" sz="2400" dirty="0">
                <a:latin typeface="Times New Roman" panose="02020603050405020304" pitchFamily="18" charset="0"/>
              </a:rPr>
              <a:t>aplica para la fase de ejecución. (No se incluyen filas procesadas por </a:t>
            </a:r>
            <a:r>
              <a:rPr lang="es-ES_tradnl" sz="2400" dirty="0" err="1">
                <a:latin typeface="Times New Roman" panose="02020603050405020304" pitchFamily="18" charset="0"/>
              </a:rPr>
              <a:t>subconsultas</a:t>
            </a:r>
            <a:r>
              <a:rPr lang="es-ES_tradnl" sz="2400" dirty="0">
                <a:latin typeface="Times New Roman" panose="02020603050405020304" pitchFamily="18" charset="0"/>
              </a:rPr>
              <a:t>).</a:t>
            </a:r>
          </a:p>
        </p:txBody>
      </p:sp>
      <p:sp>
        <p:nvSpPr>
          <p:cNvPr id="19459" name="Text Box 2"/>
          <p:cNvSpPr txBox="1">
            <a:spLocks noChangeArrowheads="1"/>
          </p:cNvSpPr>
          <p:nvPr/>
        </p:nvSpPr>
        <p:spPr bwMode="auto">
          <a:xfrm>
            <a:off x="530175" y="3789040"/>
            <a:ext cx="8137525" cy="8318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_tradnl" sz="2400" dirty="0">
                <a:latin typeface="Times New Roman" panose="02020603050405020304" pitchFamily="18" charset="0"/>
              </a:rPr>
              <a:t>La suma de los totales de </a:t>
            </a:r>
            <a:r>
              <a:rPr lang="es-ES_tradnl" sz="2400" dirty="0" err="1">
                <a:solidFill>
                  <a:srgbClr val="003399"/>
                </a:solidFill>
                <a:latin typeface="Times New Roman" panose="02020603050405020304" pitchFamily="18" charset="0"/>
              </a:rPr>
              <a:t>query</a:t>
            </a:r>
            <a:r>
              <a:rPr lang="es-ES_tradnl" sz="2400" dirty="0">
                <a:latin typeface="Times New Roman" panose="02020603050405020304" pitchFamily="18" charset="0"/>
              </a:rPr>
              <a:t> y </a:t>
            </a:r>
            <a:r>
              <a:rPr lang="es-ES_tradnl" sz="2400" dirty="0" err="1">
                <a:solidFill>
                  <a:srgbClr val="003399"/>
                </a:solidFill>
                <a:latin typeface="Times New Roman" panose="02020603050405020304" pitchFamily="18" charset="0"/>
              </a:rPr>
              <a:t>current</a:t>
            </a:r>
            <a:r>
              <a:rPr lang="es-ES_tradnl" sz="2400" dirty="0">
                <a:latin typeface="Times New Roman" panose="02020603050405020304" pitchFamily="18" charset="0"/>
              </a:rPr>
              <a:t> </a:t>
            </a:r>
            <a:r>
              <a:rPr lang="es-ES_tradnl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(f)</a:t>
            </a:r>
            <a:r>
              <a:rPr lang="es-ES_tradnl" sz="2400" dirty="0">
                <a:latin typeface="Times New Roman" panose="02020603050405020304" pitchFamily="18" charset="0"/>
              </a:rPr>
              <a:t> + </a:t>
            </a:r>
            <a:r>
              <a:rPr lang="es-ES_tradnl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(g)</a:t>
            </a:r>
            <a:r>
              <a:rPr lang="es-ES_tradnl" sz="2400" dirty="0">
                <a:latin typeface="Times New Roman" panose="02020603050405020304" pitchFamily="18" charset="0"/>
              </a:rPr>
              <a:t> es el total de </a:t>
            </a:r>
            <a:r>
              <a:rPr lang="es-ES_tradnl" sz="2400" i="1" dirty="0">
                <a:latin typeface="Times New Roman" panose="02020603050405020304" pitchFamily="18" charset="0"/>
              </a:rPr>
              <a:t>buffers</a:t>
            </a:r>
            <a:r>
              <a:rPr lang="es-ES_tradnl" sz="2400" dirty="0">
                <a:latin typeface="Times New Roman" panose="02020603050405020304" pitchFamily="18" charset="0"/>
              </a:rPr>
              <a:t> leídos y se les suele llamar </a:t>
            </a:r>
            <a:r>
              <a:rPr lang="es-ES_tradnl" sz="2400" i="1" dirty="0" err="1">
                <a:latin typeface="Times New Roman" panose="02020603050405020304" pitchFamily="18" charset="0"/>
              </a:rPr>
              <a:t>LIOs</a:t>
            </a:r>
            <a:r>
              <a:rPr lang="es-ES_tradnl" sz="2400" dirty="0">
                <a:latin typeface="Times New Roman" panose="02020603050405020304" pitchFamily="18" charset="0"/>
              </a:rPr>
              <a:t> (</a:t>
            </a:r>
            <a:r>
              <a:rPr lang="es-ES_tradnl" sz="2400" i="1" dirty="0" err="1">
                <a:latin typeface="Times New Roman" panose="02020603050405020304" pitchFamily="18" charset="0"/>
              </a:rPr>
              <a:t>logical</a:t>
            </a:r>
            <a:r>
              <a:rPr lang="es-ES_tradnl" sz="2400" i="1" dirty="0">
                <a:latin typeface="Times New Roman" panose="02020603050405020304" pitchFamily="18" charset="0"/>
              </a:rPr>
              <a:t> I/Os</a:t>
            </a:r>
            <a:r>
              <a:rPr lang="es-ES_tradnl" sz="2400" dirty="0">
                <a:latin typeface="Times New Roman" panose="02020603050405020304" pitchFamily="18" charset="0"/>
              </a:rPr>
              <a:t>).</a:t>
            </a:r>
            <a:endParaRPr lang="es-CO" sz="2400" dirty="0">
              <a:latin typeface="Times New Roman" panose="02020603050405020304" pitchFamily="18" charset="0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251520" y="6381328"/>
            <a:ext cx="8359080" cy="46166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rgbClr val="00B050"/>
                </a:solidFill>
              </a:rPr>
              <a:t>*</a:t>
            </a:r>
            <a:r>
              <a:rPr lang="es-ES" dirty="0" smtClean="0"/>
              <a:t> En un SELECT pueden ocurrir (lecturas del estado actual del dicc. de datos)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3"/>
          <p:cNvSpPr txBox="1">
            <a:spLocks noChangeArrowheads="1"/>
          </p:cNvSpPr>
          <p:nvPr/>
        </p:nvSpPr>
        <p:spPr bwMode="auto">
          <a:xfrm>
            <a:off x="3006725" y="2665413"/>
            <a:ext cx="3016250" cy="460375"/>
          </a:xfrm>
          <a:prstGeom prst="rect">
            <a:avLst/>
          </a:prstGeom>
          <a:noFill/>
          <a:ln w="3175">
            <a:solidFill>
              <a:srgbClr val="00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sz="2400" b="1">
                <a:solidFill>
                  <a:srgbClr val="A50021"/>
                </a:solidFill>
                <a:latin typeface="Times New Roman" panose="02020603050405020304" pitchFamily="18" charset="0"/>
              </a:rPr>
              <a:t>Tasas de Importancia</a:t>
            </a:r>
            <a:endParaRPr lang="es-ES_tradnl" sz="2400">
              <a:latin typeface="Times New Roman" panose="02020603050405020304" pitchFamily="18" charset="0"/>
            </a:endParaRPr>
          </a:p>
        </p:txBody>
      </p:sp>
      <p:sp>
        <p:nvSpPr>
          <p:cNvPr id="20483" name="Text Box 4"/>
          <p:cNvSpPr txBox="1">
            <a:spLocks noChangeArrowheads="1"/>
          </p:cNvSpPr>
          <p:nvPr/>
        </p:nvSpPr>
        <p:spPr bwMode="auto">
          <a:xfrm>
            <a:off x="590550" y="3500438"/>
            <a:ext cx="7848600" cy="249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1. </a:t>
            </a:r>
            <a:r>
              <a:rPr lang="es-ES_tradnl" sz="2400" dirty="0" err="1">
                <a:solidFill>
                  <a:srgbClr val="A50021"/>
                </a:solidFill>
                <a:latin typeface="Times New Roman" panose="02020603050405020304" pitchFamily="18" charset="0"/>
              </a:rPr>
              <a:t>LIOs</a:t>
            </a:r>
            <a:r>
              <a:rPr lang="es-ES_tradnl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 (</a:t>
            </a:r>
            <a:r>
              <a:rPr lang="es-ES_tradnl" sz="2400" dirty="0" err="1">
                <a:solidFill>
                  <a:srgbClr val="A50021"/>
                </a:solidFill>
                <a:latin typeface="Times New Roman" panose="02020603050405020304" pitchFamily="18" charset="0"/>
              </a:rPr>
              <a:t>f+g</a:t>
            </a:r>
            <a:r>
              <a:rPr lang="es-ES_tradnl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) sobre filas procesadas (h). </a:t>
            </a:r>
            <a:r>
              <a:rPr lang="es-ES_tradnl" sz="2400" dirty="0">
                <a:latin typeface="Times New Roman" panose="02020603050405020304" pitchFamily="18" charset="0"/>
              </a:rPr>
              <a:t>Indica, de manera general, el costo relativo de la consulta. Mientras más </a:t>
            </a:r>
            <a:r>
              <a:rPr lang="es-ES_tradnl" sz="2400" i="1" dirty="0">
                <a:latin typeface="Times New Roman" panose="02020603050405020304" pitchFamily="18" charset="0"/>
              </a:rPr>
              <a:t>buffers</a:t>
            </a:r>
            <a:r>
              <a:rPr lang="es-ES_tradnl" sz="2400" dirty="0">
                <a:latin typeface="Times New Roman" panose="02020603050405020304" pitchFamily="18" charset="0"/>
              </a:rPr>
              <a:t> tienen que ser accedidos </a:t>
            </a:r>
            <a:r>
              <a:rPr lang="es-ES_tradnl" sz="2400" dirty="0" smtClean="0">
                <a:latin typeface="Times New Roman" panose="02020603050405020304" pitchFamily="18" charset="0"/>
              </a:rPr>
              <a:t>con </a:t>
            </a:r>
            <a:r>
              <a:rPr lang="es-ES_tradnl" sz="2400" dirty="0">
                <a:latin typeface="Times New Roman" panose="02020603050405020304" pitchFamily="18" charset="0"/>
              </a:rPr>
              <a:t>relación </a:t>
            </a:r>
            <a:r>
              <a:rPr lang="es-ES_tradnl" sz="2400" dirty="0" smtClean="0">
                <a:latin typeface="Times New Roman" panose="02020603050405020304" pitchFamily="18" charset="0"/>
              </a:rPr>
              <a:t>a </a:t>
            </a:r>
            <a:r>
              <a:rPr lang="es-ES_tradnl" sz="2400" dirty="0">
                <a:latin typeface="Times New Roman" panose="02020603050405020304" pitchFamily="18" charset="0"/>
              </a:rPr>
              <a:t>las filas retornadas, la fila retornada será mucho más costosa.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ES_tradnl" sz="2400" dirty="0">
                <a:latin typeface="Times New Roman" panose="02020603050405020304" pitchFamily="18" charset="0"/>
              </a:rPr>
              <a:t>Tasas por encima de 10 o 20, pueden indicar alguna posibilidad de optimización en </a:t>
            </a:r>
            <a:r>
              <a:rPr lang="es-ES_tradnl" sz="2400" dirty="0" smtClean="0">
                <a:latin typeface="Times New Roman" panose="02020603050405020304" pitchFamily="18" charset="0"/>
              </a:rPr>
              <a:t>esta tasa.</a:t>
            </a:r>
            <a:endParaRPr lang="es-ES_tradnl" sz="2400" dirty="0">
              <a:latin typeface="Times New Roman" panose="02020603050405020304" pitchFamily="18" charset="0"/>
            </a:endParaRPr>
          </a:p>
        </p:txBody>
      </p:sp>
      <p:sp>
        <p:nvSpPr>
          <p:cNvPr id="20484" name="Text Box 5"/>
          <p:cNvSpPr txBox="1">
            <a:spLocks noChangeArrowheads="1"/>
          </p:cNvSpPr>
          <p:nvPr/>
        </p:nvSpPr>
        <p:spPr bwMode="auto">
          <a:xfrm>
            <a:off x="558800" y="1341438"/>
            <a:ext cx="79533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_tradnl" sz="2400">
                <a:latin typeface="Times New Roman" panose="02020603050405020304" pitchFamily="18" charset="0"/>
              </a:rPr>
              <a:t>Se pasa entonces a analizar algunas tasas que ayudarán a determinar que consultas SQL necesitan ser optimizadas.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5"/>
          <p:cNvSpPr txBox="1">
            <a:spLocks noChangeArrowheads="1"/>
          </p:cNvSpPr>
          <p:nvPr/>
        </p:nvSpPr>
        <p:spPr bwMode="auto">
          <a:xfrm>
            <a:off x="433388" y="1557338"/>
            <a:ext cx="8099425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2. </a:t>
            </a:r>
            <a:r>
              <a:rPr lang="es-ES_tradnl" sz="2400" i="1" dirty="0" err="1">
                <a:solidFill>
                  <a:srgbClr val="A50021"/>
                </a:solidFill>
                <a:latin typeface="Times New Roman" panose="02020603050405020304" pitchFamily="18" charset="0"/>
              </a:rPr>
              <a:t>Parsing</a:t>
            </a:r>
            <a:r>
              <a:rPr lang="es-ES_tradnl" sz="2400" dirty="0">
                <a:solidFill>
                  <a:srgbClr val="A50021"/>
                </a:solidFill>
                <a:latin typeface="Times New Roman" panose="02020603050405020304" pitchFamily="18" charset="0"/>
              </a:rPr>
              <a:t> (d) sobre ejecución (e). </a:t>
            </a:r>
            <a:r>
              <a:rPr lang="es-ES_tradnl" sz="2400" dirty="0">
                <a:latin typeface="Times New Roman" panose="02020603050405020304" pitchFamily="18" charset="0"/>
              </a:rPr>
              <a:t>Idealmente, el conteo de </a:t>
            </a:r>
            <a:r>
              <a:rPr lang="es-ES_tradnl" sz="2400" i="1" dirty="0" err="1">
                <a:latin typeface="Times New Roman" panose="02020603050405020304" pitchFamily="18" charset="0"/>
              </a:rPr>
              <a:t>parsing</a:t>
            </a:r>
            <a:r>
              <a:rPr lang="es-ES_tradnl" sz="2400" dirty="0">
                <a:latin typeface="Times New Roman" panose="02020603050405020304" pitchFamily="18" charset="0"/>
              </a:rPr>
              <a:t> debe ser cercano a uno. Si este valor es alto </a:t>
            </a:r>
            <a:r>
              <a:rPr lang="es-ES_tradnl" sz="2400" dirty="0" smtClean="0">
                <a:latin typeface="Times New Roman" panose="02020603050405020304" pitchFamily="18" charset="0"/>
              </a:rPr>
              <a:t>con </a:t>
            </a:r>
            <a:r>
              <a:rPr lang="es-ES_tradnl" sz="2400" dirty="0">
                <a:latin typeface="Times New Roman" panose="02020603050405020304" pitchFamily="18" charset="0"/>
              </a:rPr>
              <a:t>relación </a:t>
            </a:r>
            <a:r>
              <a:rPr lang="es-ES_tradnl" sz="2400" dirty="0" smtClean="0">
                <a:latin typeface="Times New Roman" panose="02020603050405020304" pitchFamily="18" charset="0"/>
              </a:rPr>
              <a:t>al conteo </a:t>
            </a:r>
            <a:r>
              <a:rPr lang="es-ES_tradnl" sz="2400" dirty="0">
                <a:latin typeface="Times New Roman" panose="02020603050405020304" pitchFamily="18" charset="0"/>
              </a:rPr>
              <a:t>de ejecuciones, la sentencia ha sido analizada sintácticamente varias veces innecesariamente</a:t>
            </a:r>
            <a:r>
              <a:rPr lang="es-ES_tradnl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*</a:t>
            </a:r>
            <a:r>
              <a:rPr lang="es-ES_tradnl" sz="2400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1507" name="Text Box 6"/>
          <p:cNvSpPr txBox="1">
            <a:spLocks noChangeArrowheads="1"/>
          </p:cNvSpPr>
          <p:nvPr/>
        </p:nvSpPr>
        <p:spPr bwMode="auto">
          <a:xfrm>
            <a:off x="427038" y="3127375"/>
            <a:ext cx="8105775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sz="2400">
                <a:solidFill>
                  <a:srgbClr val="A50021"/>
                </a:solidFill>
                <a:latin typeface="Times New Roman" panose="02020603050405020304" pitchFamily="18" charset="0"/>
              </a:rPr>
              <a:t>3. Filas retornadas (i) sobre traídas</a:t>
            </a:r>
            <a:r>
              <a:rPr lang="es-ES_tradnl" sz="2400">
                <a:solidFill>
                  <a:srgbClr val="00B050"/>
                </a:solidFill>
                <a:latin typeface="Times New Roman" panose="02020603050405020304" pitchFamily="18" charset="0"/>
              </a:rPr>
              <a:t>**</a:t>
            </a:r>
            <a:r>
              <a:rPr lang="es-ES_tradnl" sz="2400">
                <a:solidFill>
                  <a:srgbClr val="A50021"/>
                </a:solidFill>
                <a:latin typeface="Times New Roman" panose="02020603050405020304" pitchFamily="18" charset="0"/>
              </a:rPr>
              <a:t> (</a:t>
            </a:r>
            <a:r>
              <a:rPr lang="es-ES_tradnl" sz="2400" i="1">
                <a:solidFill>
                  <a:srgbClr val="A50021"/>
                </a:solidFill>
                <a:latin typeface="Times New Roman" panose="02020603050405020304" pitchFamily="18" charset="0"/>
              </a:rPr>
              <a:t>fetches</a:t>
            </a:r>
            <a:r>
              <a:rPr lang="es-ES_tradnl" sz="2400">
                <a:solidFill>
                  <a:srgbClr val="A50021"/>
                </a:solidFill>
                <a:latin typeface="Times New Roman" panose="02020603050405020304" pitchFamily="18" charset="0"/>
              </a:rPr>
              <a:t>) (j) </a:t>
            </a:r>
            <a:r>
              <a:rPr lang="es-ES_tradnl" sz="2400">
                <a:latin typeface="Times New Roman" panose="02020603050405020304" pitchFamily="18" charset="0"/>
              </a:rPr>
              <a:t>Indica el nivel en el que el </a:t>
            </a:r>
            <a:r>
              <a:rPr lang="es-ES_tradnl" sz="2400" i="1">
                <a:latin typeface="Times New Roman" panose="02020603050405020304" pitchFamily="18" charset="0"/>
              </a:rPr>
              <a:t>array fetch</a:t>
            </a:r>
            <a:r>
              <a:rPr lang="es-ES_tradnl" sz="2400">
                <a:latin typeface="Times New Roman" panose="02020603050405020304" pitchFamily="18" charset="0"/>
              </a:rPr>
              <a:t> ha sido usado. Una tasa cercana a uno indica que hubo poco procesamiento a través de </a:t>
            </a:r>
            <a:r>
              <a:rPr lang="es-ES_tradnl" sz="2400" i="1">
                <a:latin typeface="Times New Roman" panose="02020603050405020304" pitchFamily="18" charset="0"/>
              </a:rPr>
              <a:t>arrays</a:t>
            </a:r>
            <a:r>
              <a:rPr lang="es-ES_tradnl" sz="2400">
                <a:latin typeface="Times New Roman" panose="02020603050405020304" pitchFamily="18" charset="0"/>
              </a:rPr>
              <a:t>, lo que significa una posibilidad para optimizar este aspecto.</a:t>
            </a:r>
          </a:p>
          <a:p>
            <a:pPr eaLnBrk="1" hangingPunct="1">
              <a:spcBef>
                <a:spcPct val="50000"/>
              </a:spcBef>
            </a:pPr>
            <a:r>
              <a:rPr lang="es-CO" sz="2000">
                <a:solidFill>
                  <a:srgbClr val="00B050"/>
                </a:solidFill>
                <a:latin typeface="Times New Roman" panose="02020603050405020304" pitchFamily="18" charset="0"/>
              </a:rPr>
              <a:t>* </a:t>
            </a:r>
            <a:r>
              <a:rPr lang="es-CO" sz="2000"/>
              <a:t>Posibles causas: no uso de </a:t>
            </a:r>
            <a:r>
              <a:rPr lang="es-CO" sz="2000" i="1"/>
              <a:t>bind variables</a:t>
            </a:r>
            <a:r>
              <a:rPr lang="es-CO" sz="2000"/>
              <a:t>, pobre reuso de cursores.</a:t>
            </a:r>
            <a:endParaRPr lang="es-ES_tradnl" sz="2000"/>
          </a:p>
          <a:p>
            <a:pPr eaLnBrk="1" hangingPunct="1">
              <a:spcBef>
                <a:spcPct val="50000"/>
              </a:spcBef>
            </a:pPr>
            <a:r>
              <a:rPr lang="es-ES_tradnl" sz="2000">
                <a:solidFill>
                  <a:srgbClr val="00B050"/>
                </a:solidFill>
                <a:latin typeface="Times New Roman" panose="02020603050405020304" pitchFamily="18" charset="0"/>
              </a:rPr>
              <a:t>** </a:t>
            </a:r>
            <a:r>
              <a:rPr lang="es-ES_tradnl" sz="2000"/>
              <a:t>En cada traída (</a:t>
            </a:r>
            <a:r>
              <a:rPr lang="es-ES_tradnl" sz="2000" i="1"/>
              <a:t>fetch</a:t>
            </a:r>
            <a:r>
              <a:rPr lang="es-ES_tradnl" sz="2000"/>
              <a:t>) se recuperan múltiples filas usando un “</a:t>
            </a:r>
            <a:r>
              <a:rPr lang="es-ES_tradnl" sz="2000" i="1"/>
              <a:t>array fetch</a:t>
            </a:r>
            <a:r>
              <a:rPr lang="es-ES_tradnl" sz="2000"/>
              <a:t>”. Se debe buscar un valor adecuado para él dependiendo de las características del sistema. Ver </a:t>
            </a:r>
            <a:r>
              <a:rPr lang="es-ES_tradnl" sz="2000">
                <a:hlinkClick r:id="rId3"/>
              </a:rPr>
              <a:t>Adjusting Array Size in SQL*Plus</a:t>
            </a:r>
            <a:r>
              <a:rPr lang="es-ES_tradnl" sz="2000"/>
              <a:t>.  </a:t>
            </a:r>
            <a:r>
              <a:rPr lang="es-ES_tradnl" sz="2000">
                <a:solidFill>
                  <a:srgbClr val="0066FF"/>
                </a:solidFill>
              </a:rPr>
              <a:t>SET ARRAYSIZE n (n entre 1 y 5000)</a:t>
            </a:r>
            <a:endParaRPr lang="es-ES_tradnl" sz="200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2971800" y="692150"/>
            <a:ext cx="3016250" cy="460375"/>
          </a:xfrm>
          <a:prstGeom prst="rect">
            <a:avLst/>
          </a:prstGeom>
          <a:noFill/>
          <a:ln w="3175">
            <a:solidFill>
              <a:srgbClr val="00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sz="2400" b="1">
                <a:solidFill>
                  <a:srgbClr val="A50021"/>
                </a:solidFill>
                <a:latin typeface="Times New Roman" panose="02020603050405020304" pitchFamily="18" charset="0"/>
              </a:rPr>
              <a:t>Tasas de Importancia</a:t>
            </a:r>
            <a:endParaRPr lang="es-ES_tradnl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5"/>
          <p:cNvSpPr txBox="1">
            <a:spLocks noChangeArrowheads="1"/>
          </p:cNvSpPr>
          <p:nvPr/>
        </p:nvSpPr>
        <p:spPr bwMode="auto">
          <a:xfrm>
            <a:off x="762000" y="1844675"/>
            <a:ext cx="78486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sz="2400">
                <a:solidFill>
                  <a:srgbClr val="A50021"/>
                </a:solidFill>
                <a:latin typeface="Times New Roman" panose="02020603050405020304" pitchFamily="18" charset="0"/>
              </a:rPr>
              <a:t>4. Lecturas de disco (k) sobre LIOs (f+g). </a:t>
            </a:r>
            <a:r>
              <a:rPr lang="es-ES_tradnl" sz="2400">
                <a:latin typeface="Times New Roman" panose="02020603050405020304" pitchFamily="18" charset="0"/>
              </a:rPr>
              <a:t>Esta es una medida de la tasa de error (</a:t>
            </a:r>
            <a:r>
              <a:rPr lang="es-ES_tradnl" sz="2400" i="1">
                <a:solidFill>
                  <a:srgbClr val="003399"/>
                </a:solidFill>
                <a:latin typeface="Times New Roman" panose="02020603050405020304" pitchFamily="18" charset="0"/>
              </a:rPr>
              <a:t>miss rate</a:t>
            </a:r>
            <a:r>
              <a:rPr lang="es-ES_tradnl" sz="2400">
                <a:latin typeface="Times New Roman" panose="02020603050405020304" pitchFamily="18" charset="0"/>
              </a:rPr>
              <a:t>) dentro del </a:t>
            </a:r>
            <a:r>
              <a:rPr lang="es-ES_tradnl" sz="2400" i="1">
                <a:latin typeface="Times New Roman" panose="02020603050405020304" pitchFamily="18" charset="0"/>
              </a:rPr>
              <a:t>buffer</a:t>
            </a:r>
            <a:r>
              <a:rPr lang="es-ES_tradnl" sz="2400">
                <a:latin typeface="Times New Roman" panose="02020603050405020304" pitchFamily="18" charset="0"/>
              </a:rPr>
              <a:t> de datos en la cache. Usualmente, se busca que esta tasa esté por debajo de 10%. </a:t>
            </a:r>
          </a:p>
        </p:txBody>
      </p:sp>
      <p:sp>
        <p:nvSpPr>
          <p:cNvPr id="22531" name="Text Box 6"/>
          <p:cNvSpPr txBox="1">
            <a:spLocks noChangeArrowheads="1"/>
          </p:cNvSpPr>
          <p:nvPr/>
        </p:nvSpPr>
        <p:spPr bwMode="auto">
          <a:xfrm>
            <a:off x="784225" y="3573463"/>
            <a:ext cx="7772400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sz="2400">
                <a:latin typeface="Times New Roman" panose="02020603050405020304" pitchFamily="18" charset="0"/>
              </a:rPr>
              <a:t>Para mejorar algunas de las tasas se puede usar </a:t>
            </a:r>
            <a:r>
              <a:rPr lang="es-ES_tradnl" sz="2400">
                <a:solidFill>
                  <a:srgbClr val="0066FF"/>
                </a:solidFill>
                <a:latin typeface="Times New Roman" panose="02020603050405020304" pitchFamily="18" charset="0"/>
              </a:rPr>
              <a:t>reescritura de las sentencias</a:t>
            </a:r>
            <a:r>
              <a:rPr lang="es-ES_tradnl" sz="2400">
                <a:latin typeface="Times New Roman" panose="02020603050405020304" pitchFamily="18" charset="0"/>
              </a:rPr>
              <a:t>, índices, </a:t>
            </a:r>
            <a:r>
              <a:rPr lang="es-ES_tradnl" sz="2400" i="1">
                <a:latin typeface="Times New Roman" panose="02020603050405020304" pitchFamily="18" charset="0"/>
              </a:rPr>
              <a:t>bind variables</a:t>
            </a:r>
            <a:r>
              <a:rPr lang="es-ES_tradnl" sz="2400">
                <a:latin typeface="Times New Roman" panose="02020603050405020304" pitchFamily="18" charset="0"/>
              </a:rPr>
              <a:t>, reuso de cursores, ajuste del </a:t>
            </a:r>
            <a:r>
              <a:rPr lang="es-ES_tradnl" sz="2400" i="1">
                <a:latin typeface="Times New Roman" panose="02020603050405020304" pitchFamily="18" charset="0"/>
              </a:rPr>
              <a:t>array fetch</a:t>
            </a:r>
            <a:r>
              <a:rPr lang="es-ES_tradnl" sz="2400">
                <a:latin typeface="Times New Roman" panose="02020603050405020304" pitchFamily="18" charset="0"/>
              </a:rPr>
              <a:t>, afinamiento de diversos parámetros del servidor de la base de datos, entre otros aspectos que van más allá de esta introducción… </a:t>
            </a:r>
            <a:endParaRPr lang="es-ES" sz="2400">
              <a:latin typeface="Times New Roman" panose="02020603050405020304" pitchFamily="18" charset="0"/>
            </a:endParaRPr>
          </a:p>
        </p:txBody>
      </p:sp>
      <p:sp>
        <p:nvSpPr>
          <p:cNvPr id="22532" name="Text Box 3"/>
          <p:cNvSpPr txBox="1">
            <a:spLocks noChangeArrowheads="1"/>
          </p:cNvSpPr>
          <p:nvPr/>
        </p:nvSpPr>
        <p:spPr bwMode="auto">
          <a:xfrm>
            <a:off x="2124075" y="5648325"/>
            <a:ext cx="5689600" cy="830263"/>
          </a:xfrm>
          <a:prstGeom prst="rect">
            <a:avLst/>
          </a:prstGeom>
          <a:solidFill>
            <a:schemeClr val="accent1"/>
          </a:solidFill>
          <a:ln w="3175">
            <a:solidFill>
              <a:srgbClr val="00339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sz="2400" b="1">
                <a:solidFill>
                  <a:srgbClr val="A50021"/>
                </a:solidFill>
                <a:latin typeface="Times New Roman" panose="02020603050405020304" pitchFamily="18" charset="0"/>
              </a:rPr>
              <a:t>Recuerde: TKPROF indica donde puede haber un problema, </a:t>
            </a:r>
            <a:r>
              <a:rPr lang="es-ES_tradnl" sz="2400" b="1" u="sng">
                <a:solidFill>
                  <a:srgbClr val="A50021"/>
                </a:solidFill>
                <a:latin typeface="Times New Roman" panose="02020603050405020304" pitchFamily="18" charset="0"/>
              </a:rPr>
              <a:t>no cómo solucionarlo</a:t>
            </a:r>
            <a:endParaRPr lang="es-ES_tradnl" sz="2400" u="sng">
              <a:latin typeface="Times New Roman" panose="02020603050405020304" pitchFamily="18" charset="0"/>
            </a:endParaRPr>
          </a:p>
        </p:txBody>
      </p:sp>
      <p:sp>
        <p:nvSpPr>
          <p:cNvPr id="22533" name="Text Box 3"/>
          <p:cNvSpPr txBox="1">
            <a:spLocks noChangeArrowheads="1"/>
          </p:cNvSpPr>
          <p:nvPr/>
        </p:nvSpPr>
        <p:spPr bwMode="auto">
          <a:xfrm>
            <a:off x="2843213" y="908050"/>
            <a:ext cx="3016250" cy="460375"/>
          </a:xfrm>
          <a:prstGeom prst="rect">
            <a:avLst/>
          </a:prstGeom>
          <a:noFill/>
          <a:ln w="3175">
            <a:solidFill>
              <a:srgbClr val="00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sz="2400" b="1">
                <a:solidFill>
                  <a:srgbClr val="A50021"/>
                </a:solidFill>
                <a:latin typeface="Times New Roman" panose="02020603050405020304" pitchFamily="18" charset="0"/>
              </a:rPr>
              <a:t>Tasas de Importancia</a:t>
            </a:r>
            <a:endParaRPr lang="es-ES_tradnl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395288" y="1419225"/>
            <a:ext cx="8105775" cy="470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s-CO" sz="2400" dirty="0" smtClean="0">
                <a:latin typeface="Times New Roman" pitchFamily="18" charset="0"/>
              </a:rPr>
              <a:t>Por ejemplo:</a:t>
            </a:r>
          </a:p>
          <a:p>
            <a:pPr marL="342900" indent="-342900" algn="just" eaLnBrk="1" hangingPunct="1">
              <a:spcBef>
                <a:spcPct val="50000"/>
              </a:spcBef>
              <a:buFontTx/>
              <a:buChar char="-"/>
              <a:defRPr/>
            </a:pPr>
            <a:r>
              <a:rPr lang="es-CO" sz="2400" dirty="0" smtClean="0">
                <a:latin typeface="Times New Roman" pitchFamily="18" charset="0"/>
              </a:rPr>
              <a:t>Si el total de </a:t>
            </a:r>
            <a:r>
              <a:rPr lang="es-CO" sz="2400" i="1" dirty="0" err="1" smtClean="0">
                <a:latin typeface="Times New Roman" pitchFamily="18" charset="0"/>
              </a:rPr>
              <a:t>rows</a:t>
            </a:r>
            <a:r>
              <a:rPr lang="es-CO" sz="2400" dirty="0" smtClean="0">
                <a:latin typeface="Times New Roman" pitchFamily="18" charset="0"/>
              </a:rPr>
              <a:t> </a:t>
            </a:r>
            <a:r>
              <a:rPr lang="es-CO" sz="2400" dirty="0" smtClean="0">
                <a:solidFill>
                  <a:srgbClr val="A50021"/>
                </a:solidFill>
                <a:latin typeface="Times New Roman" pitchFamily="18" charset="0"/>
              </a:rPr>
              <a:t>(h) </a:t>
            </a:r>
            <a:r>
              <a:rPr lang="es-CO" sz="2400" dirty="0" smtClean="0">
                <a:latin typeface="Times New Roman" pitchFamily="18" charset="0"/>
              </a:rPr>
              <a:t>es bajo con relación al total de bloques procesados (</a:t>
            </a:r>
            <a:r>
              <a:rPr lang="es-CO" sz="2400" i="1" dirty="0" err="1" smtClean="0">
                <a:latin typeface="Times New Roman" pitchFamily="18" charset="0"/>
              </a:rPr>
              <a:t>physical</a:t>
            </a:r>
            <a:r>
              <a:rPr lang="es-CO" sz="2400" i="1" dirty="0" smtClean="0">
                <a:latin typeface="Times New Roman" pitchFamily="18" charset="0"/>
              </a:rPr>
              <a:t> </a:t>
            </a:r>
            <a:r>
              <a:rPr lang="es-CO" sz="2400" dirty="0" smtClean="0">
                <a:latin typeface="Times New Roman" pitchFamily="18" charset="0"/>
              </a:rPr>
              <a:t>y </a:t>
            </a:r>
            <a:r>
              <a:rPr lang="es-CO" sz="2400" i="1" dirty="0" err="1" smtClean="0">
                <a:latin typeface="Times New Roman" pitchFamily="18" charset="0"/>
              </a:rPr>
              <a:t>logical</a:t>
            </a:r>
            <a:r>
              <a:rPr lang="es-CO" sz="2400" i="1" dirty="0" smtClean="0">
                <a:latin typeface="Times New Roman" pitchFamily="18" charset="0"/>
              </a:rPr>
              <a:t> I/Os </a:t>
            </a:r>
            <a:r>
              <a:rPr lang="es-ES" sz="2400" dirty="0" smtClean="0">
                <a:solidFill>
                  <a:srgbClr val="A50021"/>
                </a:solidFill>
                <a:latin typeface="Times New Roman" pitchFamily="18" charset="0"/>
              </a:rPr>
              <a:t>(k), (f), (g)</a:t>
            </a:r>
            <a:r>
              <a:rPr lang="es-CO" sz="2400" dirty="0" smtClean="0">
                <a:latin typeface="Times New Roman" pitchFamily="18" charset="0"/>
              </a:rPr>
              <a:t>), esto indica que se leyeron muchos bloques/</a:t>
            </a:r>
            <a:r>
              <a:rPr lang="es-CO" sz="2400" i="1" dirty="0" smtClean="0">
                <a:latin typeface="Times New Roman" pitchFamily="18" charset="0"/>
              </a:rPr>
              <a:t>buffers </a:t>
            </a:r>
            <a:r>
              <a:rPr lang="es-CO" sz="2400" dirty="0" smtClean="0">
                <a:latin typeface="Times New Roman" pitchFamily="18" charset="0"/>
              </a:rPr>
              <a:t>para generar un resultado con pocas filas </a:t>
            </a:r>
            <a:r>
              <a:rPr lang="es-CO" sz="2400" dirty="0" smtClean="0">
                <a:latin typeface="Times New Roman" pitchFamily="18" charset="0"/>
                <a:sym typeface="Wingdings" pitchFamily="2" charset="2"/>
              </a:rPr>
              <a:t> Esto podría sugerir</a:t>
            </a:r>
            <a:r>
              <a:rPr lang="es-ES_tradnl" sz="2400" dirty="0" smtClean="0">
                <a:latin typeface="Times New Roman" pitchFamily="18" charset="0"/>
                <a:sym typeface="Wingdings" pitchFamily="2" charset="2"/>
              </a:rPr>
              <a:t> </a:t>
            </a:r>
            <a:r>
              <a:rPr lang="es-ES_tradnl" sz="2400" dirty="0" smtClean="0">
                <a:latin typeface="Times New Roman" pitchFamily="18" charset="0"/>
              </a:rPr>
              <a:t>una oportunidad para optimizar</a:t>
            </a:r>
          </a:p>
          <a:p>
            <a:pPr marL="342900" indent="-342900" algn="just" eaLnBrk="1" hangingPunct="1">
              <a:spcBef>
                <a:spcPct val="50000"/>
              </a:spcBef>
              <a:buFontTx/>
              <a:buChar char="-"/>
              <a:defRPr/>
            </a:pPr>
            <a:r>
              <a:rPr lang="es-CO" sz="2400" dirty="0" smtClean="0">
                <a:latin typeface="Times New Roman" pitchFamily="18" charset="0"/>
                <a:sym typeface="Wingdings" pitchFamily="2" charset="2"/>
              </a:rPr>
              <a:t>Una gran diferencia entre el tiempo de CPU y el tiempo transcurrido (</a:t>
            </a:r>
            <a:r>
              <a:rPr lang="es-CO" sz="2400" i="1" dirty="0" err="1" smtClean="0">
                <a:latin typeface="Times New Roman" pitchFamily="18" charset="0"/>
                <a:sym typeface="Wingdings" pitchFamily="2" charset="2"/>
              </a:rPr>
              <a:t>elapsed</a:t>
            </a:r>
            <a:r>
              <a:rPr lang="es-CO" sz="2400" dirty="0" smtClean="0">
                <a:latin typeface="Times New Roman" pitchFamily="18" charset="0"/>
                <a:sym typeface="Wingdings" pitchFamily="2" charset="2"/>
              </a:rPr>
              <a:t>), es decir, </a:t>
            </a:r>
            <a:r>
              <a:rPr lang="es-CO" sz="2400" dirty="0" smtClean="0">
                <a:solidFill>
                  <a:srgbClr val="A50021"/>
                </a:solidFill>
                <a:latin typeface="Times New Roman" pitchFamily="18" charset="0"/>
                <a:sym typeface="Wingdings" pitchFamily="2" charset="2"/>
              </a:rPr>
              <a:t>(l) </a:t>
            </a:r>
            <a:r>
              <a:rPr lang="es-CO" sz="2400" dirty="0" smtClean="0">
                <a:latin typeface="Times New Roman" pitchFamily="18" charset="0"/>
                <a:sym typeface="Wingdings" pitchFamily="2" charset="2"/>
              </a:rPr>
              <a:t>&lt;&lt; </a:t>
            </a:r>
            <a:r>
              <a:rPr lang="es-CO" sz="2400" dirty="0" smtClean="0">
                <a:solidFill>
                  <a:srgbClr val="A50021"/>
                </a:solidFill>
                <a:latin typeface="Times New Roman" pitchFamily="18" charset="0"/>
                <a:sym typeface="Wingdings" pitchFamily="2" charset="2"/>
              </a:rPr>
              <a:t>(m)</a:t>
            </a:r>
            <a:r>
              <a:rPr lang="es-CO" sz="2400" dirty="0" smtClean="0">
                <a:latin typeface="Times New Roman" pitchFamily="18" charset="0"/>
                <a:sym typeface="Wingdings" pitchFamily="2" charset="2"/>
              </a:rPr>
              <a:t> puede indicar que la sentencia estuvo esperando «algo», por ejemplo, un recurso bloqueado por otra sentencia.</a:t>
            </a:r>
            <a:endParaRPr lang="es-CO" sz="2400" dirty="0" smtClean="0">
              <a:latin typeface="Times New Roman" pitchFamily="18" charset="0"/>
            </a:endParaRPr>
          </a:p>
          <a:p>
            <a:pPr algn="just" eaLnBrk="1" hangingPunct="1">
              <a:spcBef>
                <a:spcPct val="50000"/>
              </a:spcBef>
              <a:defRPr/>
            </a:pPr>
            <a:endParaRPr lang="es-CO" sz="2400" dirty="0" smtClean="0">
              <a:solidFill>
                <a:srgbClr val="A5002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5"/>
          <p:cNvSpPr txBox="1">
            <a:spLocks noChangeArrowheads="1"/>
          </p:cNvSpPr>
          <p:nvPr/>
        </p:nvSpPr>
        <p:spPr bwMode="auto">
          <a:xfrm>
            <a:off x="762000" y="1844675"/>
            <a:ext cx="7848600" cy="267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sz="2400">
                <a:latin typeface="Times New Roman" panose="02020603050405020304" pitchFamily="18" charset="0"/>
              </a:rPr>
              <a:t>Ejemplo de una </a:t>
            </a:r>
            <a:r>
              <a:rPr lang="es-ES_tradnl" sz="2400" i="1">
                <a:latin typeface="Times New Roman" panose="02020603050405020304" pitchFamily="18" charset="0"/>
              </a:rPr>
              <a:t>bind variable </a:t>
            </a:r>
            <a:r>
              <a:rPr lang="es-ES_tradnl" sz="2400">
                <a:latin typeface="Times New Roman" panose="02020603050405020304" pitchFamily="18" charset="0"/>
              </a:rPr>
              <a:t>en SQL*Plus: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ES_tradnl" sz="2400">
                <a:latin typeface="Times New Roman" panose="02020603050405020304" pitchFamily="18" charset="0"/>
              </a:rPr>
              <a:t>SQL&gt; </a:t>
            </a:r>
            <a:r>
              <a:rPr lang="es-ES_tradnl" sz="2400">
                <a:solidFill>
                  <a:srgbClr val="0066FF"/>
                </a:solidFill>
                <a:latin typeface="Times New Roman" panose="02020603050405020304" pitchFamily="18" charset="0"/>
              </a:rPr>
              <a:t>variable deptno number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ES_tradnl" sz="2400">
                <a:latin typeface="Times New Roman" panose="02020603050405020304" pitchFamily="18" charset="0"/>
              </a:rPr>
              <a:t>SQL&gt; </a:t>
            </a:r>
            <a:r>
              <a:rPr lang="es-ES_tradnl" sz="2400">
                <a:solidFill>
                  <a:srgbClr val="0066FF"/>
                </a:solidFill>
                <a:latin typeface="Times New Roman" panose="02020603050405020304" pitchFamily="18" charset="0"/>
              </a:rPr>
              <a:t>exec :deptno := 10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ES_tradnl" sz="2400">
                <a:latin typeface="Times New Roman" panose="02020603050405020304" pitchFamily="18" charset="0"/>
              </a:rPr>
              <a:t>SQL&gt; </a:t>
            </a:r>
            <a:r>
              <a:rPr lang="es-ES_tradnl" sz="2400">
                <a:solidFill>
                  <a:srgbClr val="0066FF"/>
                </a:solidFill>
                <a:latin typeface="Times New Roman" panose="02020603050405020304" pitchFamily="18" charset="0"/>
              </a:rPr>
              <a:t>select * from emp where deptno = :deptno;</a:t>
            </a:r>
          </a:p>
          <a:p>
            <a:pPr algn="just" eaLnBrk="1" hangingPunct="1">
              <a:spcBef>
                <a:spcPct val="50000"/>
              </a:spcBef>
            </a:pPr>
            <a:endParaRPr lang="es-ES_tradnl" sz="2400">
              <a:latin typeface="Times New Roman" panose="02020603050405020304" pitchFamily="18" charset="0"/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1841500" y="4805363"/>
            <a:ext cx="5689600" cy="1200150"/>
          </a:xfrm>
          <a:prstGeom prst="rect">
            <a:avLst/>
          </a:prstGeom>
          <a:solidFill>
            <a:schemeClr val="accent1"/>
          </a:solidFill>
          <a:ln w="3175">
            <a:solidFill>
              <a:srgbClr val="00339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sz="2400" b="1">
                <a:solidFill>
                  <a:srgbClr val="A50021"/>
                </a:solidFill>
                <a:latin typeface="Times New Roman" panose="02020603050405020304" pitchFamily="18" charset="0"/>
              </a:rPr>
              <a:t>La idea clave es que la sentencia con la </a:t>
            </a:r>
            <a:r>
              <a:rPr lang="es-ES_tradnl" sz="2400" b="1" i="1">
                <a:solidFill>
                  <a:srgbClr val="A50021"/>
                </a:solidFill>
                <a:latin typeface="Times New Roman" panose="02020603050405020304" pitchFamily="18" charset="0"/>
              </a:rPr>
              <a:t>bind variable </a:t>
            </a:r>
            <a:r>
              <a:rPr lang="es-ES_tradnl" sz="2400" b="1">
                <a:solidFill>
                  <a:srgbClr val="A50021"/>
                </a:solidFill>
                <a:latin typeface="Times New Roman" panose="02020603050405020304" pitchFamily="18" charset="0"/>
              </a:rPr>
              <a:t>no requiere ser recompilada así el valor de la </a:t>
            </a:r>
            <a:r>
              <a:rPr lang="es-ES_tradnl" sz="2400" b="1" i="1">
                <a:solidFill>
                  <a:srgbClr val="A50021"/>
                </a:solidFill>
                <a:latin typeface="Times New Roman" panose="02020603050405020304" pitchFamily="18" charset="0"/>
              </a:rPr>
              <a:t>bind variable </a:t>
            </a:r>
            <a:r>
              <a:rPr lang="es-ES_tradnl" sz="2400" b="1">
                <a:solidFill>
                  <a:srgbClr val="A50021"/>
                </a:solidFill>
                <a:latin typeface="Times New Roman" panose="02020603050405020304" pitchFamily="18" charset="0"/>
              </a:rPr>
              <a:t>cambie</a:t>
            </a:r>
            <a:endParaRPr lang="es-ES_tradnl" sz="2400" u="sng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/>
          <p:cNvSpPr txBox="1">
            <a:spLocks noChangeArrowheads="1"/>
          </p:cNvSpPr>
          <p:nvPr/>
        </p:nvSpPr>
        <p:spPr bwMode="auto">
          <a:xfrm>
            <a:off x="533400" y="765175"/>
            <a:ext cx="739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sz="2400">
                <a:latin typeface="Times New Roman" panose="02020603050405020304" pitchFamily="18" charset="0"/>
              </a:rPr>
              <a:t>Supóngase la siguiente consulta SQL:</a:t>
            </a:r>
            <a:endParaRPr lang="es-ES" sz="2400">
              <a:latin typeface="Times New Roman" panose="02020603050405020304" pitchFamily="18" charset="0"/>
            </a:endParaRPr>
          </a:p>
        </p:txBody>
      </p:sp>
      <p:sp>
        <p:nvSpPr>
          <p:cNvPr id="25603" name="Text Box 5"/>
          <p:cNvSpPr txBox="1">
            <a:spLocks noChangeArrowheads="1"/>
          </p:cNvSpPr>
          <p:nvPr/>
        </p:nvSpPr>
        <p:spPr bwMode="auto">
          <a:xfrm>
            <a:off x="533400" y="1428750"/>
            <a:ext cx="8466138" cy="2185988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1700" b="1" dirty="0">
                <a:latin typeface="Courier New" panose="02070309020205020404" pitchFamily="49" charset="0"/>
              </a:rPr>
              <a:t>SELECT</a:t>
            </a:r>
            <a:r>
              <a:rPr lang="es-ES" sz="1700" dirty="0">
                <a:latin typeface="Courier New" panose="02070309020205020404" pitchFamily="49" charset="0"/>
              </a:rPr>
              <a:t>  DISTINCT </a:t>
            </a:r>
            <a:r>
              <a:rPr lang="es-ES" sz="1700" dirty="0" err="1">
                <a:latin typeface="Courier New" panose="02070309020205020404" pitchFamily="49" charset="0"/>
              </a:rPr>
              <a:t>e.apellido</a:t>
            </a:r>
            <a:r>
              <a:rPr lang="es-ES" sz="1700" dirty="0">
                <a:latin typeface="Courier New" panose="02070309020205020404" pitchFamily="49" charset="0"/>
              </a:rPr>
              <a:t>, </a:t>
            </a:r>
            <a:r>
              <a:rPr lang="es-ES" sz="1700" dirty="0" err="1">
                <a:latin typeface="Courier New" panose="02070309020205020404" pitchFamily="49" charset="0"/>
              </a:rPr>
              <a:t>e.nombre</a:t>
            </a:r>
            <a:r>
              <a:rPr lang="es-ES" sz="1700" dirty="0">
                <a:latin typeface="Courier New" panose="02070309020205020404" pitchFamily="49" charset="0"/>
              </a:rPr>
              <a:t>, </a:t>
            </a:r>
            <a:r>
              <a:rPr lang="es-ES" sz="1700" dirty="0" err="1">
                <a:latin typeface="Courier New" panose="02070309020205020404" pitchFamily="49" charset="0"/>
              </a:rPr>
              <a:t>e.fecha_nacimiento</a:t>
            </a:r>
            <a:endParaRPr lang="es-ES" sz="1700" dirty="0">
              <a:latin typeface="Courier New" panose="02070309020205020404" pitchFamily="49" charset="0"/>
            </a:endParaRPr>
          </a:p>
          <a:p>
            <a:pPr eaLnBrk="1" hangingPunct="1"/>
            <a:r>
              <a:rPr lang="es-ES_tradnl" sz="1700" dirty="0">
                <a:latin typeface="Courier New" panose="02070309020205020404" pitchFamily="49" charset="0"/>
              </a:rPr>
              <a:t>  </a:t>
            </a:r>
            <a:r>
              <a:rPr lang="es-ES" sz="1700" b="1" dirty="0">
                <a:latin typeface="Courier New" panose="02070309020205020404" pitchFamily="49" charset="0"/>
              </a:rPr>
              <a:t>FROM</a:t>
            </a:r>
            <a:r>
              <a:rPr lang="es-ES" sz="1700" dirty="0">
                <a:latin typeface="Courier New" panose="02070309020205020404" pitchFamily="49" charset="0"/>
              </a:rPr>
              <a:t>  empleado e</a:t>
            </a:r>
          </a:p>
          <a:p>
            <a:pPr eaLnBrk="1" hangingPunct="1"/>
            <a:r>
              <a:rPr lang="es-ES_tradnl" sz="1700" dirty="0">
                <a:latin typeface="Courier New" panose="02070309020205020404" pitchFamily="49" charset="0"/>
              </a:rPr>
              <a:t> </a:t>
            </a:r>
            <a:r>
              <a:rPr lang="es-ES" sz="1700" b="1" dirty="0">
                <a:latin typeface="Courier New" panose="02070309020205020404" pitchFamily="49" charset="0"/>
              </a:rPr>
              <a:t>WHERE  EXISTS</a:t>
            </a:r>
            <a:r>
              <a:rPr lang="es-ES" sz="1700" dirty="0">
                <a:latin typeface="Courier New" panose="02070309020205020404" pitchFamily="49" charset="0"/>
              </a:rPr>
              <a:t> </a:t>
            </a:r>
            <a:r>
              <a:rPr lang="es-ES" sz="1700" b="1" dirty="0">
                <a:latin typeface="Courier New" panose="02070309020205020404" pitchFamily="49" charset="0"/>
              </a:rPr>
              <a:t>(SELECT</a:t>
            </a:r>
            <a:r>
              <a:rPr lang="es-ES" sz="1700" dirty="0">
                <a:latin typeface="Courier New" panose="02070309020205020404" pitchFamily="49" charset="0"/>
              </a:rPr>
              <a:t> *</a:t>
            </a:r>
          </a:p>
          <a:p>
            <a:pPr eaLnBrk="1" hangingPunct="1"/>
            <a:r>
              <a:rPr lang="es-ES_tradnl" sz="1700" dirty="0">
                <a:latin typeface="Courier New" panose="02070309020205020404" pitchFamily="49" charset="0"/>
              </a:rPr>
              <a:t>   </a:t>
            </a:r>
            <a:r>
              <a:rPr lang="es-ES" sz="1700" dirty="0">
                <a:latin typeface="Courier New" panose="02070309020205020404" pitchFamily="49" charset="0"/>
              </a:rPr>
              <a:t>               </a:t>
            </a:r>
            <a:r>
              <a:rPr lang="es-ES" sz="1700" b="1" dirty="0">
                <a:latin typeface="Courier New" panose="02070309020205020404" pitchFamily="49" charset="0"/>
              </a:rPr>
              <a:t>FROM</a:t>
            </a:r>
            <a:r>
              <a:rPr lang="es-ES" sz="1700" dirty="0">
                <a:latin typeface="Courier New" panose="02070309020205020404" pitchFamily="49" charset="0"/>
              </a:rPr>
              <a:t> cliente c</a:t>
            </a:r>
          </a:p>
          <a:p>
            <a:pPr eaLnBrk="1" hangingPunct="1"/>
            <a:r>
              <a:rPr lang="es-ES" sz="1700" dirty="0">
                <a:latin typeface="Courier New" panose="02070309020205020404" pitchFamily="49" charset="0"/>
              </a:rPr>
              <a:t>  </a:t>
            </a:r>
            <a:r>
              <a:rPr lang="es-ES_tradnl" sz="1700" dirty="0">
                <a:latin typeface="Courier New" panose="02070309020205020404" pitchFamily="49" charset="0"/>
              </a:rPr>
              <a:t>    </a:t>
            </a:r>
            <a:r>
              <a:rPr lang="es-ES" sz="1700" dirty="0">
                <a:latin typeface="Courier New" panose="02070309020205020404" pitchFamily="49" charset="0"/>
              </a:rPr>
              <a:t>           </a:t>
            </a:r>
            <a:r>
              <a:rPr lang="es-ES" sz="1700" b="1" dirty="0">
                <a:latin typeface="Courier New" panose="02070309020205020404" pitchFamily="49" charset="0"/>
              </a:rPr>
              <a:t>WHERE</a:t>
            </a:r>
            <a:r>
              <a:rPr lang="es-ES" sz="1700" dirty="0">
                <a:latin typeface="Courier New" panose="02070309020205020404" pitchFamily="49" charset="0"/>
              </a:rPr>
              <a:t> </a:t>
            </a:r>
            <a:r>
              <a:rPr lang="es-ES" sz="1700" dirty="0" err="1">
                <a:latin typeface="Courier New" panose="02070309020205020404" pitchFamily="49" charset="0"/>
              </a:rPr>
              <a:t>e.apellido</a:t>
            </a:r>
            <a:r>
              <a:rPr lang="es-ES" sz="1700" dirty="0">
                <a:latin typeface="Courier New" panose="02070309020205020404" pitchFamily="49" charset="0"/>
              </a:rPr>
              <a:t> = </a:t>
            </a:r>
            <a:r>
              <a:rPr lang="es-ES" sz="1700" dirty="0" err="1">
                <a:latin typeface="Courier New" panose="02070309020205020404" pitchFamily="49" charset="0"/>
              </a:rPr>
              <a:t>c.apellido</a:t>
            </a:r>
            <a:r>
              <a:rPr lang="es-ES" sz="1700" dirty="0">
                <a:latin typeface="Courier New" panose="02070309020205020404" pitchFamily="49" charset="0"/>
              </a:rPr>
              <a:t> </a:t>
            </a:r>
            <a:r>
              <a:rPr lang="es-ES" sz="1700" b="1" dirty="0">
                <a:latin typeface="Courier New" panose="02070309020205020404" pitchFamily="49" charset="0"/>
              </a:rPr>
              <a:t>AND</a:t>
            </a:r>
          </a:p>
          <a:p>
            <a:pPr eaLnBrk="1" hangingPunct="1"/>
            <a:r>
              <a:rPr lang="es-ES" sz="1700" dirty="0">
                <a:latin typeface="Courier New" panose="02070309020205020404" pitchFamily="49" charset="0"/>
              </a:rPr>
              <a:t>   </a:t>
            </a:r>
            <a:r>
              <a:rPr lang="es-ES_tradnl" sz="1700" dirty="0">
                <a:latin typeface="Courier New" panose="02070309020205020404" pitchFamily="49" charset="0"/>
              </a:rPr>
              <a:t> </a:t>
            </a:r>
            <a:r>
              <a:rPr lang="es-ES" sz="1700" dirty="0">
                <a:latin typeface="Courier New" panose="02070309020205020404" pitchFamily="49" charset="0"/>
              </a:rPr>
              <a:t>                   </a:t>
            </a:r>
            <a:r>
              <a:rPr lang="es-ES" sz="1700" dirty="0" err="1">
                <a:latin typeface="Courier New" panose="02070309020205020404" pitchFamily="49" charset="0"/>
              </a:rPr>
              <a:t>e.nombre</a:t>
            </a:r>
            <a:r>
              <a:rPr lang="es-ES" sz="1700" dirty="0">
                <a:latin typeface="Courier New" panose="02070309020205020404" pitchFamily="49" charset="0"/>
              </a:rPr>
              <a:t>  = </a:t>
            </a:r>
            <a:r>
              <a:rPr lang="es-ES" sz="1700" dirty="0" err="1">
                <a:latin typeface="Courier New" panose="02070309020205020404" pitchFamily="49" charset="0"/>
              </a:rPr>
              <a:t>c.nombre</a:t>
            </a:r>
            <a:r>
              <a:rPr lang="es-ES" sz="1700" dirty="0">
                <a:latin typeface="Courier New" panose="02070309020205020404" pitchFamily="49" charset="0"/>
              </a:rPr>
              <a:t> </a:t>
            </a:r>
            <a:r>
              <a:rPr lang="es-ES" sz="1700" b="1" dirty="0">
                <a:latin typeface="Courier New" panose="02070309020205020404" pitchFamily="49" charset="0"/>
              </a:rPr>
              <a:t>AND</a:t>
            </a:r>
          </a:p>
          <a:p>
            <a:pPr eaLnBrk="1" hangingPunct="1"/>
            <a:r>
              <a:rPr lang="es-ES" sz="1700" dirty="0">
                <a:latin typeface="Courier New" panose="02070309020205020404" pitchFamily="49" charset="0"/>
              </a:rPr>
              <a:t>    </a:t>
            </a:r>
            <a:r>
              <a:rPr lang="es-ES_tradnl" sz="1700" dirty="0">
                <a:latin typeface="Courier New" panose="02070309020205020404" pitchFamily="49" charset="0"/>
              </a:rPr>
              <a:t> </a:t>
            </a:r>
            <a:r>
              <a:rPr lang="es-ES" sz="1700" dirty="0">
                <a:latin typeface="Courier New" panose="02070309020205020404" pitchFamily="49" charset="0"/>
              </a:rPr>
              <a:t> </a:t>
            </a:r>
            <a:r>
              <a:rPr lang="es-ES_tradnl" sz="1700" dirty="0">
                <a:latin typeface="Courier New" panose="02070309020205020404" pitchFamily="49" charset="0"/>
              </a:rPr>
              <a:t> </a:t>
            </a:r>
            <a:r>
              <a:rPr lang="es-ES" sz="1700" dirty="0">
                <a:latin typeface="Courier New" panose="02070309020205020404" pitchFamily="49" charset="0"/>
              </a:rPr>
              <a:t>                </a:t>
            </a:r>
            <a:r>
              <a:rPr lang="es-ES" sz="1700" dirty="0" err="1">
                <a:latin typeface="Courier New" panose="02070309020205020404" pitchFamily="49" charset="0"/>
              </a:rPr>
              <a:t>e.fecha_nacimiento</a:t>
            </a:r>
            <a:r>
              <a:rPr lang="es-ES" sz="1700" dirty="0">
                <a:latin typeface="Courier New" panose="02070309020205020404" pitchFamily="49" charset="0"/>
              </a:rPr>
              <a:t> = </a:t>
            </a:r>
            <a:r>
              <a:rPr lang="es-ES" sz="1700" dirty="0" err="1">
                <a:latin typeface="Courier New" panose="02070309020205020404" pitchFamily="49" charset="0"/>
              </a:rPr>
              <a:t>c.fecha_nacimiento</a:t>
            </a:r>
            <a:r>
              <a:rPr lang="es-ES" sz="1700" b="1" dirty="0">
                <a:latin typeface="Courier New" panose="02070309020205020404" pitchFamily="49" charset="0"/>
              </a:rPr>
              <a:t>)</a:t>
            </a:r>
          </a:p>
          <a:p>
            <a:pPr eaLnBrk="1" hangingPunct="1"/>
            <a:r>
              <a:rPr lang="es-ES" sz="1700" b="1" dirty="0">
                <a:latin typeface="Courier New" panose="02070309020205020404" pitchFamily="49" charset="0"/>
              </a:rPr>
              <a:t>ORDER BY</a:t>
            </a:r>
            <a:r>
              <a:rPr lang="es-ES" sz="1700" dirty="0">
                <a:latin typeface="Courier New" panose="02070309020205020404" pitchFamily="49" charset="0"/>
              </a:rPr>
              <a:t> </a:t>
            </a:r>
            <a:r>
              <a:rPr lang="es-ES" sz="1700" dirty="0" err="1">
                <a:latin typeface="Courier New" panose="02070309020205020404" pitchFamily="49" charset="0"/>
              </a:rPr>
              <a:t>e.apellido</a:t>
            </a:r>
            <a:r>
              <a:rPr lang="es-ES" sz="1700" dirty="0">
                <a:latin typeface="Courier New" panose="02070309020205020404" pitchFamily="49" charset="0"/>
              </a:rPr>
              <a:t>, </a:t>
            </a:r>
            <a:r>
              <a:rPr lang="es-ES" sz="1700" dirty="0" err="1">
                <a:latin typeface="Courier New" panose="02070309020205020404" pitchFamily="49" charset="0"/>
              </a:rPr>
              <a:t>e.nombre</a:t>
            </a:r>
            <a:r>
              <a:rPr lang="es-ES_tradnl" sz="1700" dirty="0">
                <a:latin typeface="Courier New" panose="02070309020205020404" pitchFamily="49" charset="0"/>
              </a:rPr>
              <a:t>;</a:t>
            </a:r>
            <a:endParaRPr lang="es-ES" sz="1700" dirty="0">
              <a:latin typeface="Courier New" panose="02070309020205020404" pitchFamily="49" charset="0"/>
            </a:endParaRPr>
          </a:p>
        </p:txBody>
      </p:sp>
      <p:sp>
        <p:nvSpPr>
          <p:cNvPr id="25604" name="Text Box 6"/>
          <p:cNvSpPr txBox="1">
            <a:spLocks noChangeArrowheads="1"/>
          </p:cNvSpPr>
          <p:nvPr/>
        </p:nvSpPr>
        <p:spPr bwMode="auto">
          <a:xfrm>
            <a:off x="555625" y="3860800"/>
            <a:ext cx="754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sz="2400">
                <a:latin typeface="Times New Roman" panose="02020603050405020304" pitchFamily="18" charset="0"/>
              </a:rPr>
              <a:t>Salida del TKPROF:</a:t>
            </a:r>
            <a:endParaRPr lang="es-ES" sz="2400">
              <a:latin typeface="Times New Roman" panose="02020603050405020304" pitchFamily="18" charset="0"/>
            </a:endParaRPr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511175" y="4332288"/>
            <a:ext cx="8382000" cy="206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1600">
                <a:latin typeface="Courier New" panose="02070309020205020404" pitchFamily="49" charset="0"/>
              </a:rPr>
              <a:t> call      count   cpu   elapsed  disk  query  current   rows</a:t>
            </a:r>
            <a:r>
              <a:rPr lang="es-ES_tradnl" sz="1600">
                <a:latin typeface="Courier New" panose="02070309020205020404" pitchFamily="49" charset="0"/>
              </a:rPr>
              <a:t/>
            </a:r>
            <a:br>
              <a:rPr lang="es-ES_tradnl" sz="1600">
                <a:latin typeface="Courier New" panose="02070309020205020404" pitchFamily="49" charset="0"/>
              </a:rPr>
            </a:br>
            <a:r>
              <a:rPr lang="es-ES" sz="1600">
                <a:latin typeface="Courier New" panose="02070309020205020404" pitchFamily="49" charset="0"/>
              </a:rPr>
              <a:t>---------  ------- ------ ------- ------ ------ -------- ------</a:t>
            </a:r>
            <a:r>
              <a:rPr lang="es-ES_tradnl" sz="1600">
                <a:latin typeface="Courier New" panose="02070309020205020404" pitchFamily="49" charset="0"/>
              </a:rPr>
              <a:t/>
            </a:r>
            <a:br>
              <a:rPr lang="es-ES_tradnl" sz="1600">
                <a:latin typeface="Courier New" panose="02070309020205020404" pitchFamily="49" charset="0"/>
              </a:rPr>
            </a:br>
            <a:r>
              <a:rPr lang="es-ES" sz="1600">
                <a:latin typeface="Courier New" panose="02070309020205020404" pitchFamily="49" charset="0"/>
              </a:rPr>
              <a:t>Parse         1       0     0.43     0      0       0       0</a:t>
            </a:r>
            <a:r>
              <a:rPr lang="es-ES_tradnl" sz="1600">
                <a:latin typeface="Courier New" panose="02070309020205020404" pitchFamily="49" charset="0"/>
              </a:rPr>
              <a:t/>
            </a:r>
            <a:br>
              <a:rPr lang="es-ES_tradnl" sz="1600">
                <a:latin typeface="Courier New" panose="02070309020205020404" pitchFamily="49" charset="0"/>
              </a:rPr>
            </a:br>
            <a:r>
              <a:rPr lang="es-ES" sz="1600">
                <a:latin typeface="Courier New" panose="02070309020205020404" pitchFamily="49" charset="0"/>
              </a:rPr>
              <a:t>Execute       1       0     0.00     0      0       0       0</a:t>
            </a:r>
            <a:r>
              <a:rPr lang="es-ES_tradnl" sz="1600">
                <a:latin typeface="Courier New" panose="02070309020205020404" pitchFamily="49" charset="0"/>
              </a:rPr>
              <a:t/>
            </a:r>
            <a:br>
              <a:rPr lang="es-ES_tradnl" sz="1600">
                <a:latin typeface="Courier New" panose="02070309020205020404" pitchFamily="49" charset="0"/>
              </a:rPr>
            </a:br>
            <a:r>
              <a:rPr lang="es-ES" sz="1600">
                <a:latin typeface="Courier New" panose="02070309020205020404" pitchFamily="49" charset="0"/>
              </a:rPr>
              <a:t>Fetch         11      0   323.74  204161 212083   2400     151</a:t>
            </a:r>
            <a:r>
              <a:rPr lang="es-ES_tradnl" sz="1600">
                <a:latin typeface="Courier New" panose="02070309020205020404" pitchFamily="49" charset="0"/>
              </a:rPr>
              <a:t/>
            </a:r>
            <a:br>
              <a:rPr lang="es-ES_tradnl" sz="1600">
                <a:latin typeface="Courier New" panose="02070309020205020404" pitchFamily="49" charset="0"/>
              </a:rPr>
            </a:br>
            <a:r>
              <a:rPr lang="es-ES" sz="1600">
                <a:latin typeface="Courier New" panose="02070309020205020404" pitchFamily="49" charset="0"/>
              </a:rPr>
              <a:t>---------  ------- ------ ------- ------ ------ -------- ------</a:t>
            </a:r>
            <a:r>
              <a:rPr lang="es-ES_tradnl" sz="1600">
                <a:latin typeface="Courier New" panose="02070309020205020404" pitchFamily="49" charset="0"/>
              </a:rPr>
              <a:t/>
            </a:r>
            <a:br>
              <a:rPr lang="es-ES_tradnl" sz="1600">
                <a:latin typeface="Courier New" panose="02070309020205020404" pitchFamily="49" charset="0"/>
              </a:rPr>
            </a:br>
            <a:r>
              <a:rPr lang="es-ES" sz="1600">
                <a:latin typeface="Courier New" panose="02070309020205020404" pitchFamily="49" charset="0"/>
              </a:rPr>
              <a:t>Total         13      0   324.17  204161 212083   2400     151</a:t>
            </a:r>
            <a:r>
              <a:rPr lang="es-ES_tradnl" sz="1600">
                <a:solidFill>
                  <a:schemeClr val="bg2"/>
                </a:solidFill>
                <a:latin typeface="Courier New" panose="02070309020205020404" pitchFamily="49" charset="0"/>
              </a:rPr>
              <a:t/>
            </a:r>
            <a:br>
              <a:rPr lang="es-ES_tradnl" sz="1600">
                <a:solidFill>
                  <a:schemeClr val="bg2"/>
                </a:solidFill>
                <a:latin typeface="Courier New" panose="02070309020205020404" pitchFamily="49" charset="0"/>
              </a:rPr>
            </a:br>
            <a:r>
              <a:rPr lang="es-ES" sz="1600">
                <a:latin typeface="Courier New" panose="02070309020205020404" pitchFamily="49" charset="0"/>
              </a:rPr>
              <a:t>   </a:t>
            </a:r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381000" y="4340225"/>
            <a:ext cx="7924800" cy="1752600"/>
          </a:xfrm>
          <a:prstGeom prst="rect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4"/>
          <p:cNvSpPr txBox="1">
            <a:spLocks noChangeArrowheads="1"/>
          </p:cNvSpPr>
          <p:nvPr/>
        </p:nvSpPr>
        <p:spPr bwMode="auto">
          <a:xfrm>
            <a:off x="685800" y="17526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endParaRPr lang="es-ES_tradnl" sz="2400">
              <a:latin typeface="Times New Roman" panose="02020603050405020304" pitchFamily="18" charset="0"/>
            </a:endParaRPr>
          </a:p>
        </p:txBody>
      </p:sp>
      <p:graphicFrame>
        <p:nvGraphicFramePr>
          <p:cNvPr id="115718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884275"/>
              </p:ext>
            </p:extLst>
          </p:nvPr>
        </p:nvGraphicFramePr>
        <p:xfrm>
          <a:off x="990600" y="1771650"/>
          <a:ext cx="7391400" cy="4023464"/>
        </p:xfrm>
        <a:graphic>
          <a:graphicData uri="http://schemas.openxmlformats.org/drawingml/2006/table">
            <a:tbl>
              <a:tblPr/>
              <a:tblGrid>
                <a:gridCol w="2463800"/>
                <a:gridCol w="2463800"/>
                <a:gridCol w="2463800"/>
              </a:tblGrid>
              <a:tr h="7009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B5F2E"/>
                          </a:solidFill>
                          <a:effectLst/>
                          <a:latin typeface="Arial" charset="0"/>
                        </a:rPr>
                        <a:t>TASA</a:t>
                      </a:r>
                      <a:endParaRPr kumimoji="0" lang="es-E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1B5F2E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B5F2E"/>
                          </a:solidFill>
                          <a:effectLst/>
                          <a:latin typeface="Arial" charset="0"/>
                        </a:rPr>
                        <a:t>VALOR RECOMENDADO</a:t>
                      </a:r>
                      <a:endParaRPr kumimoji="0" lang="es-E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1B5F2E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B5F2E"/>
                          </a:solidFill>
                          <a:effectLst/>
                          <a:latin typeface="Arial" charset="0"/>
                        </a:rPr>
                        <a:t>VALOR ENCONTRADO</a:t>
                      </a:r>
                      <a:endParaRPr kumimoji="0" lang="es-E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1B5F2E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s-ES_tradnl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f+g</a:t>
                      </a:r>
                      <a:r>
                        <a:rPr kumimoji="0" lang="es-ES_tradnl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 / h</a:t>
                      </a:r>
                      <a:endParaRPr kumimoji="0" lang="es-E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Menos de 20</a:t>
                      </a:r>
                      <a:endParaRPr kumimoji="0" lang="es-E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1420 aprox.</a:t>
                      </a:r>
                      <a:endParaRPr kumimoji="0" lang="es-E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48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 / e</a:t>
                      </a:r>
                      <a:endParaRPr kumimoji="0" lang="es-E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(o cerca de 1)</a:t>
                      </a:r>
                      <a:endParaRPr kumimoji="0" lang="es-E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s-E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46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/ j</a:t>
                      </a:r>
                      <a:endParaRPr kumimoji="0" lang="es-E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 1</a:t>
                      </a:r>
                      <a:endParaRPr kumimoji="0" lang="es-E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13.73</a:t>
                      </a:r>
                      <a:endParaRPr kumimoji="0" lang="es-E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77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 / (f+g)</a:t>
                      </a:r>
                      <a:endParaRPr kumimoji="0" lang="es-E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Menos de 10%</a:t>
                      </a:r>
                      <a:endParaRPr kumimoji="0" lang="es-E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95%</a:t>
                      </a:r>
                      <a:endParaRPr kumimoji="0" lang="es-E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/>
          <p:cNvSpPr txBox="1">
            <a:spLocks noChangeArrowheads="1"/>
          </p:cNvSpPr>
          <p:nvPr/>
        </p:nvSpPr>
        <p:spPr bwMode="auto">
          <a:xfrm>
            <a:off x="609600" y="765175"/>
            <a:ext cx="7848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sz="2400">
                <a:latin typeface="Times New Roman" panose="02020603050405020304" pitchFamily="18" charset="0"/>
              </a:rPr>
              <a:t>Se ensaya reformulando la consulta así:</a:t>
            </a:r>
          </a:p>
        </p:txBody>
      </p:sp>
      <p:sp>
        <p:nvSpPr>
          <p:cNvPr id="27651" name="Text Box 5"/>
          <p:cNvSpPr txBox="1">
            <a:spLocks noChangeArrowheads="1"/>
          </p:cNvSpPr>
          <p:nvPr/>
        </p:nvSpPr>
        <p:spPr bwMode="auto">
          <a:xfrm>
            <a:off x="609600" y="1703388"/>
            <a:ext cx="8305800" cy="1662112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1700" b="1">
                <a:latin typeface="Courier New" panose="02070309020205020404" pitchFamily="49" charset="0"/>
              </a:rPr>
              <a:t>  SELECT</a:t>
            </a:r>
            <a:r>
              <a:rPr lang="es-ES" sz="1700">
                <a:latin typeface="Courier New" panose="02070309020205020404" pitchFamily="49" charset="0"/>
              </a:rPr>
              <a:t>  DISTINCT e.apellido, e.nombre, e.fecha_nacimiento</a:t>
            </a:r>
          </a:p>
          <a:p>
            <a:pPr eaLnBrk="1" hangingPunct="1"/>
            <a:r>
              <a:rPr lang="es-ES_tradnl" sz="1700">
                <a:latin typeface="Courier New" panose="02070309020205020404" pitchFamily="49" charset="0"/>
              </a:rPr>
              <a:t>    </a:t>
            </a:r>
            <a:r>
              <a:rPr lang="es-ES" sz="1700" b="1">
                <a:latin typeface="Courier New" panose="02070309020205020404" pitchFamily="49" charset="0"/>
              </a:rPr>
              <a:t>FROM</a:t>
            </a:r>
            <a:r>
              <a:rPr lang="es-ES" sz="1700">
                <a:latin typeface="Courier New" panose="02070309020205020404" pitchFamily="49" charset="0"/>
              </a:rPr>
              <a:t>  empleado e, cliente c</a:t>
            </a:r>
          </a:p>
          <a:p>
            <a:pPr eaLnBrk="1" hangingPunct="1"/>
            <a:r>
              <a:rPr lang="es-ES_tradnl" sz="1700">
                <a:latin typeface="Courier New" panose="02070309020205020404" pitchFamily="49" charset="0"/>
              </a:rPr>
              <a:t>   </a:t>
            </a:r>
            <a:r>
              <a:rPr lang="es-ES" sz="1700" b="1">
                <a:latin typeface="Courier New" panose="02070309020205020404" pitchFamily="49" charset="0"/>
              </a:rPr>
              <a:t>WHERE  </a:t>
            </a:r>
            <a:r>
              <a:rPr lang="es-ES" sz="1700">
                <a:latin typeface="Courier New" panose="02070309020205020404" pitchFamily="49" charset="0"/>
              </a:rPr>
              <a:t>e.apellido = c.apellido AND</a:t>
            </a:r>
          </a:p>
          <a:p>
            <a:pPr eaLnBrk="1" hangingPunct="1"/>
            <a:r>
              <a:rPr lang="es-ES" sz="1700">
                <a:latin typeface="Courier New" panose="02070309020205020404" pitchFamily="49" charset="0"/>
              </a:rPr>
              <a:t>          e.nombre   = c.nombre AND</a:t>
            </a:r>
          </a:p>
          <a:p>
            <a:pPr eaLnBrk="1" hangingPunct="1"/>
            <a:r>
              <a:rPr lang="es-ES" sz="1700">
                <a:latin typeface="Courier New" panose="02070309020205020404" pitchFamily="49" charset="0"/>
              </a:rPr>
              <a:t>          e.fecha_nacimiento = c.fecha_nacimiento</a:t>
            </a:r>
            <a:endParaRPr lang="es-ES" sz="1700" b="1">
              <a:latin typeface="Courier New" panose="02070309020205020404" pitchFamily="49" charset="0"/>
            </a:endParaRPr>
          </a:p>
          <a:p>
            <a:pPr eaLnBrk="1" hangingPunct="1"/>
            <a:r>
              <a:rPr lang="es-ES" sz="1700" b="1">
                <a:latin typeface="Courier New" panose="02070309020205020404" pitchFamily="49" charset="0"/>
              </a:rPr>
              <a:t>ORDER BY</a:t>
            </a:r>
            <a:r>
              <a:rPr lang="es-ES" sz="1700">
                <a:latin typeface="Courier New" panose="02070309020205020404" pitchFamily="49" charset="0"/>
              </a:rPr>
              <a:t>  e.apellido, e.nombre</a:t>
            </a:r>
            <a:r>
              <a:rPr lang="es-ES_tradnl" sz="1700">
                <a:latin typeface="Courier New" panose="02070309020205020404" pitchFamily="49" charset="0"/>
              </a:rPr>
              <a:t>;</a:t>
            </a:r>
            <a:endParaRPr lang="es-ES" sz="1700">
              <a:latin typeface="Courier New" panose="02070309020205020404" pitchFamily="49" charset="0"/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533400" y="4340225"/>
            <a:ext cx="8382000" cy="170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sz="1500">
                <a:latin typeface="Courier New" panose="02070309020205020404" pitchFamily="49" charset="0"/>
              </a:rPr>
              <a:t> call      count   cpu   elapsed  disk  query  current   rows</a:t>
            </a:r>
          </a:p>
          <a:p>
            <a:pPr eaLnBrk="1" hangingPunct="1"/>
            <a:r>
              <a:rPr lang="es-ES_tradnl" sz="1500">
                <a:latin typeface="Courier New" panose="02070309020205020404" pitchFamily="49" charset="0"/>
              </a:rPr>
              <a:t>---------  ------- ------ ------- ------ ------ -------- ------</a:t>
            </a:r>
          </a:p>
          <a:p>
            <a:pPr eaLnBrk="1" hangingPunct="1"/>
            <a:r>
              <a:rPr lang="es-ES_tradnl" sz="1500">
                <a:latin typeface="Courier New" panose="02070309020205020404" pitchFamily="49" charset="0"/>
              </a:rPr>
              <a:t>Parse         1       0     0.12     0      0       0       0</a:t>
            </a:r>
          </a:p>
          <a:p>
            <a:pPr eaLnBrk="1" hangingPunct="1"/>
            <a:r>
              <a:rPr lang="es-ES_tradnl" sz="1500">
                <a:latin typeface="Courier New" panose="02070309020205020404" pitchFamily="49" charset="0"/>
              </a:rPr>
              <a:t>Execute       1       0     0.96     0      0       1       0</a:t>
            </a:r>
          </a:p>
          <a:p>
            <a:pPr eaLnBrk="1" hangingPunct="1"/>
            <a:r>
              <a:rPr lang="es-ES_tradnl" sz="1500">
                <a:latin typeface="Courier New" panose="02070309020205020404" pitchFamily="49" charset="0"/>
              </a:rPr>
              <a:t>Fetch         11      0     9.82    278    364     370     151</a:t>
            </a:r>
          </a:p>
          <a:p>
            <a:pPr eaLnBrk="1" hangingPunct="1"/>
            <a:r>
              <a:rPr lang="es-ES_tradnl" sz="1500">
                <a:latin typeface="Courier New" panose="02070309020205020404" pitchFamily="49" charset="0"/>
              </a:rPr>
              <a:t>---------  ------- ------ ------- ------ ------ -------- ------</a:t>
            </a:r>
          </a:p>
          <a:p>
            <a:pPr eaLnBrk="1" hangingPunct="1"/>
            <a:r>
              <a:rPr lang="es-ES_tradnl" sz="1500">
                <a:latin typeface="Courier New" panose="02070309020205020404" pitchFamily="49" charset="0"/>
              </a:rPr>
              <a:t>Total         13      0     10.9    278    364     371     151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381000" y="4340225"/>
            <a:ext cx="7924800" cy="1752600"/>
          </a:xfrm>
          <a:prstGeom prst="rect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555625" y="3644900"/>
            <a:ext cx="754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sz="2400">
                <a:latin typeface="Times New Roman" panose="02020603050405020304" pitchFamily="18" charset="0"/>
              </a:rPr>
              <a:t>Salida del TKPROF:</a:t>
            </a:r>
            <a:endParaRPr lang="es-E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685800" y="17526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endParaRPr lang="es-ES_tradnl" sz="2400">
              <a:latin typeface="Times New Roman" panose="02020603050405020304" pitchFamily="18" charset="0"/>
            </a:endParaRPr>
          </a:p>
        </p:txBody>
      </p:sp>
      <p:graphicFrame>
        <p:nvGraphicFramePr>
          <p:cNvPr id="3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8203"/>
              </p:ext>
            </p:extLst>
          </p:nvPr>
        </p:nvGraphicFramePr>
        <p:xfrm>
          <a:off x="990600" y="1771650"/>
          <a:ext cx="7391400" cy="4023464"/>
        </p:xfrm>
        <a:graphic>
          <a:graphicData uri="http://schemas.openxmlformats.org/drawingml/2006/table">
            <a:tbl>
              <a:tblPr/>
              <a:tblGrid>
                <a:gridCol w="2463800"/>
                <a:gridCol w="2463800"/>
                <a:gridCol w="2463800"/>
              </a:tblGrid>
              <a:tr h="7009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B5F2E"/>
                          </a:solidFill>
                          <a:effectLst/>
                          <a:latin typeface="Arial" charset="0"/>
                        </a:rPr>
                        <a:t>TASA</a:t>
                      </a:r>
                      <a:endParaRPr kumimoji="0" lang="es-E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1B5F2E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B5F2E"/>
                          </a:solidFill>
                          <a:effectLst/>
                          <a:latin typeface="Arial" charset="0"/>
                        </a:rPr>
                        <a:t>VALOR RECOMENDADO</a:t>
                      </a:r>
                      <a:endParaRPr kumimoji="0" lang="es-E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1B5F2E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B5F2E"/>
                          </a:solidFill>
                          <a:effectLst/>
                          <a:latin typeface="Arial" charset="0"/>
                        </a:rPr>
                        <a:t>VALOR ENCONTRADO</a:t>
                      </a:r>
                      <a:endParaRPr kumimoji="0" lang="es-E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1B5F2E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s-ES_tradnl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f+g</a:t>
                      </a:r>
                      <a:r>
                        <a:rPr kumimoji="0" lang="es-ES_tradnl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 / h</a:t>
                      </a:r>
                      <a:endParaRPr kumimoji="0" lang="es-E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Menos de 20</a:t>
                      </a:r>
                      <a:endParaRPr kumimoji="0" lang="es-E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4.9 aprox.</a:t>
                      </a:r>
                      <a:endParaRPr kumimoji="0" lang="es-E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48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 / e</a:t>
                      </a:r>
                      <a:endParaRPr kumimoji="0" lang="es-E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(o cerca de 1)</a:t>
                      </a:r>
                      <a:endParaRPr kumimoji="0" lang="es-E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s-E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46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/ j</a:t>
                      </a:r>
                      <a:endParaRPr kumimoji="0" lang="es-E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 1</a:t>
                      </a:r>
                      <a:endParaRPr kumimoji="0" lang="es-E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13.73</a:t>
                      </a:r>
                      <a:endParaRPr kumimoji="0" lang="es-E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77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 / (f+g)</a:t>
                      </a:r>
                      <a:endParaRPr kumimoji="0" lang="es-E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Menos de 10%</a:t>
                      </a:r>
                      <a:endParaRPr kumimoji="0" lang="es-E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37.8% </a:t>
                      </a:r>
                      <a:r>
                        <a:rPr kumimoji="0" lang="es-ES_tradnl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aprox</a:t>
                      </a:r>
                      <a:endParaRPr kumimoji="0" lang="es-E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7153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</TotalTime>
  <Words>2269</Words>
  <Application>Microsoft Office PowerPoint</Application>
  <PresentationFormat>Presentación en pantalla (4:3)</PresentationFormat>
  <Paragraphs>244</Paragraphs>
  <Slides>28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3" baseType="lpstr">
      <vt:lpstr>Arial</vt:lpstr>
      <vt:lpstr>Courier New</vt:lpstr>
      <vt:lpstr>Times New Roman</vt:lpstr>
      <vt:lpstr>Wingdings</vt:lpstr>
      <vt:lpstr>Diseño predeterminado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Francisco Moreno</dc:creator>
  <cp:lastModifiedBy>pete96</cp:lastModifiedBy>
  <cp:revision>105</cp:revision>
  <dcterms:created xsi:type="dcterms:W3CDTF">2005-08-22T21:47:08Z</dcterms:created>
  <dcterms:modified xsi:type="dcterms:W3CDTF">2019-08-14T16:55:48Z</dcterms:modified>
</cp:coreProperties>
</file>