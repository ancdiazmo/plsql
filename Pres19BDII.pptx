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14" r:id="rId2"/>
    <p:sldId id="289" r:id="rId3"/>
    <p:sldId id="290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6" r:id="rId15"/>
    <p:sldId id="308" r:id="rId16"/>
    <p:sldId id="318" r:id="rId17"/>
    <p:sldId id="309" r:id="rId18"/>
    <p:sldId id="310" r:id="rId19"/>
    <p:sldId id="311" r:id="rId20"/>
    <p:sldId id="315" r:id="rId21"/>
    <p:sldId id="316" r:id="rId22"/>
    <p:sldId id="317" r:id="rId23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FBE5B52-43E5-4098-B02D-3998C54D5C2C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9854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480CB9-243F-4C54-91EF-4632B5E8B6A2}" type="slidenum">
              <a:rPr lang="es-ES"/>
              <a:pPr eaLnBrk="1" hangingPunct="1"/>
              <a:t>2</a:t>
            </a:fld>
            <a:endParaRPr lang="es-E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047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3C4124-B393-48E1-829B-361814967381}" type="slidenum">
              <a:rPr lang="es-ES"/>
              <a:pPr eaLnBrk="1" hangingPunct="1"/>
              <a:t>3</a:t>
            </a:fld>
            <a:endParaRPr lang="es-E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48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810DE5-FDF2-424E-BE43-DF70F516FAF9}" type="slidenum">
              <a:rPr lang="es-ES"/>
              <a:pPr eaLnBrk="1" hangingPunct="1"/>
              <a:t>4</a:t>
            </a:fld>
            <a:endParaRPr lang="es-E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518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276D34-7FB0-47B1-B421-4419767D22CE}" type="slidenum">
              <a:rPr lang="es-ES"/>
              <a:pPr eaLnBrk="1" hangingPunct="1"/>
              <a:t>5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774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4E9528-AAB9-49B1-BAF3-8E03D045B875}" type="slidenum">
              <a:rPr lang="es-ES"/>
              <a:pPr eaLnBrk="1" hangingPunct="1"/>
              <a:t>6</a:t>
            </a:fld>
            <a:endParaRPr lang="es-E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704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7B66BF-E84C-48C2-8CB6-9312D7F174D1}" type="slidenum">
              <a:rPr lang="es-ES"/>
              <a:pPr eaLnBrk="1" hangingPunct="1"/>
              <a:t>7</a:t>
            </a:fld>
            <a:endParaRPr lang="es-E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023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3D08AA-F3F8-4481-A235-7834F778A9F4}" type="slidenum">
              <a:rPr lang="es-ES"/>
              <a:pPr eaLnBrk="1" hangingPunct="1"/>
              <a:t>8</a:t>
            </a:fld>
            <a:endParaRPr lang="es-E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22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216C3-AF1D-4000-817F-DCE404376E22}" type="slidenum">
              <a:rPr lang="es-ES"/>
              <a:pPr eaLnBrk="1" hangingPunct="1"/>
              <a:t>9</a:t>
            </a:fld>
            <a:endParaRPr lang="es-E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93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5813C7-D69F-40B6-BB08-894B4E5E7292}" type="slidenum">
              <a:rPr lang="es-ES"/>
              <a:pPr eaLnBrk="1" hangingPunct="1"/>
              <a:t>10</a:t>
            </a:fld>
            <a:endParaRPr lang="es-E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933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304C9C-672D-4A8F-9573-82CD492B330F}" type="slidenum">
              <a:rPr lang="es-ES"/>
              <a:pPr eaLnBrk="1" hangingPunct="1"/>
              <a:t>11</a:t>
            </a:fld>
            <a:endParaRPr lang="es-E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649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C0FD03-3018-4C6B-BA27-833C799683A0}" type="slidenum">
              <a:rPr lang="es-ES"/>
              <a:pPr eaLnBrk="1" hangingPunct="1"/>
              <a:t>13</a:t>
            </a:fld>
            <a:endParaRPr lang="es-E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s-ES_tradnl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70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5A8471-1175-413B-AACF-F62FF7B16DC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603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0FBAED-6343-4382-B860-E11A06F133C4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540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A70D94-89E8-45B6-A800-9939D09FF93C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84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FC2D80-FFE6-44E7-8575-73E74A0A7A4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974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89307E-8A9D-4759-8EE1-C0ADE9967EFE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464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9297AC-3FA1-4C8C-87A7-BF8DDBEE6CD2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319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D7C70-FA00-4B8A-B89F-0FB5AD1C0059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28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44C2DF-2258-4D5D-A658-3672A8E6400E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D790E-9987-4C51-A50C-3AC259F4C44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9709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957A0F-544A-4528-933B-A31F98E5C35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5945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894DFC-E5A6-4272-AC2B-69C0BCDA36EB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560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56D8FF9-F98D-425D-972F-F71B4C2B84EF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title"/>
          </p:nvPr>
        </p:nvSpPr>
        <p:spPr>
          <a:xfrm>
            <a:off x="827088" y="1989138"/>
            <a:ext cx="7702550" cy="2243137"/>
          </a:xfrm>
          <a:noFill/>
        </p:spPr>
        <p:txBody>
          <a:bodyPr/>
          <a:lstStyle/>
          <a:p>
            <a:pPr eaLnBrk="1" hangingPunct="1"/>
            <a:r>
              <a:rPr lang="es-MX" sz="3600" b="1" smtClean="0">
                <a:latin typeface="Times New Roman" panose="02020603050405020304" pitchFamily="18" charset="0"/>
              </a:rPr>
              <a:t>Herramientas en Oracle para </a:t>
            </a:r>
            <a:br>
              <a:rPr lang="es-MX" sz="3600" b="1" smtClean="0">
                <a:latin typeface="Times New Roman" panose="02020603050405020304" pitchFamily="18" charset="0"/>
              </a:rPr>
            </a:br>
            <a:r>
              <a:rPr lang="es-MX" sz="3600" b="1" smtClean="0">
                <a:latin typeface="Times New Roman" panose="02020603050405020304" pitchFamily="18" charset="0"/>
              </a:rPr>
              <a:t>realizar afinamiento de sentencias </a:t>
            </a:r>
            <a:br>
              <a:rPr lang="es-MX" sz="3600" b="1" smtClean="0">
                <a:latin typeface="Times New Roman" panose="02020603050405020304" pitchFamily="18" charset="0"/>
              </a:rPr>
            </a:br>
            <a:r>
              <a:rPr lang="es-MX" sz="3600" b="1" smtClean="0">
                <a:latin typeface="Times New Roman" panose="02020603050405020304" pitchFamily="18" charset="0"/>
              </a:rPr>
              <a:t>SQL (aspectos esenciales) </a:t>
            </a:r>
            <a:br>
              <a:rPr lang="es-MX" sz="3600" b="1" smtClean="0">
                <a:latin typeface="Times New Roman" panose="02020603050405020304" pitchFamily="18" charset="0"/>
              </a:rPr>
            </a:br>
            <a:r>
              <a:rPr lang="es-MX" sz="3600" b="1" smtClean="0">
                <a:latin typeface="Times New Roman" panose="02020603050405020304" pitchFamily="18" charset="0"/>
              </a:rPr>
              <a:t>cont.</a:t>
            </a:r>
            <a:endParaRPr lang="es-ES" sz="3600" b="1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71550" y="15573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900113" y="1916113"/>
            <a:ext cx="7488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s-ES_tradnl" sz="2400">
              <a:latin typeface="Times New Roman" panose="02020603050405020304" pitchFamily="18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55650" y="1654175"/>
            <a:ext cx="7561263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latin typeface="Times New Roman" panose="02020603050405020304" pitchFamily="18" charset="0"/>
              </a:rPr>
              <a:t>Para interpretar un plan de ejecución se requiere práctica.  </a:t>
            </a:r>
          </a:p>
          <a:p>
            <a:pPr eaLnBrk="1" hangingPunct="1"/>
            <a:r>
              <a:rPr lang="es-ES" sz="2400" dirty="0">
                <a:latin typeface="Times New Roman" panose="02020603050405020304" pitchFamily="18" charset="0"/>
              </a:rPr>
              <a:t>Algunas </a:t>
            </a:r>
            <a:r>
              <a:rPr lang="es-ES" sz="2400" dirty="0" smtClean="0">
                <a:latin typeface="Times New Roman" panose="02020603050405020304" pitchFamily="18" charset="0"/>
              </a:rPr>
              <a:t>indicaciones generales </a:t>
            </a:r>
            <a:r>
              <a:rPr lang="es-ES" sz="2400" dirty="0">
                <a:latin typeface="Times New Roman" panose="02020603050405020304" pitchFamily="18" charset="0"/>
              </a:rPr>
              <a:t>que ayudan:</a:t>
            </a:r>
            <a:endParaRPr lang="es-E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s-ES" sz="2400" dirty="0">
                <a:latin typeface="Times New Roman" panose="02020603050405020304" pitchFamily="18" charset="0"/>
              </a:rPr>
              <a:t>Una ruta de </a:t>
            </a:r>
            <a:r>
              <a:rPr lang="es-ES" sz="2400" dirty="0" smtClean="0">
                <a:latin typeface="Times New Roman" panose="02020603050405020304" pitchFamily="18" charset="0"/>
              </a:rPr>
              <a:t>acceso (operación) </a:t>
            </a:r>
            <a:r>
              <a:rPr lang="es-ES" sz="2400" dirty="0">
                <a:latin typeface="Times New Roman" panose="02020603050405020304" pitchFamily="18" charset="0"/>
              </a:rPr>
              <a:t>se ejecuta </a:t>
            </a:r>
            <a:r>
              <a:rPr lang="es-ES" sz="2400" b="1" dirty="0">
                <a:latin typeface="Times New Roman" panose="02020603050405020304" pitchFamily="18" charset="0"/>
              </a:rPr>
              <a:t>antes</a:t>
            </a:r>
            <a:r>
              <a:rPr lang="es-ES" sz="2400" dirty="0">
                <a:latin typeface="Times New Roman" panose="02020603050405020304" pitchFamily="18" charset="0"/>
              </a:rPr>
              <a:t> que las rutas de acceso que están menos espaciadas que ella.</a:t>
            </a:r>
          </a:p>
          <a:p>
            <a:pPr algn="just" eaLnBrk="1" hangingPunct="1">
              <a:spcBef>
                <a:spcPct val="50000"/>
              </a:spcBef>
              <a:buFontTx/>
              <a:buAutoNum type="arabicPeriod"/>
            </a:pPr>
            <a:r>
              <a:rPr lang="es-ES" sz="2400" dirty="0">
                <a:latin typeface="Times New Roman" panose="02020603050405020304" pitchFamily="18" charset="0"/>
              </a:rPr>
              <a:t>Si dos rutas de acceso están espaciadas a un mismo nivel, la que se encuentre más arriba se ejecutará primero.</a:t>
            </a:r>
          </a:p>
          <a:p>
            <a:pPr algn="just" eaLnBrk="1" hangingPunct="1">
              <a:spcBef>
                <a:spcPct val="50000"/>
              </a:spcBef>
            </a:pPr>
            <a:endParaRPr lang="es-E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08831" y="1916997"/>
            <a:ext cx="748823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Supóngase la consulta:</a:t>
            </a:r>
          </a:p>
          <a:p>
            <a:pPr algn="just" eaLnBrk="1" hangingPunct="1">
              <a:spcBef>
                <a:spcPct val="50000"/>
              </a:spcBef>
            </a:pPr>
            <a:endParaRPr lang="es-E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40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*</a:t>
            </a:r>
          </a:p>
          <a:p>
            <a:pPr eaLnBrk="1" hangingPunct="1"/>
            <a:r>
              <a:rPr lang="en-US" sz="240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</a:t>
            </a:r>
            <a:r>
              <a:rPr lang="en-US" sz="2400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dept</a:t>
            </a:r>
            <a:r>
              <a:rPr lang="en-US" sz="240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en-US" sz="2400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emp</a:t>
            </a:r>
            <a:endParaRPr lang="en-US" sz="2400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/>
            <a:r>
              <a:rPr lang="en-US" sz="240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WHERE </a:t>
            </a:r>
            <a:r>
              <a:rPr lang="en-US" sz="2400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emp.depto</a:t>
            </a:r>
            <a:r>
              <a:rPr lang="en-US" sz="240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= </a:t>
            </a:r>
            <a:r>
              <a:rPr lang="en-US" sz="2400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dept.deptno</a:t>
            </a:r>
            <a:r>
              <a:rPr lang="en-US" sz="240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algn="just" eaLnBrk="1" hangingPunct="1"/>
            <a:endParaRPr lang="es-ES" sz="2400" b="1" dirty="0">
              <a:latin typeface="Courier New" panose="02070309020205020404" pitchFamily="49" charset="0"/>
            </a:endParaRP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863600" y="4437063"/>
            <a:ext cx="7740650" cy="210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Un </a:t>
            </a:r>
            <a:r>
              <a:rPr lang="es-ES" sz="2400" i="1" dirty="0">
                <a:latin typeface="Times New Roman" panose="02020603050405020304" pitchFamily="18" charset="0"/>
              </a:rPr>
              <a:t>posible </a:t>
            </a:r>
            <a:r>
              <a:rPr lang="es-ES" sz="2400" dirty="0">
                <a:latin typeface="Times New Roman" panose="02020603050405020304" pitchFamily="18" charset="0"/>
              </a:rPr>
              <a:t>plan de ejecución, es el siguiente:</a:t>
            </a:r>
          </a:p>
          <a:p>
            <a:pPr algn="just" eaLnBrk="1" hangingPunct="1">
              <a:spcBef>
                <a:spcPct val="50000"/>
              </a:spcBef>
            </a:pPr>
            <a:endParaRPr lang="es-E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dirty="0">
                <a:solidFill>
                  <a:srgbClr val="CC0066"/>
                </a:solidFill>
              </a:rPr>
              <a:t>4</a:t>
            </a:r>
            <a:r>
              <a:rPr lang="en-US" dirty="0"/>
              <a:t>    </a:t>
            </a:r>
            <a:r>
              <a:rPr lang="en-US" b="1" dirty="0"/>
              <a:t>SELECT STATEMENT</a:t>
            </a:r>
          </a:p>
          <a:p>
            <a:pPr eaLnBrk="1" hangingPunct="1"/>
            <a:r>
              <a:rPr lang="en-US" b="1" dirty="0">
                <a:solidFill>
                  <a:srgbClr val="CC0066"/>
                </a:solidFill>
              </a:rPr>
              <a:t>3</a:t>
            </a:r>
            <a:r>
              <a:rPr lang="en-US" b="1" dirty="0"/>
              <a:t>       HASH JOIN</a:t>
            </a:r>
          </a:p>
          <a:p>
            <a:pPr eaLnBrk="1" hangingPunct="1"/>
            <a:r>
              <a:rPr lang="en-US" b="1" dirty="0">
                <a:solidFill>
                  <a:srgbClr val="CC0066"/>
                </a:solidFill>
              </a:rPr>
              <a:t>1</a:t>
            </a:r>
            <a:r>
              <a:rPr lang="en-US" b="1" dirty="0"/>
              <a:t>           TABLE ACCESS FULL DEPT</a:t>
            </a:r>
          </a:p>
          <a:p>
            <a:pPr eaLnBrk="1" hangingPunct="1"/>
            <a:r>
              <a:rPr lang="en-US" b="1" dirty="0">
                <a:solidFill>
                  <a:srgbClr val="CC0066"/>
                </a:solidFill>
              </a:rPr>
              <a:t>2</a:t>
            </a:r>
            <a:r>
              <a:rPr lang="en-US" b="1" dirty="0"/>
              <a:t>           TABLE ACCESS FULL EMP</a:t>
            </a:r>
            <a:endParaRPr lang="es-ES" b="1" dirty="0"/>
          </a:p>
        </p:txBody>
      </p:sp>
      <p:sp>
        <p:nvSpPr>
          <p:cNvPr id="4102" name="Line 5"/>
          <p:cNvSpPr>
            <a:spLocks noChangeShapeType="1"/>
          </p:cNvSpPr>
          <p:nvPr/>
        </p:nvSpPr>
        <p:spPr bwMode="auto">
          <a:xfrm flipV="1">
            <a:off x="1133475" y="6076950"/>
            <a:ext cx="665163" cy="1587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4103" name="Line 6"/>
          <p:cNvSpPr>
            <a:spLocks noChangeShapeType="1"/>
          </p:cNvSpPr>
          <p:nvPr/>
        </p:nvSpPr>
        <p:spPr bwMode="auto">
          <a:xfrm flipV="1">
            <a:off x="1133475" y="6365875"/>
            <a:ext cx="665163" cy="1587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cxnSp>
        <p:nvCxnSpPr>
          <p:cNvPr id="4104" name="2 Conector recto de flecha"/>
          <p:cNvCxnSpPr>
            <a:cxnSpLocks noChangeShapeType="1"/>
          </p:cNvCxnSpPr>
          <p:nvPr/>
        </p:nvCxnSpPr>
        <p:spPr bwMode="auto">
          <a:xfrm flipV="1">
            <a:off x="1116013" y="5781675"/>
            <a:ext cx="360362" cy="7938"/>
          </a:xfrm>
          <a:prstGeom prst="straightConnector1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5" name="13 Conector recto de flecha"/>
          <p:cNvCxnSpPr>
            <a:cxnSpLocks noChangeShapeType="1"/>
          </p:cNvCxnSpPr>
          <p:nvPr/>
        </p:nvCxnSpPr>
        <p:spPr bwMode="auto">
          <a:xfrm flipV="1">
            <a:off x="1119188" y="5499100"/>
            <a:ext cx="215900" cy="7938"/>
          </a:xfrm>
          <a:prstGeom prst="straightConnector1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755650" y="1916113"/>
            <a:ext cx="7850188" cy="363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_tradnl" sz="2400" dirty="0">
                <a:latin typeface="Times New Roman" panose="02020603050405020304" pitchFamily="18" charset="0"/>
              </a:rPr>
              <a:t>En ocasiones, es necesario considerar otros factores </a:t>
            </a:r>
            <a:r>
              <a:rPr lang="es-ES_tradnl" sz="2400" dirty="0" smtClean="0">
                <a:latin typeface="Times New Roman" panose="02020603050405020304" pitchFamily="18" charset="0"/>
              </a:rPr>
              <a:t>al interpretar </a:t>
            </a:r>
            <a:r>
              <a:rPr lang="es-ES_tradnl" sz="2400" dirty="0">
                <a:latin typeface="Times New Roman" panose="02020603050405020304" pitchFamily="18" charset="0"/>
              </a:rPr>
              <a:t>un plan de </a:t>
            </a:r>
            <a:r>
              <a:rPr lang="es-ES_tradnl" sz="2400" dirty="0" smtClean="0">
                <a:latin typeface="Times New Roman" panose="02020603050405020304" pitchFamily="18" charset="0"/>
              </a:rPr>
              <a:t>ejecución.</a:t>
            </a:r>
            <a:endParaRPr lang="es-ES_tradnl" sz="2400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Considérese el siguiente plan de ejecución:</a:t>
            </a:r>
          </a:p>
          <a:p>
            <a:pPr algn="just" eaLnBrk="1" hangingPunct="1">
              <a:spcBef>
                <a:spcPct val="50000"/>
              </a:spcBef>
            </a:pPr>
            <a:endParaRPr lang="es-ES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b="1" dirty="0"/>
              <a:t>SELECT STATEMENT</a:t>
            </a:r>
          </a:p>
          <a:p>
            <a:pPr algn="just" eaLnBrk="1" hangingPunct="1"/>
            <a:r>
              <a:rPr lang="en-US" b="1" dirty="0"/>
              <a:t>    SORT ORDER BY</a:t>
            </a:r>
          </a:p>
          <a:p>
            <a:pPr algn="just" eaLnBrk="1" hangingPunct="1"/>
            <a:r>
              <a:rPr lang="en-US" b="1" dirty="0"/>
              <a:t>       NESTED LOOPS</a:t>
            </a:r>
          </a:p>
          <a:p>
            <a:pPr algn="just" eaLnBrk="1" hangingPunct="1"/>
            <a:r>
              <a:rPr lang="en-US" b="1" dirty="0"/>
              <a:t>          TABLE ACCESS FULL CLIENTE</a:t>
            </a:r>
          </a:p>
          <a:p>
            <a:pPr algn="just" eaLnBrk="1" hangingPunct="1"/>
            <a:r>
              <a:rPr lang="en-US" b="1" dirty="0"/>
              <a:t>          TABLE ACCESS BY ROWID EMPLEADOS </a:t>
            </a:r>
          </a:p>
          <a:p>
            <a:pPr algn="just" eaLnBrk="1" hangingPunct="1"/>
            <a:r>
              <a:rPr lang="en-US" b="1" dirty="0"/>
              <a:t>             INDEX RANGE SCAN EMPLEADO_NOMBRES_IDX</a:t>
            </a:r>
            <a:r>
              <a:rPr lang="en-US" sz="2000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endParaRPr lang="es-ES" sz="2000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827088" y="2060575"/>
            <a:ext cx="7561262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Una ruta de acceso puede estar compuesta por varios pasos en el plan de ejecución.  Si se observa el resultado del EXPLAIN PLAN anterior y se siguen las </a:t>
            </a:r>
            <a:r>
              <a:rPr lang="es-ES" sz="2400" dirty="0" smtClean="0">
                <a:latin typeface="Times New Roman" panose="02020603050405020304" pitchFamily="18" charset="0"/>
              </a:rPr>
              <a:t>indicaciones dadas se </a:t>
            </a:r>
            <a:r>
              <a:rPr lang="es-ES" sz="2400" dirty="0">
                <a:latin typeface="Times New Roman" panose="02020603050405020304" pitchFamily="18" charset="0"/>
              </a:rPr>
              <a:t>pensaría que lo primero que se ejecuta es: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b="1" dirty="0"/>
              <a:t>INDEX RANGE SCAN EMPLEADO_NOMBRES_IDX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Sin embargo, este paso hace parte (</a:t>
            </a:r>
            <a:r>
              <a:rPr lang="es-ES" sz="2400" i="1" dirty="0">
                <a:solidFill>
                  <a:srgbClr val="00B0F0"/>
                </a:solidFill>
                <a:latin typeface="Times New Roman" panose="02020603050405020304" pitchFamily="18" charset="0"/>
              </a:rPr>
              <a:t>se ejecuta de manera conjunta con</a:t>
            </a:r>
            <a:r>
              <a:rPr lang="es-ES" sz="2400" dirty="0">
                <a:latin typeface="Times New Roman" panose="02020603050405020304" pitchFamily="18" charset="0"/>
              </a:rPr>
              <a:t>) de la ruta de acceso: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b="1" dirty="0"/>
              <a:t>TABLE ACCESS BY ROWID EMPLEADOS</a:t>
            </a:r>
          </a:p>
          <a:p>
            <a:pPr algn="just" eaLnBrk="1" hangingPunct="1">
              <a:spcBef>
                <a:spcPct val="50000"/>
              </a:spcBef>
            </a:pPr>
            <a:endParaRPr lang="es-E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900113" y="2133600"/>
            <a:ext cx="7704137" cy="364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Al ser una operación conjunta, </a:t>
            </a:r>
            <a:r>
              <a:rPr lang="es-ES" sz="2400" b="1">
                <a:solidFill>
                  <a:srgbClr val="CC0066"/>
                </a:solidFill>
                <a:latin typeface="Times New Roman" panose="02020603050405020304" pitchFamily="18" charset="0"/>
              </a:rPr>
              <a:t>esta se tomará como un grupo</a:t>
            </a:r>
            <a:r>
              <a:rPr lang="es-ES" sz="2400">
                <a:latin typeface="Times New Roman" panose="02020603050405020304" pitchFamily="18" charset="0"/>
              </a:rPr>
              <a:t>, es decir, como una sola operación.</a:t>
            </a:r>
            <a:r>
              <a:rPr lang="es-ES" sz="240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Así, la primera operación que se ejecuta en este plan es: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b="1"/>
              <a:t>TABLE ACCESS FULL CLIENTE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Ya que se encuentra al mismo nivel que la operación </a:t>
            </a:r>
            <a:r>
              <a:rPr lang="es-ES" sz="2400" b="1">
                <a:solidFill>
                  <a:srgbClr val="CC0066"/>
                </a:solidFill>
                <a:latin typeface="Times New Roman" panose="02020603050405020304" pitchFamily="18" charset="0"/>
              </a:rPr>
              <a:t>conjunta</a:t>
            </a:r>
            <a:r>
              <a:rPr lang="es-ES" sz="2400">
                <a:latin typeface="Times New Roman" panose="02020603050405020304" pitchFamily="18" charset="0"/>
              </a:rPr>
              <a:t> formada por:</a:t>
            </a:r>
            <a:r>
              <a:rPr lang="es-ES" sz="2400" b="1">
                <a:latin typeface="Courier New" panose="02070309020205020404" pitchFamily="49" charset="0"/>
              </a:rPr>
              <a:t> </a:t>
            </a:r>
          </a:p>
          <a:p>
            <a:pPr algn="just" eaLnBrk="1" hangingPunct="1"/>
            <a:endParaRPr lang="en-US" sz="2400" b="1">
              <a:latin typeface="Courier New" panose="02070309020205020404" pitchFamily="49" charset="0"/>
            </a:endParaRPr>
          </a:p>
          <a:p>
            <a:pPr algn="just" eaLnBrk="1" hangingPunct="1"/>
            <a:r>
              <a:rPr lang="en-US" b="1"/>
              <a:t>TABLE ACCESS BY ROWID EMPLEADOS </a:t>
            </a:r>
          </a:p>
          <a:p>
            <a:pPr algn="just" eaLnBrk="1" hangingPunct="1"/>
            <a:r>
              <a:rPr lang="en-US" b="1"/>
              <a:t>    INDEX RANGE SCAN EMPLEADO_NOMBRES_IDX</a:t>
            </a:r>
            <a:endParaRPr lang="es-ES" b="1"/>
          </a:p>
        </p:txBody>
      </p:sp>
      <p:sp>
        <p:nvSpPr>
          <p:cNvPr id="7173" name="Line 6"/>
          <p:cNvSpPr>
            <a:spLocks noChangeShapeType="1"/>
          </p:cNvSpPr>
          <p:nvPr/>
        </p:nvSpPr>
        <p:spPr bwMode="auto">
          <a:xfrm>
            <a:off x="1042988" y="5445125"/>
            <a:ext cx="0" cy="1444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7174" name="Line 7"/>
          <p:cNvSpPr>
            <a:spLocks noChangeShapeType="1"/>
          </p:cNvSpPr>
          <p:nvPr/>
        </p:nvSpPr>
        <p:spPr bwMode="auto">
          <a:xfrm>
            <a:off x="1042988" y="5589588"/>
            <a:ext cx="144462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23850" y="2133600"/>
            <a:ext cx="828040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latin typeface="Times New Roman" panose="02020603050405020304" pitchFamily="18" charset="0"/>
              </a:rPr>
              <a:t>Por lo tanto, el orden de los pasos en los que se ejecutará la consulta </a:t>
            </a:r>
            <a:r>
              <a:rPr lang="es-ES" sz="2400" dirty="0" smtClean="0">
                <a:latin typeface="Times New Roman" panose="02020603050405020304" pitchFamily="18" charset="0"/>
              </a:rPr>
              <a:t>es</a:t>
            </a:r>
            <a:endParaRPr lang="es-ES" sz="2400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endParaRPr lang="es-ES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sz="2000" b="1" dirty="0">
                <a:solidFill>
                  <a:srgbClr val="A50021"/>
                </a:solidFill>
                <a:latin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</a:rPr>
              <a:t>  SELECT STATEMENT</a:t>
            </a:r>
          </a:p>
          <a:p>
            <a:pPr algn="just" eaLnBrk="1" hangingPunct="1"/>
            <a:r>
              <a:rPr lang="en-US" sz="2000" b="1" dirty="0">
                <a:solidFill>
                  <a:srgbClr val="A50021"/>
                </a:solidFill>
                <a:latin typeface="Courier New" panose="02070309020205020404" pitchFamily="49" charset="0"/>
              </a:rPr>
              <a:t>4</a:t>
            </a:r>
            <a:r>
              <a:rPr lang="en-US" sz="2000" b="1" dirty="0">
                <a:latin typeface="Courier New" panose="02070309020205020404" pitchFamily="49" charset="0"/>
              </a:rPr>
              <a:t>    SORT ORDER BY</a:t>
            </a:r>
          </a:p>
          <a:p>
            <a:pPr algn="just" eaLnBrk="1" hangingPunct="1"/>
            <a:r>
              <a:rPr lang="en-US" sz="2000" b="1" dirty="0">
                <a:solidFill>
                  <a:srgbClr val="A50021"/>
                </a:solidFill>
                <a:latin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</a:rPr>
              <a:t>       NESTED LOOPS</a:t>
            </a:r>
          </a:p>
          <a:p>
            <a:pPr algn="just" eaLnBrk="1" hangingPunct="1"/>
            <a:r>
              <a:rPr lang="en-US" sz="2000" b="1" dirty="0">
                <a:solidFill>
                  <a:srgbClr val="A50021"/>
                </a:solidFill>
                <a:latin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</a:rPr>
              <a:t>          TABLE ACCESS FULL CLIENTE</a:t>
            </a:r>
          </a:p>
          <a:p>
            <a:pPr algn="just" eaLnBrk="1" hangingPunct="1"/>
            <a:r>
              <a:rPr lang="en-US" sz="2000" b="1" dirty="0">
                <a:solidFill>
                  <a:srgbClr val="A50021"/>
                </a:solidFill>
                <a:latin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</a:rPr>
              <a:t>          TABLE ACCESS BY ROWID EMPLEADOS</a:t>
            </a:r>
            <a:r>
              <a:rPr lang="en-US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</a:p>
          <a:p>
            <a:pPr algn="just" eaLnBrk="1" hangingPunct="1"/>
            <a:r>
              <a:rPr lang="en-US" sz="2000" b="1" dirty="0">
                <a:latin typeface="Courier New" panose="02070309020205020404" pitchFamily="49" charset="0"/>
              </a:rPr>
              <a:t>             INDEX RANGE SCAN EMPLEADO_NOMBRES_IDX</a:t>
            </a:r>
          </a:p>
          <a:p>
            <a:pPr algn="just" eaLnBrk="1" hangingPunct="1"/>
            <a:endParaRPr lang="en-US" sz="2000" b="1" dirty="0">
              <a:latin typeface="Courier New" panose="02070309020205020404" pitchFamily="49" charset="0"/>
            </a:endParaRPr>
          </a:p>
          <a:p>
            <a:pPr algn="just" eaLnBrk="1" hangingPunct="1"/>
            <a:r>
              <a:rPr lang="es-ES_tradnl" sz="2400" dirty="0">
                <a:latin typeface="Times New Roman" panose="02020603050405020304" pitchFamily="18" charset="0"/>
              </a:rPr>
              <a:t>Otro ejemplo: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84213" y="4797425"/>
            <a:ext cx="1366837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84213" y="4508500"/>
            <a:ext cx="1366837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684213" y="4221163"/>
            <a:ext cx="86360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666750" y="3886200"/>
            <a:ext cx="4683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2195513" y="5013325"/>
            <a:ext cx="0" cy="144463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2195513" y="5157788"/>
            <a:ext cx="144462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665163" y="3608388"/>
            <a:ext cx="180975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Cómo leer los resultados del EXPLAIN PLAN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900113" y="1916113"/>
            <a:ext cx="7561262" cy="3810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es-ES" sz="2000" b="1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algn="just" eaLnBrk="1" hangingPunct="1"/>
            <a:endParaRPr lang="es-ES" sz="2000" b="1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SELECT STATEMENT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SORT UNIQUE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UNION ALL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MERGE JOIN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   SORT JOIN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      TABLE ACCESS FULL COMPANIA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   SORT JOIN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      TABLE ACCESS FULL VENTAS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TABLE ACCESS BY ROWID COMPETIDOR</a:t>
            </a:r>
          </a:p>
          <a:p>
            <a:pPr algn="just" eaLnBrk="1" hangingPunct="1"/>
            <a:r>
              <a:rPr lang="es-ES" sz="2000" b="1" dirty="0">
                <a:latin typeface="Courier New" panose="02070309020205020404" pitchFamily="49" charset="0"/>
              </a:rPr>
              <a:t>           INDEX UNIQUE SCAN COMPETIDOR_PK</a:t>
            </a:r>
            <a:r>
              <a:rPr lang="es-ES" sz="24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2555875" y="4221163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2555875" y="4868863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 flipV="1">
            <a:off x="2555875" y="393382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 flipV="1">
            <a:off x="2555875" y="458152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grpSp>
        <p:nvGrpSpPr>
          <p:cNvPr id="61463" name="Group 23"/>
          <p:cNvGrpSpPr>
            <a:grpSpLocks/>
          </p:cNvGrpSpPr>
          <p:nvPr/>
        </p:nvGrpSpPr>
        <p:grpSpPr bwMode="auto">
          <a:xfrm>
            <a:off x="2268538" y="5373688"/>
            <a:ext cx="287337" cy="215900"/>
            <a:chOff x="1429" y="3385"/>
            <a:chExt cx="181" cy="136"/>
          </a:xfrm>
        </p:grpSpPr>
        <p:sp>
          <p:nvSpPr>
            <p:cNvPr id="9236" name="Line 12"/>
            <p:cNvSpPr>
              <a:spLocks noChangeShapeType="1"/>
            </p:cNvSpPr>
            <p:nvPr/>
          </p:nvSpPr>
          <p:spPr bwMode="auto">
            <a:xfrm flipH="1">
              <a:off x="1429" y="352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  <p:sp>
          <p:nvSpPr>
            <p:cNvPr id="9237" name="Line 13"/>
            <p:cNvSpPr>
              <a:spLocks noChangeShapeType="1"/>
            </p:cNvSpPr>
            <p:nvPr/>
          </p:nvSpPr>
          <p:spPr bwMode="auto">
            <a:xfrm flipV="1">
              <a:off x="1429" y="338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</p:grpSp>
      <p:sp>
        <p:nvSpPr>
          <p:cNvPr id="61455" name="Line 15"/>
          <p:cNvSpPr>
            <a:spLocks noChangeShapeType="1"/>
          </p:cNvSpPr>
          <p:nvPr/>
        </p:nvSpPr>
        <p:spPr bwMode="auto">
          <a:xfrm flipV="1">
            <a:off x="1835150" y="3500438"/>
            <a:ext cx="0" cy="1728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grpSp>
        <p:nvGrpSpPr>
          <p:cNvPr id="61464" name="Group 24"/>
          <p:cNvGrpSpPr>
            <a:grpSpLocks/>
          </p:cNvGrpSpPr>
          <p:nvPr/>
        </p:nvGrpSpPr>
        <p:grpSpPr bwMode="auto">
          <a:xfrm>
            <a:off x="1403350" y="3141663"/>
            <a:ext cx="287338" cy="142875"/>
            <a:chOff x="884" y="1979"/>
            <a:chExt cx="181" cy="90"/>
          </a:xfrm>
        </p:grpSpPr>
        <p:sp>
          <p:nvSpPr>
            <p:cNvPr id="9234" name="Line 16"/>
            <p:cNvSpPr>
              <a:spLocks noChangeShapeType="1"/>
            </p:cNvSpPr>
            <p:nvPr/>
          </p:nvSpPr>
          <p:spPr bwMode="auto">
            <a:xfrm flipH="1">
              <a:off x="884" y="2069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  <p:sp>
          <p:nvSpPr>
            <p:cNvPr id="9235" name="Line 17"/>
            <p:cNvSpPr>
              <a:spLocks noChangeShapeType="1"/>
            </p:cNvSpPr>
            <p:nvPr/>
          </p:nvSpPr>
          <p:spPr bwMode="auto">
            <a:xfrm flipV="1">
              <a:off x="884" y="1979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</p:grpSp>
      <p:grpSp>
        <p:nvGrpSpPr>
          <p:cNvPr id="61465" name="Group 25"/>
          <p:cNvGrpSpPr>
            <a:grpSpLocks/>
          </p:cNvGrpSpPr>
          <p:nvPr/>
        </p:nvGrpSpPr>
        <p:grpSpPr bwMode="auto">
          <a:xfrm>
            <a:off x="1042988" y="2852738"/>
            <a:ext cx="215900" cy="144462"/>
            <a:chOff x="657" y="1797"/>
            <a:chExt cx="136" cy="91"/>
          </a:xfrm>
        </p:grpSpPr>
        <p:sp>
          <p:nvSpPr>
            <p:cNvPr id="9232" name="Line 18"/>
            <p:cNvSpPr>
              <a:spLocks noChangeShapeType="1"/>
            </p:cNvSpPr>
            <p:nvPr/>
          </p:nvSpPr>
          <p:spPr bwMode="auto">
            <a:xfrm flipH="1">
              <a:off x="657" y="188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  <p:sp>
          <p:nvSpPr>
            <p:cNvPr id="9233" name="Line 19"/>
            <p:cNvSpPr>
              <a:spLocks noChangeShapeType="1"/>
            </p:cNvSpPr>
            <p:nvPr/>
          </p:nvSpPr>
          <p:spPr bwMode="auto">
            <a:xfrm flipV="1">
              <a:off x="657" y="1797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</p:grpSp>
      <p:grpSp>
        <p:nvGrpSpPr>
          <p:cNvPr id="61462" name="Group 22"/>
          <p:cNvGrpSpPr>
            <a:grpSpLocks/>
          </p:cNvGrpSpPr>
          <p:nvPr/>
        </p:nvGrpSpPr>
        <p:grpSpPr bwMode="auto">
          <a:xfrm>
            <a:off x="2124075" y="3789363"/>
            <a:ext cx="215900" cy="647700"/>
            <a:chOff x="3288" y="1661"/>
            <a:chExt cx="136" cy="408"/>
          </a:xfrm>
        </p:grpSpPr>
        <p:sp>
          <p:nvSpPr>
            <p:cNvPr id="9230" name="Line 5"/>
            <p:cNvSpPr>
              <a:spLocks noChangeShapeType="1"/>
            </p:cNvSpPr>
            <p:nvPr/>
          </p:nvSpPr>
          <p:spPr bwMode="auto">
            <a:xfrm flipH="1">
              <a:off x="3288" y="1661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CO"/>
            </a:p>
          </p:txBody>
        </p:sp>
        <p:sp>
          <p:nvSpPr>
            <p:cNvPr id="9231" name="Line 20"/>
            <p:cNvSpPr>
              <a:spLocks noChangeShapeType="1"/>
            </p:cNvSpPr>
            <p:nvPr/>
          </p:nvSpPr>
          <p:spPr bwMode="auto">
            <a:xfrm>
              <a:off x="3288" y="206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8" grpId="0" animBg="1"/>
      <p:bldP spid="61449" grpId="0" animBg="1"/>
      <p:bldP spid="61450" grpId="0" animBg="1"/>
      <p:bldP spid="61451" grpId="0" animBg="1"/>
      <p:bldP spid="614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971550" y="333375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EXPLAIN PLAN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827088" y="1989138"/>
            <a:ext cx="7777162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El EXPLAIN PLAN ofrece datos que pueden dar una idea sobre el rendimiento de una consulta.  Dichos datos provienen de las columnas de la tabla plan_table y son:</a:t>
            </a:r>
          </a:p>
          <a:p>
            <a:pPr algn="ctr" eaLnBrk="1" hangingPunct="1">
              <a:spcBef>
                <a:spcPct val="50000"/>
              </a:spcBef>
            </a:pPr>
            <a:r>
              <a:rPr lang="es-ES" sz="2400" b="1">
                <a:latin typeface="Times New Roman" panose="02020603050405020304" pitchFamily="18" charset="0"/>
              </a:rPr>
              <a:t>Costo   -   Cardinalidad   -   </a:t>
            </a:r>
            <a:r>
              <a:rPr lang="en-US" sz="2400" b="1">
                <a:latin typeface="Times New Roman" panose="02020603050405020304" pitchFamily="18" charset="0"/>
              </a:rPr>
              <a:t>Bytes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ES" sz="2400">
                <a:latin typeface="Times New Roman" panose="02020603050405020304" pitchFamily="18" charset="0"/>
              </a:rPr>
              <a:t>Sin embargo, </a:t>
            </a:r>
            <a:r>
              <a:rPr lang="es-ES" sz="2400">
                <a:solidFill>
                  <a:srgbClr val="FF3300"/>
                </a:solidFill>
                <a:latin typeface="Times New Roman" panose="02020603050405020304" pitchFamily="18" charset="0"/>
              </a:rPr>
              <a:t>estos datos simplemente ofrecen una </a:t>
            </a:r>
            <a:r>
              <a:rPr lang="es-E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primera aproximación</a:t>
            </a:r>
            <a:r>
              <a:rPr lang="es-ES" sz="2400">
                <a:solidFill>
                  <a:srgbClr val="FF3300"/>
                </a:solidFill>
                <a:latin typeface="Times New Roman" panose="02020603050405020304" pitchFamily="18" charset="0"/>
              </a:rPr>
              <a:t> sobre el costo de la consulta y de lo que ocurre al ejecutarla</a:t>
            </a:r>
            <a:r>
              <a:rPr lang="es-ES" sz="2400">
                <a:latin typeface="Times New Roman" panose="02020603050405020304" pitchFamily="18" charset="0"/>
              </a:rPr>
              <a:t>, es necesario apoyarse en la teoría, fórmulas de costos y otras herramientas (</a:t>
            </a:r>
            <a:r>
              <a:rPr lang="es-ES" sz="2400">
                <a:solidFill>
                  <a:srgbClr val="FF3300"/>
                </a:solidFill>
                <a:latin typeface="Times New Roman" panose="02020603050405020304" pitchFamily="18" charset="0"/>
              </a:rPr>
              <a:t>se verá luego el TKPROF</a:t>
            </a:r>
            <a:r>
              <a:rPr lang="es-ES" sz="240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10244" name="Line 5"/>
          <p:cNvSpPr>
            <a:spLocks noChangeShapeType="1"/>
          </p:cNvSpPr>
          <p:nvPr/>
        </p:nvSpPr>
        <p:spPr bwMode="auto">
          <a:xfrm>
            <a:off x="7885113" y="49418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6597650" y="5876925"/>
            <a:ext cx="1655763" cy="3667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Se ven luego</a:t>
            </a:r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2"/>
          <p:cNvSpPr txBox="1">
            <a:spLocks noChangeArrowheads="1"/>
          </p:cNvSpPr>
          <p:nvPr/>
        </p:nvSpPr>
        <p:spPr bwMode="auto">
          <a:xfrm>
            <a:off x="985838" y="209550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HINTS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436813" y="1100138"/>
            <a:ext cx="460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rgbClr val="A50021"/>
                </a:solidFill>
                <a:latin typeface="Times New Roman" panose="02020603050405020304" pitchFamily="18" charset="0"/>
              </a:rPr>
              <a:t>¿Cómo afectar el plan de ejecución?</a:t>
            </a:r>
            <a:endParaRPr lang="es-ES" sz="240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23850" y="1905000"/>
            <a:ext cx="82867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buFontTx/>
              <a:buChar char="•"/>
            </a:pPr>
            <a:r>
              <a:rPr lang="es-ES_tradnl" sz="2400" dirty="0">
                <a:solidFill>
                  <a:srgbClr val="000000"/>
                </a:solidFill>
              </a:rPr>
              <a:t> En forma predeterminada, el SGBD considera el plan de ejecución determinado por el optimizador. </a:t>
            </a:r>
          </a:p>
          <a:p>
            <a:pPr lvl="1" algn="just" eaLnBrk="1" hangingPunct="1">
              <a:buFontTx/>
              <a:buChar char="•"/>
            </a:pPr>
            <a:endParaRPr lang="es-ES_tradnl" sz="2400" dirty="0">
              <a:solidFill>
                <a:srgbClr val="000000"/>
              </a:solidFill>
            </a:endParaRPr>
          </a:p>
          <a:p>
            <a:pPr lvl="1" algn="just" eaLnBrk="1" hangingPunct="1">
              <a:buFontTx/>
              <a:buChar char="•"/>
            </a:pPr>
            <a:r>
              <a:rPr lang="es-ES_tradnl" sz="2400" dirty="0">
                <a:solidFill>
                  <a:srgbClr val="000000"/>
                </a:solidFill>
              </a:rPr>
              <a:t> Sin embargo, por medio de </a:t>
            </a:r>
            <a:r>
              <a:rPr lang="es-ES_tradnl" sz="2400" i="1" dirty="0" err="1">
                <a:solidFill>
                  <a:srgbClr val="000000"/>
                </a:solidFill>
              </a:rPr>
              <a:t>hints</a:t>
            </a:r>
            <a:r>
              <a:rPr lang="es-ES_tradnl" sz="2400" dirty="0">
                <a:solidFill>
                  <a:srgbClr val="000000"/>
                </a:solidFill>
              </a:rPr>
              <a:t> se puede </a:t>
            </a:r>
            <a:r>
              <a:rPr lang="es-ES_tradnl" sz="2400" dirty="0">
                <a:solidFill>
                  <a:srgbClr val="0000FF"/>
                </a:solidFill>
              </a:rPr>
              <a:t>inducir</a:t>
            </a:r>
            <a:r>
              <a:rPr lang="es-ES_tradnl" sz="2400" dirty="0">
                <a:solidFill>
                  <a:srgbClr val="000000"/>
                </a:solidFill>
              </a:rPr>
              <a:t> a que el SGBD ejecute una sentencia con métodos deseados por el usuario.</a:t>
            </a:r>
          </a:p>
          <a:p>
            <a:pPr lvl="1" algn="just" eaLnBrk="1" hangingPunct="1">
              <a:buFontTx/>
              <a:buChar char="•"/>
            </a:pPr>
            <a:endParaRPr lang="es-ES_tradnl" sz="2400" dirty="0">
              <a:solidFill>
                <a:srgbClr val="000000"/>
              </a:solidFill>
            </a:endParaRPr>
          </a:p>
          <a:p>
            <a:pPr lvl="1" algn="just" eaLnBrk="1" hangingPunct="1">
              <a:buFontTx/>
              <a:buChar char="•"/>
            </a:pPr>
            <a:r>
              <a:rPr lang="es-ES_tradnl" sz="2400" dirty="0">
                <a:solidFill>
                  <a:srgbClr val="000000"/>
                </a:solidFill>
              </a:rPr>
              <a:t> Los </a:t>
            </a:r>
            <a:r>
              <a:rPr lang="es-ES_tradnl" sz="2400" i="1" dirty="0" err="1">
                <a:solidFill>
                  <a:srgbClr val="000000"/>
                </a:solidFill>
              </a:rPr>
              <a:t>hints</a:t>
            </a:r>
            <a:r>
              <a:rPr lang="es-ES_tradnl" sz="2400" dirty="0">
                <a:solidFill>
                  <a:srgbClr val="000000"/>
                </a:solidFill>
              </a:rPr>
              <a:t> se colocan en la sentencia SQL a ejecutar.  </a:t>
            </a:r>
            <a:endParaRPr lang="es-ES_tradnl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985838" y="209550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HINTS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436813" y="685800"/>
            <a:ext cx="460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rgbClr val="A50021"/>
                </a:solidFill>
                <a:latin typeface="Times New Roman" panose="02020603050405020304" pitchFamily="18" charset="0"/>
              </a:rPr>
              <a:t>¿Cómo afectar el plan de ejecución?</a:t>
            </a:r>
            <a:endParaRPr lang="es-ES" sz="240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539750" y="1268413"/>
            <a:ext cx="8153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s-ES_tradnl" sz="2400" dirty="0">
                <a:solidFill>
                  <a:srgbClr val="000000"/>
                </a:solidFill>
              </a:rPr>
              <a:t>La sintaxis es:</a:t>
            </a:r>
          </a:p>
          <a:p>
            <a:pPr lvl="1" eaLnBrk="1" hangingPunct="1"/>
            <a:endParaRPr lang="es-ES_tradnl" sz="2400" dirty="0">
              <a:solidFill>
                <a:srgbClr val="000000"/>
              </a:solidFill>
            </a:endParaRPr>
          </a:p>
          <a:p>
            <a:pPr lvl="1" algn="ctr" eaLnBrk="1" hangingPunct="1"/>
            <a:r>
              <a:rPr lang="en-GB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/*+ </a:t>
            </a:r>
            <a:r>
              <a:rPr lang="en-GB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[HINTS]</a:t>
            </a:r>
            <a:r>
              <a:rPr lang="en-GB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*/ [</a:t>
            </a:r>
            <a:r>
              <a:rPr lang="en-GB" sz="2400" b="1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columnas</a:t>
            </a:r>
            <a:r>
              <a:rPr lang="en-GB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] FROM…</a:t>
            </a:r>
          </a:p>
          <a:p>
            <a:pPr lvl="1" eaLnBrk="1" hangingPunct="1"/>
            <a:endParaRPr lang="es-ES_tradnl" sz="2400" dirty="0">
              <a:solidFill>
                <a:srgbClr val="000000"/>
              </a:solidFill>
            </a:endParaRPr>
          </a:p>
          <a:p>
            <a:pPr lvl="1" eaLnBrk="1" hangingPunct="1"/>
            <a:r>
              <a:rPr lang="es-ES_tradnl" sz="2400" dirty="0">
                <a:solidFill>
                  <a:srgbClr val="000000"/>
                </a:solidFill>
              </a:rPr>
              <a:t>Los </a:t>
            </a:r>
            <a:r>
              <a:rPr lang="es-ES_tradnl" sz="2400" i="1" dirty="0" err="1">
                <a:solidFill>
                  <a:srgbClr val="000000"/>
                </a:solidFill>
              </a:rPr>
              <a:t>hints</a:t>
            </a:r>
            <a:r>
              <a:rPr lang="es-ES_tradnl" sz="2400" dirty="0">
                <a:solidFill>
                  <a:srgbClr val="000000"/>
                </a:solidFill>
              </a:rPr>
              <a:t> que se usarán en algunos de los ejemplos son</a:t>
            </a:r>
          </a:p>
          <a:p>
            <a:pPr lvl="1" eaLnBrk="1" hangingPunct="1"/>
            <a:endParaRPr lang="es-ES_tradnl" sz="2400" dirty="0">
              <a:solidFill>
                <a:srgbClr val="000000"/>
              </a:solidFill>
            </a:endParaRPr>
          </a:p>
          <a:p>
            <a:pPr eaLnBrk="1" hangingPunct="1"/>
            <a:r>
              <a:rPr lang="es-ES_tradnl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USE_NL</a:t>
            </a:r>
            <a:r>
              <a:rPr lang="es-ES_tradnl" sz="2400" dirty="0">
                <a:solidFill>
                  <a:srgbClr val="000000"/>
                </a:solidFill>
              </a:rPr>
              <a:t>(</a:t>
            </a:r>
            <a:r>
              <a:rPr lang="es-ES_tradnl" sz="2400" i="1" dirty="0">
                <a:solidFill>
                  <a:srgbClr val="FF3300"/>
                </a:solidFill>
              </a:rPr>
              <a:t>tablas</a:t>
            </a:r>
            <a:r>
              <a:rPr lang="es-ES_tradnl" sz="2400" dirty="0">
                <a:solidFill>
                  <a:srgbClr val="000000"/>
                </a:solidFill>
              </a:rPr>
              <a:t>): induce al optimizador a usar</a:t>
            </a:r>
          </a:p>
          <a:p>
            <a:pPr eaLnBrk="1" hangingPunct="1"/>
            <a:r>
              <a:rPr lang="es-ES_tradnl" sz="2400" dirty="0">
                <a:solidFill>
                  <a:srgbClr val="000000"/>
                </a:solidFill>
              </a:rPr>
              <a:t>el método </a:t>
            </a:r>
            <a:r>
              <a:rPr lang="es-ES_tradnl" sz="2400" i="1" dirty="0" err="1">
                <a:solidFill>
                  <a:srgbClr val="000000"/>
                </a:solidFill>
              </a:rPr>
              <a:t>nested</a:t>
            </a:r>
            <a:r>
              <a:rPr lang="es-ES_tradnl" sz="2400" i="1" dirty="0">
                <a:solidFill>
                  <a:srgbClr val="000000"/>
                </a:solidFill>
              </a:rPr>
              <a:t> </a:t>
            </a:r>
            <a:r>
              <a:rPr lang="es-ES_tradnl" sz="2400" i="1" dirty="0" err="1">
                <a:solidFill>
                  <a:srgbClr val="000000"/>
                </a:solidFill>
              </a:rPr>
              <a:t>loops</a:t>
            </a:r>
            <a:r>
              <a:rPr lang="es-ES_tradnl" sz="2400" dirty="0">
                <a:solidFill>
                  <a:srgbClr val="000000"/>
                </a:solidFill>
              </a:rPr>
              <a:t>, usando la primera </a:t>
            </a:r>
            <a:r>
              <a:rPr lang="es-ES_tradnl" sz="2400" i="1" dirty="0">
                <a:solidFill>
                  <a:srgbClr val="FF3300"/>
                </a:solidFill>
              </a:rPr>
              <a:t>tabla</a:t>
            </a:r>
            <a:r>
              <a:rPr lang="es-ES_tradnl" sz="2400" dirty="0">
                <a:solidFill>
                  <a:srgbClr val="000000"/>
                </a:solidFill>
              </a:rPr>
              <a:t> como la “</a:t>
            </a:r>
            <a:r>
              <a:rPr lang="es-ES_tradnl" sz="2400" i="1" dirty="0" err="1">
                <a:solidFill>
                  <a:srgbClr val="000000"/>
                </a:solidFill>
              </a:rPr>
              <a:t>driving</a:t>
            </a:r>
            <a:r>
              <a:rPr lang="es-ES_tradnl" sz="2400" i="1" dirty="0">
                <a:solidFill>
                  <a:srgbClr val="000000"/>
                </a:solidFill>
              </a:rPr>
              <a:t> </a:t>
            </a:r>
            <a:r>
              <a:rPr lang="es-ES_tradnl" sz="2400" i="1" dirty="0" err="1">
                <a:solidFill>
                  <a:srgbClr val="000000"/>
                </a:solidFill>
              </a:rPr>
              <a:t>table</a:t>
            </a:r>
            <a:r>
              <a:rPr lang="es-ES_tradnl" sz="2400" dirty="0">
                <a:solidFill>
                  <a:srgbClr val="000000"/>
                </a:solidFill>
              </a:rPr>
              <a:t>” (primera tabla) en dicho método. </a:t>
            </a:r>
          </a:p>
          <a:p>
            <a:pPr eaLnBrk="1" hangingPunct="1"/>
            <a:r>
              <a:rPr lang="es-ES_tradnl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USE_MERGE</a:t>
            </a:r>
            <a:r>
              <a:rPr lang="es-ES_tradnl" sz="2400" dirty="0">
                <a:solidFill>
                  <a:srgbClr val="000000"/>
                </a:solidFill>
              </a:rPr>
              <a:t>(</a:t>
            </a:r>
            <a:r>
              <a:rPr lang="es-ES_tradnl" sz="2400" i="1" dirty="0">
                <a:solidFill>
                  <a:srgbClr val="FF3300"/>
                </a:solidFill>
              </a:rPr>
              <a:t>tablas</a:t>
            </a:r>
            <a:r>
              <a:rPr lang="es-ES_tradnl" sz="2400" dirty="0">
                <a:solidFill>
                  <a:srgbClr val="000000"/>
                </a:solidFill>
              </a:rPr>
              <a:t>)</a:t>
            </a:r>
            <a:r>
              <a:rPr lang="es-ES_tradnl" sz="2400" b="1" dirty="0">
                <a:solidFill>
                  <a:srgbClr val="000000"/>
                </a:solidFill>
              </a:rPr>
              <a:t>: </a:t>
            </a:r>
            <a:r>
              <a:rPr lang="es-ES_tradnl" sz="2400" dirty="0">
                <a:solidFill>
                  <a:srgbClr val="000000"/>
                </a:solidFill>
              </a:rPr>
              <a:t>induce al optimizador  a usar el método </a:t>
            </a:r>
            <a:r>
              <a:rPr lang="es-ES_tradnl" sz="2400" i="1" dirty="0" err="1">
                <a:solidFill>
                  <a:srgbClr val="000000"/>
                </a:solidFill>
              </a:rPr>
              <a:t>sort</a:t>
            </a:r>
            <a:r>
              <a:rPr lang="es-ES_tradnl" sz="2400" i="1" dirty="0">
                <a:solidFill>
                  <a:srgbClr val="000000"/>
                </a:solidFill>
              </a:rPr>
              <a:t> </a:t>
            </a:r>
            <a:r>
              <a:rPr lang="es-ES_tradnl" sz="2400" i="1" dirty="0" err="1">
                <a:solidFill>
                  <a:srgbClr val="000000"/>
                </a:solidFill>
              </a:rPr>
              <a:t>merge</a:t>
            </a:r>
            <a:r>
              <a:rPr lang="es-ES_tradnl" sz="2400" dirty="0">
                <a:solidFill>
                  <a:srgbClr val="000000"/>
                </a:solidFill>
              </a:rPr>
              <a:t>.</a:t>
            </a:r>
          </a:p>
          <a:p>
            <a:pPr eaLnBrk="1" hangingPunct="1"/>
            <a:r>
              <a:rPr lang="es-ES_tradnl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USE_HASH</a:t>
            </a:r>
            <a:r>
              <a:rPr lang="es-ES_tradnl" sz="2400" dirty="0">
                <a:solidFill>
                  <a:srgbClr val="000000"/>
                </a:solidFill>
              </a:rPr>
              <a:t>(</a:t>
            </a:r>
            <a:r>
              <a:rPr lang="es-ES_tradnl" sz="2400" i="1" dirty="0">
                <a:solidFill>
                  <a:srgbClr val="FF3300"/>
                </a:solidFill>
              </a:rPr>
              <a:t>tablas</a:t>
            </a:r>
            <a:r>
              <a:rPr lang="es-ES_tradnl" sz="2400" dirty="0">
                <a:solidFill>
                  <a:srgbClr val="000000"/>
                </a:solidFill>
              </a:rPr>
              <a:t>): induce al optimizador a usar el método </a:t>
            </a:r>
            <a:r>
              <a:rPr lang="es-ES_tradnl" sz="2400" i="1" dirty="0">
                <a:solidFill>
                  <a:srgbClr val="000000"/>
                </a:solidFill>
              </a:rPr>
              <a:t>hash </a:t>
            </a:r>
            <a:r>
              <a:rPr lang="es-ES_tradnl" sz="2400" i="1" dirty="0" err="1">
                <a:solidFill>
                  <a:srgbClr val="000000"/>
                </a:solidFill>
              </a:rPr>
              <a:t>join</a:t>
            </a:r>
            <a:r>
              <a:rPr lang="es-ES_tradnl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2293" name="AutoShape 5"/>
          <p:cNvSpPr>
            <a:spLocks/>
          </p:cNvSpPr>
          <p:nvPr/>
        </p:nvSpPr>
        <p:spPr bwMode="auto">
          <a:xfrm>
            <a:off x="250825" y="3500438"/>
            <a:ext cx="217488" cy="2520950"/>
          </a:xfrm>
          <a:prstGeom prst="leftBrace">
            <a:avLst>
              <a:gd name="adj1" fmla="val 965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258888" y="6237288"/>
            <a:ext cx="6049962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>
                <a:solidFill>
                  <a:srgbClr val="CC0066"/>
                </a:solidFill>
              </a:rPr>
              <a:t>Estos métodos se explicarán en detalle posteriormente</a:t>
            </a:r>
            <a:endParaRPr lang="es-ES_tradnl">
              <a:solidFill>
                <a:srgbClr val="CC0066"/>
              </a:solidFill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250825" y="6453188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250825" y="5229225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4603750" y="1341438"/>
            <a:ext cx="2087563" cy="6413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Se pueden poner varios </a:t>
            </a:r>
            <a:r>
              <a:rPr lang="es-CO" i="1"/>
              <a:t>hints</a:t>
            </a:r>
            <a:endParaRPr lang="es-ES_tradnl" i="1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3995738" y="1628775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/>
          <a:lstStyle/>
          <a:p>
            <a:pPr eaLnBrk="1" hangingPunct="1"/>
            <a:r>
              <a:rPr lang="es-ES_tradnl" sz="2800" dirty="0" smtClean="0">
                <a:solidFill>
                  <a:srgbClr val="000000"/>
                </a:solidFill>
              </a:rPr>
              <a:t>Si en la consulta se usan alias para las tablas, estos se deben usar en el </a:t>
            </a:r>
            <a:r>
              <a:rPr lang="es-ES_tradnl" sz="2800" i="1" dirty="0" err="1" smtClean="0">
                <a:solidFill>
                  <a:srgbClr val="000000"/>
                </a:solidFill>
              </a:rPr>
              <a:t>hint</a:t>
            </a:r>
            <a:r>
              <a:rPr lang="es-ES_tradnl" sz="2800" dirty="0" smtClean="0">
                <a:solidFill>
                  <a:srgbClr val="000000"/>
                </a:solidFill>
              </a:rPr>
              <a:t> (en lugar de los nombres de las tablas).</a:t>
            </a:r>
          </a:p>
          <a:p>
            <a:pPr eaLnBrk="1" hangingPunct="1"/>
            <a:r>
              <a:rPr lang="es-CO" sz="2800" dirty="0" smtClean="0">
                <a:solidFill>
                  <a:srgbClr val="000000"/>
                </a:solidFill>
              </a:rPr>
              <a:t>A veces es imposible que el optimizador obedezca el </a:t>
            </a:r>
            <a:r>
              <a:rPr lang="es-CO" sz="2800" i="1" dirty="0" err="1" smtClean="0">
                <a:solidFill>
                  <a:srgbClr val="000000"/>
                </a:solidFill>
              </a:rPr>
              <a:t>hint</a:t>
            </a:r>
            <a:r>
              <a:rPr lang="es-CO" sz="2800" dirty="0" smtClean="0">
                <a:solidFill>
                  <a:srgbClr val="000000"/>
                </a:solidFill>
              </a:rPr>
              <a:t> (ver un ejemplo más adelante), en estos casos, el </a:t>
            </a:r>
            <a:r>
              <a:rPr lang="es-CO" sz="2800" i="1" dirty="0" err="1" smtClean="0">
                <a:solidFill>
                  <a:srgbClr val="000000"/>
                </a:solidFill>
              </a:rPr>
              <a:t>hint</a:t>
            </a:r>
            <a:r>
              <a:rPr lang="es-CO" sz="2800" dirty="0" smtClean="0">
                <a:solidFill>
                  <a:srgbClr val="000000"/>
                </a:solidFill>
              </a:rPr>
              <a:t> </a:t>
            </a:r>
            <a:r>
              <a:rPr lang="es-CO" sz="2800" dirty="0" smtClean="0">
                <a:solidFill>
                  <a:srgbClr val="000000"/>
                </a:solidFill>
              </a:rPr>
              <a:t>es ignorado.</a:t>
            </a:r>
            <a:endParaRPr lang="es-CO" sz="2800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s-CO" sz="2800" dirty="0" smtClean="0">
                <a:solidFill>
                  <a:srgbClr val="000000"/>
                </a:solidFill>
              </a:rPr>
              <a:t>Si un </a:t>
            </a:r>
            <a:r>
              <a:rPr lang="es-CO" sz="2800" i="1" dirty="0" err="1" smtClean="0">
                <a:solidFill>
                  <a:srgbClr val="000000"/>
                </a:solidFill>
              </a:rPr>
              <a:t>hint</a:t>
            </a:r>
            <a:r>
              <a:rPr lang="es-CO" sz="2800" dirty="0" smtClean="0">
                <a:solidFill>
                  <a:srgbClr val="000000"/>
                </a:solidFill>
              </a:rPr>
              <a:t> está mal escrito, se ignora (pero no se genera error). </a:t>
            </a:r>
            <a:endParaRPr lang="es-ES" sz="2800" dirty="0" smtClean="0">
              <a:solidFill>
                <a:srgbClr val="000000"/>
              </a:solidFill>
            </a:endParaRPr>
          </a:p>
        </p:txBody>
      </p:sp>
      <p:sp>
        <p:nvSpPr>
          <p:cNvPr id="151555" name="Text Box 3"/>
          <p:cNvSpPr txBox="1">
            <a:spLocks noChangeArrowheads="1"/>
          </p:cNvSpPr>
          <p:nvPr/>
        </p:nvSpPr>
        <p:spPr bwMode="auto">
          <a:xfrm>
            <a:off x="985838" y="209550"/>
            <a:ext cx="716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HINTS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436813" y="685800"/>
            <a:ext cx="460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rgbClr val="A50021"/>
                </a:solidFill>
                <a:latin typeface="Times New Roman" panose="02020603050405020304" pitchFamily="18" charset="0"/>
              </a:rPr>
              <a:t>¿Cómo afectar el plan de ejecución?</a:t>
            </a:r>
            <a:endParaRPr lang="es-ES" sz="240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990600" y="287338"/>
            <a:ext cx="7162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HINTS</a:t>
            </a:r>
            <a:endParaRPr lang="es-ES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438400" y="811213"/>
            <a:ext cx="460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rgbClr val="A50021"/>
                </a:solidFill>
                <a:latin typeface="Times New Roman" panose="02020603050405020304" pitchFamily="18" charset="0"/>
              </a:rPr>
              <a:t>¿Cómo afectar el plan de ejecución?</a:t>
            </a:r>
            <a:endParaRPr lang="es-ES" sz="240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95288" y="1773238"/>
            <a:ext cx="801211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s-ES_tradnl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ORDERED</a:t>
            </a:r>
            <a:r>
              <a:rPr lang="es-ES_tradnl" sz="2400" b="1" dirty="0">
                <a:solidFill>
                  <a:srgbClr val="000000"/>
                </a:solidFill>
              </a:rPr>
              <a:t>: </a:t>
            </a:r>
            <a:r>
              <a:rPr lang="es-ES_tradnl" sz="2400" dirty="0">
                <a:solidFill>
                  <a:srgbClr val="000000"/>
                </a:solidFill>
              </a:rPr>
              <a:t>induce al optimizador a reunir las tablas en el orden en el que aparecen en la cláusula </a:t>
            </a:r>
            <a:r>
              <a:rPr lang="es-ES_tradnl" sz="24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</a:t>
            </a:r>
            <a:r>
              <a:rPr lang="es-ES_tradnl" sz="2400" dirty="0">
                <a:solidFill>
                  <a:srgbClr val="000000"/>
                </a:solidFill>
              </a:rPr>
              <a:t>.</a:t>
            </a:r>
          </a:p>
          <a:p>
            <a:pPr lvl="1" eaLnBrk="1" hangingPunct="1"/>
            <a:endParaRPr lang="es-ES_tradnl" sz="2400" dirty="0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s-ES_tradnl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INDEX</a:t>
            </a:r>
            <a:r>
              <a:rPr lang="es-ES_tradnl" sz="2400" dirty="0">
                <a:solidFill>
                  <a:srgbClr val="000000"/>
                </a:solidFill>
              </a:rPr>
              <a:t>(</a:t>
            </a:r>
            <a:r>
              <a:rPr lang="es-ES_tradnl" sz="2400" i="1" dirty="0">
                <a:solidFill>
                  <a:srgbClr val="FF3300"/>
                </a:solidFill>
              </a:rPr>
              <a:t>tabla</a:t>
            </a:r>
            <a:r>
              <a:rPr lang="es-ES_tradnl" sz="2400" dirty="0">
                <a:solidFill>
                  <a:srgbClr val="000000"/>
                </a:solidFill>
              </a:rPr>
              <a:t> [</a:t>
            </a:r>
            <a:r>
              <a:rPr lang="es-ES_tradnl" sz="2400" i="1" dirty="0">
                <a:solidFill>
                  <a:srgbClr val="003399"/>
                </a:solidFill>
              </a:rPr>
              <a:t>índice</a:t>
            </a:r>
            <a:r>
              <a:rPr lang="es-ES_tradnl" sz="2400" dirty="0">
                <a:solidFill>
                  <a:srgbClr val="000000"/>
                </a:solidFill>
              </a:rPr>
              <a:t>]): induce al optimizador a usar el índice especificado de la tabla. Si no se especificó un índice en particular, se supone que se usará el índice de la clave primaria.</a:t>
            </a:r>
          </a:p>
          <a:p>
            <a:pPr lvl="1" eaLnBrk="1" hangingPunct="1"/>
            <a:endParaRPr lang="es-ES_tradnl" sz="2400" dirty="0">
              <a:solidFill>
                <a:srgbClr val="000000"/>
              </a:solidFill>
            </a:endParaRPr>
          </a:p>
          <a:p>
            <a:pPr lvl="1" eaLnBrk="1" hangingPunct="1"/>
            <a:r>
              <a:rPr lang="es-ES_tradnl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NO_INDEX</a:t>
            </a:r>
            <a:r>
              <a:rPr lang="es-ES_tradnl" sz="2400" dirty="0">
                <a:solidFill>
                  <a:srgbClr val="000000"/>
                </a:solidFill>
              </a:rPr>
              <a:t>(</a:t>
            </a:r>
            <a:r>
              <a:rPr lang="es-ES_tradnl" sz="2400" i="1" dirty="0">
                <a:solidFill>
                  <a:srgbClr val="FF3300"/>
                </a:solidFill>
              </a:rPr>
              <a:t>tabla</a:t>
            </a:r>
            <a:r>
              <a:rPr lang="es-ES_tradnl" sz="2400" dirty="0">
                <a:solidFill>
                  <a:srgbClr val="000000"/>
                </a:solidFill>
              </a:rPr>
              <a:t> [</a:t>
            </a:r>
            <a:r>
              <a:rPr lang="es-ES_tradnl" sz="2400" i="1" dirty="0">
                <a:solidFill>
                  <a:srgbClr val="003399"/>
                </a:solidFill>
              </a:rPr>
              <a:t>índice</a:t>
            </a:r>
            <a:r>
              <a:rPr lang="es-ES_tradnl" sz="2400" dirty="0">
                <a:solidFill>
                  <a:srgbClr val="000000"/>
                </a:solidFill>
              </a:rPr>
              <a:t>])</a:t>
            </a:r>
            <a:r>
              <a:rPr lang="es-ES_tradnl" sz="2400" b="1" dirty="0">
                <a:solidFill>
                  <a:srgbClr val="000000"/>
                </a:solidFill>
              </a:rPr>
              <a:t>: </a:t>
            </a:r>
            <a:r>
              <a:rPr lang="es-ES_tradnl" sz="2400" dirty="0">
                <a:solidFill>
                  <a:srgbClr val="000000"/>
                </a:solidFill>
              </a:rPr>
              <a:t>hace la operación opuesta al </a:t>
            </a:r>
            <a:r>
              <a:rPr lang="es-ES_tradnl" sz="2400" i="1" dirty="0" err="1">
                <a:solidFill>
                  <a:srgbClr val="000000"/>
                </a:solidFill>
              </a:rPr>
              <a:t>hint</a:t>
            </a:r>
            <a:r>
              <a:rPr lang="es-ES_tradnl" sz="2400" dirty="0">
                <a:solidFill>
                  <a:srgbClr val="000000"/>
                </a:solidFill>
              </a:rPr>
              <a:t> anterior.</a:t>
            </a:r>
          </a:p>
          <a:p>
            <a:pPr lvl="1" eaLnBrk="1" hangingPunct="1"/>
            <a:endParaRPr lang="es-ES_tradnl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5068887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err="1" smtClean="0"/>
              <a:t>Ejemplos</a:t>
            </a:r>
            <a:r>
              <a:rPr lang="en-US" sz="2000" dirty="0" smtClean="0"/>
              <a:t>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DROP TABLE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CREATE TABLE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</a:t>
            </a:r>
            <a:r>
              <a:rPr lang="en-US" sz="2000" b="1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(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NUMBER PRIMARY KEY,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ab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VARCHAR2(100));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 smtClean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DROP TABLE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test_for_ep_b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CREATE TABLE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</a:t>
            </a:r>
            <a:r>
              <a:rPr lang="en-US" sz="2000" b="1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(bb VARCHAR2(100) PRIMARY KEY,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NUMBER REFERENCES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);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 smtClean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EXPLAIN PLAN FOR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*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a,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test_for_ep_b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b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WHERE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a.aa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= b.ba;</a:t>
            </a:r>
            <a:endParaRPr lang="es-ES" sz="2000" dirty="0" smtClean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err="1" smtClean="0"/>
              <a:t>Observar</a:t>
            </a:r>
            <a:r>
              <a:rPr lang="en-US" sz="2000" dirty="0" smtClean="0"/>
              <a:t> el plan de </a:t>
            </a:r>
            <a:r>
              <a:rPr lang="en-US" sz="2000" dirty="0" err="1" smtClean="0"/>
              <a:t>ejecución</a:t>
            </a:r>
            <a:r>
              <a:rPr lang="en-US" sz="2000" dirty="0" smtClean="0"/>
              <a:t> para </a:t>
            </a:r>
            <a:r>
              <a:rPr lang="en-US" sz="2000" dirty="0" err="1" smtClean="0"/>
              <a:t>cada</a:t>
            </a:r>
            <a:r>
              <a:rPr lang="en-US" sz="2000" dirty="0" smtClean="0"/>
              <a:t> </a:t>
            </a:r>
            <a:r>
              <a:rPr lang="en-US" sz="2000" dirty="0" err="1" smtClean="0"/>
              <a:t>una</a:t>
            </a:r>
            <a:r>
              <a:rPr lang="en-US" sz="2000" dirty="0" smtClean="0"/>
              <a:t> de </a:t>
            </a:r>
            <a:r>
              <a:rPr lang="en-US" sz="2000" dirty="0" err="1" smtClean="0"/>
              <a:t>las</a:t>
            </a:r>
            <a:r>
              <a:rPr lang="en-US" sz="2000" dirty="0" smtClean="0"/>
              <a:t> </a:t>
            </a:r>
            <a:r>
              <a:rPr lang="en-US" sz="2000" dirty="0" err="1" smtClean="0"/>
              <a:t>siguientes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err="1" smtClean="0"/>
              <a:t>consultas</a:t>
            </a:r>
            <a:r>
              <a:rPr lang="en-US" sz="2000" dirty="0" smtClean="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EXPLAIN PLAN FOR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/*+ USE_NL(a b) */ *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a,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test_for_ep_b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b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WHERE </a:t>
            </a:r>
            <a:r>
              <a:rPr lang="en-US" sz="20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a.aa</a:t>
            </a:r>
            <a:r>
              <a:rPr lang="en-US" sz="20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= b.ba;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/>
              <a:t> SELECT STATEMENT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/>
              <a:t>     NESTED LOOPS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/>
              <a:t>       TABLE ACCESS FULL TEST_FOR_EP_B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/>
              <a:t>       TABLE ACCESS BY INDEX ROWID TEST_FOR_EP_A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/>
              <a:t>         INDEX UNIQUE SCAN SYS_C005207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879475" y="4006850"/>
            <a:ext cx="2089150" cy="358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Nota también podría salir así:</a:t>
            </a:r>
          </a:p>
          <a:p>
            <a:pPr marL="0" indent="0">
              <a:buNone/>
            </a:pPr>
            <a:endParaRPr lang="es-ES" dirty="0" smtClean="0"/>
          </a:p>
          <a:p>
            <a:pPr marL="0" indent="0">
              <a:buNone/>
            </a:pPr>
            <a:r>
              <a:rPr lang="en-US" sz="2000" b="1" dirty="0"/>
              <a:t> SELECT STATEMENT</a:t>
            </a:r>
          </a:p>
          <a:p>
            <a:pPr marL="0" indent="0">
              <a:buNone/>
            </a:pPr>
            <a:r>
              <a:rPr lang="en-US" sz="2000" b="1" dirty="0"/>
              <a:t>    NESTED LOOPS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</a:rPr>
              <a:t>      </a:t>
            </a:r>
            <a:r>
              <a:rPr lang="en-US" sz="2000" b="1" dirty="0">
                <a:solidFill>
                  <a:srgbClr val="0070C0"/>
                </a:solidFill>
              </a:rPr>
              <a:t>NESTED LOOPS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  TABLE ACCESS FULL TEST_FOR_EP_B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  </a:t>
            </a:r>
            <a:r>
              <a:rPr lang="en-US" sz="2000" b="1" dirty="0" smtClean="0">
                <a:solidFill>
                  <a:srgbClr val="0070C0"/>
                </a:solidFill>
              </a:rPr>
              <a:t> INDEX </a:t>
            </a:r>
            <a:r>
              <a:rPr lang="en-US" sz="2000" b="1" dirty="0">
                <a:solidFill>
                  <a:srgbClr val="0070C0"/>
                </a:solidFill>
              </a:rPr>
              <a:t>UNIQUE SCAN SYS_C009599</a:t>
            </a:r>
          </a:p>
          <a:p>
            <a:pPr marL="0" indent="0">
              <a:buNone/>
            </a:pPr>
            <a:r>
              <a:rPr lang="en-US" sz="2000" b="1" dirty="0"/>
              <a:t>      TABLE ACCESS BY INDEX ROWID TEST_FOR_EP_A</a:t>
            </a:r>
            <a:endParaRPr lang="es-ES" sz="2000" b="1" dirty="0"/>
          </a:p>
        </p:txBody>
      </p:sp>
      <p:cxnSp>
        <p:nvCxnSpPr>
          <p:cNvPr id="5" name="Conector recto de flecha 4"/>
          <p:cNvCxnSpPr/>
          <p:nvPr/>
        </p:nvCxnSpPr>
        <p:spPr>
          <a:xfrm flipV="1">
            <a:off x="5652120" y="4221088"/>
            <a:ext cx="1080120" cy="1440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6925572" y="3718773"/>
            <a:ext cx="2195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Índice </a:t>
            </a:r>
            <a:r>
              <a:rPr lang="es-ES" dirty="0" smtClean="0"/>
              <a:t>de la CP en</a:t>
            </a:r>
            <a:endParaRPr lang="es-ES" dirty="0"/>
          </a:p>
          <a:p>
            <a:r>
              <a:rPr lang="en-US" dirty="0" smtClean="0"/>
              <a:t>TEST_FOR_EP_A</a:t>
            </a:r>
            <a:endParaRPr lang="es-ES" dirty="0"/>
          </a:p>
        </p:txBody>
      </p:sp>
      <p:sp>
        <p:nvSpPr>
          <p:cNvPr id="7" name="Abrir corchete 6"/>
          <p:cNvSpPr/>
          <p:nvPr/>
        </p:nvSpPr>
        <p:spPr>
          <a:xfrm>
            <a:off x="683568" y="3356992"/>
            <a:ext cx="72008" cy="151216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Abrir corchete 7"/>
          <p:cNvSpPr/>
          <p:nvPr/>
        </p:nvSpPr>
        <p:spPr>
          <a:xfrm>
            <a:off x="835968" y="3718773"/>
            <a:ext cx="112940" cy="790348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6407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EXPLAIN PLAN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/*+ USE_MERGE(a b) */ *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</a:t>
            </a:r>
            <a:r>
              <a:rPr lang="en-US" sz="24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a, </a:t>
            </a:r>
            <a:r>
              <a:rPr lang="en-US" sz="24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test_for_ep_b</a:t>
            </a: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b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WHERE </a:t>
            </a:r>
            <a:r>
              <a:rPr lang="en-US" sz="24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a.aa</a:t>
            </a:r>
            <a:r>
              <a:rPr lang="en-US" sz="24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= b.ba;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 </a:t>
            </a:r>
            <a:r>
              <a:rPr lang="en-US" sz="2000" b="1" dirty="0" smtClean="0"/>
              <a:t>SELECT STATEMENT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    MERGE JOIN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      TABLE ACCESS BY INDEX ROWID TEST_FOR_EP_A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         INDEX FULL SCAN SYS_C005207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      SORT JOIN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         TABLE ACCESS FULL TEST_FOR_EP_B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s-ES" sz="2000" b="1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b="1" dirty="0" smtClean="0"/>
          </a:p>
          <a:p>
            <a:pPr eaLnBrk="1" hangingPunct="1">
              <a:lnSpc>
                <a:spcPct val="90000"/>
              </a:lnSpc>
            </a:pPr>
            <a:endParaRPr lang="es-ES" sz="2000" dirty="0" smtClean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65175" y="4005263"/>
            <a:ext cx="1770063" cy="3286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EXPLAIN PLAN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/*+ USE_HASH(a b) */ *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</a:t>
            </a:r>
            <a:r>
              <a:rPr lang="en-US" sz="28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a, </a:t>
            </a:r>
            <a:r>
              <a:rPr lang="en-US" sz="28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test_for_ep_b</a:t>
            </a: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b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WHERE </a:t>
            </a:r>
            <a:r>
              <a:rPr lang="en-US" sz="2800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a.aa</a:t>
            </a:r>
            <a:r>
              <a:rPr lang="en-US" sz="2800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= b.ba;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 </a:t>
            </a:r>
            <a:r>
              <a:rPr lang="en-US" sz="2000" b="1" dirty="0"/>
              <a:t>SELECT STATEMENT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/>
              <a:t>    HASH JOIN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/>
              <a:t>      TABLE ACCESS FULL TEST_FOR_EP_A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/>
              <a:t>      TABLE ACCESS FULL TEST_FOR_EP_B</a:t>
            </a:r>
            <a:endParaRPr lang="es-ES" sz="2000" b="1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755577" y="4293096"/>
            <a:ext cx="1584176" cy="36004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s-ES" dirty="0" smtClean="0"/>
              <a:t>Ahora:</a:t>
            </a:r>
          </a:p>
          <a:p>
            <a:pPr eaLnBrk="1" hangingPunct="1">
              <a:lnSpc>
                <a:spcPct val="90000"/>
              </a:lnSpc>
            </a:pPr>
            <a:endParaRPr lang="es-E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EXPLAIN PLAN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SELECT /*+ USE_HASH(a b) */ *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FROM </a:t>
            </a:r>
            <a:r>
              <a:rPr lang="en-US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test_for_ep_a</a:t>
            </a: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a, </a:t>
            </a:r>
            <a:r>
              <a:rPr lang="en-US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test_for_ep_b</a:t>
            </a: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b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WHERE </a:t>
            </a:r>
            <a:r>
              <a:rPr lang="en-US" dirty="0" err="1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a.aa</a:t>
            </a: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</a:t>
            </a:r>
            <a:r>
              <a:rPr lang="en-U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b.ba;</a:t>
            </a:r>
          </a:p>
          <a:p>
            <a:pPr eaLnBrk="1" hangingPunct="1">
              <a:lnSpc>
                <a:spcPct val="90000"/>
              </a:lnSpc>
            </a:pPr>
            <a:endParaRPr lang="es-ES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s-ES" dirty="0" smtClean="0"/>
              <a:t>¿Por qué aquí no se hace el </a:t>
            </a:r>
            <a:r>
              <a:rPr lang="es-ES" i="1" dirty="0" smtClean="0"/>
              <a:t>hash </a:t>
            </a:r>
            <a:r>
              <a:rPr lang="es-ES" i="1" dirty="0" err="1" smtClean="0"/>
              <a:t>join</a:t>
            </a:r>
            <a:r>
              <a:rPr lang="es-ES" dirty="0" smtClean="0"/>
              <a:t>?</a:t>
            </a:r>
          </a:p>
          <a:p>
            <a:pPr eaLnBrk="1" hangingPunct="1">
              <a:lnSpc>
                <a:spcPct val="90000"/>
              </a:lnSpc>
            </a:pPr>
            <a:endParaRPr 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268412"/>
            <a:ext cx="7772400" cy="47528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/>
              <a:t>“To get consistent time measurements without being affected by caches, you'll have to clear all caches before executing a query under test:”</a:t>
            </a:r>
            <a:endParaRPr lang="es-ES" sz="2400" dirty="0"/>
          </a:p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s-ES" dirty="0" smtClean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s-ES" dirty="0" smtClean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ALTER </a:t>
            </a:r>
            <a:r>
              <a:rPr lang="es-ES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SYSTEM </a:t>
            </a:r>
            <a:r>
              <a:rPr lang="es-ES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flush</a:t>
            </a:r>
            <a:r>
              <a:rPr lang="es-ES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s-ES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buffer_cache</a:t>
            </a:r>
            <a:r>
              <a:rPr lang="es-ES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 </a:t>
            </a:r>
          </a:p>
          <a:p>
            <a:pPr algn="ctr">
              <a:defRPr/>
            </a:pPr>
            <a:endParaRPr lang="es-ES" dirty="0" smtClean="0"/>
          </a:p>
          <a:p>
            <a:pPr>
              <a:defRPr/>
            </a:pPr>
            <a:r>
              <a:rPr lang="en-US" sz="2400" dirty="0" smtClean="0"/>
              <a:t>“The FLUSH BUFFER_CACHE clause lets you clear all data from the buffer cache in the </a:t>
            </a:r>
            <a:r>
              <a:rPr lang="en-US" sz="2400" i="1" dirty="0"/>
              <a:t>S</a:t>
            </a:r>
            <a:r>
              <a:rPr lang="en-US" sz="2400" i="1" dirty="0" smtClean="0"/>
              <a:t>ystem </a:t>
            </a:r>
            <a:r>
              <a:rPr lang="en-US" sz="2400" i="1" dirty="0"/>
              <a:t>G</a:t>
            </a:r>
            <a:r>
              <a:rPr lang="en-US" sz="2400" i="1" dirty="0" smtClean="0"/>
              <a:t>lobal </a:t>
            </a:r>
            <a:r>
              <a:rPr lang="en-US" sz="2400" i="1" dirty="0"/>
              <a:t>A</a:t>
            </a:r>
            <a:r>
              <a:rPr lang="en-US" sz="2400" i="1" dirty="0" smtClean="0"/>
              <a:t>rea </a:t>
            </a:r>
            <a:r>
              <a:rPr lang="en-US" sz="2400" dirty="0" smtClean="0"/>
              <a:t>(SGA), including the KEEP, RECYCLE, and DEFAULT buffer pools.”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219157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412875"/>
            <a:ext cx="7772400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dirty="0" err="1" smtClean="0">
                <a:solidFill>
                  <a:srgbClr val="FF0000"/>
                </a:solidFill>
              </a:rPr>
              <a:t>Precaución</a:t>
            </a:r>
            <a:r>
              <a:rPr lang="en-US" sz="2400" dirty="0" smtClean="0"/>
              <a:t>:</a:t>
            </a:r>
          </a:p>
          <a:p>
            <a:pPr>
              <a:defRPr/>
            </a:pPr>
            <a:r>
              <a:rPr lang="en-US" sz="2400" dirty="0" smtClean="0"/>
              <a:t>“This clause is intended for use only on a test database. Do not use this clause on a </a:t>
            </a:r>
            <a:r>
              <a:rPr lang="en-US" sz="2400" b="1" dirty="0" smtClean="0"/>
              <a:t>production</a:t>
            </a:r>
            <a:r>
              <a:rPr lang="en-US" sz="2400" dirty="0" smtClean="0"/>
              <a:t> database, because as a result of this statement, subsequent queries will have no hits, only misses.”</a:t>
            </a:r>
          </a:p>
          <a:p>
            <a:pPr>
              <a:defRPr/>
            </a:pPr>
            <a:endParaRPr lang="en-US" sz="2400" dirty="0" smtClean="0"/>
          </a:p>
          <a:p>
            <a:pPr>
              <a:defRPr/>
            </a:pPr>
            <a:r>
              <a:rPr lang="en-US" sz="2400" dirty="0" smtClean="0"/>
              <a:t>“</a:t>
            </a:r>
            <a:r>
              <a:rPr lang="en-US" sz="2400" b="1" dirty="0" smtClean="0">
                <a:solidFill>
                  <a:srgbClr val="0000FF"/>
                </a:solidFill>
              </a:rPr>
              <a:t>This clause is useful if you need to measure the performance of rewritten queries or a suite of queries from identical starting points</a:t>
            </a:r>
            <a:r>
              <a:rPr lang="en-US" sz="2400" dirty="0" smtClean="0"/>
              <a:t>.”</a:t>
            </a:r>
            <a:endParaRPr lang="es-ES" sz="2400" dirty="0" smtClean="0"/>
          </a:p>
          <a:p>
            <a:pPr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438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1188" y="1125538"/>
            <a:ext cx="7772400" cy="4895850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s-ES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ALTER SYSTEM </a:t>
            </a:r>
            <a:r>
              <a:rPr lang="es-ES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flush</a:t>
            </a:r>
            <a:r>
              <a:rPr lang="es-ES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s-ES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shared_pool</a:t>
            </a:r>
            <a:r>
              <a:rPr lang="es-ES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s-ES" dirty="0" smtClean="0">
              <a:solidFill>
                <a:srgbClr val="0000FF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“The FLUSH SHARED POOL clause lets you clear all data from the shared pool in the system global area (SGA). The shared pool stores:    Cached data dictionary information and Shared SQL and PL/SQL areas for SQL statements, stored procedures, function, packages, and triggers.”</a:t>
            </a:r>
          </a:p>
          <a:p>
            <a:pPr>
              <a:defRPr/>
            </a:pPr>
            <a:endParaRPr lang="es-ES" dirty="0" smtClean="0"/>
          </a:p>
          <a:p>
            <a:pPr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418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1276</Words>
  <Application>Microsoft Office PowerPoint</Application>
  <PresentationFormat>Presentación en pantalla (4:3)</PresentationFormat>
  <Paragraphs>201</Paragraphs>
  <Slides>22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SimSun</vt:lpstr>
      <vt:lpstr>Arial</vt:lpstr>
      <vt:lpstr>Courier New</vt:lpstr>
      <vt:lpstr>Times New Roman</vt:lpstr>
      <vt:lpstr>Wingdings</vt:lpstr>
      <vt:lpstr>Diseño predeterminado</vt:lpstr>
      <vt:lpstr>Herramientas en Oracle para  realizar afinamiento de sentencias  SQL (aspectos esenciales)  cont.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Francisco Moreno</dc:creator>
  <cp:lastModifiedBy>pete96</cp:lastModifiedBy>
  <cp:revision>51</cp:revision>
  <dcterms:created xsi:type="dcterms:W3CDTF">2005-08-22T21:47:08Z</dcterms:created>
  <dcterms:modified xsi:type="dcterms:W3CDTF">2019-08-02T16:37:53Z</dcterms:modified>
</cp:coreProperties>
</file>